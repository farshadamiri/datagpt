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3" r:id="rId8"/>
    <p:sldId id="274" r:id="rId9"/>
    <p:sldId id="272" r:id="rId10"/>
    <p:sldId id="261" r:id="rId11"/>
    <p:sldId id="270" r:id="rId12"/>
    <p:sldId id="263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7E0000"/>
    <a:srgbClr val="FDCBCB"/>
    <a:srgbClr val="FCB2B2"/>
    <a:srgbClr val="FB9393"/>
    <a:srgbClr val="E7E6E6"/>
    <a:srgbClr val="6600FF"/>
    <a:srgbClr val="FF00FF"/>
    <a:srgbClr val="008000"/>
    <a:srgbClr val="B0D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36.03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1,'1339'0,"-1310"0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42.919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1,'637'0,"-620"0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1.59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1,'887'0,"-877"0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3.95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1,'1078'0,"-1056"0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6.27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1,'1129'0,"-1107"0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7.727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1,'4'0,"11"0,6 0,5 0,2 0,0 0,0 0,0 0,-5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0.03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1,'541'0,"-532"0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2.67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1,'1260'0,"-1238"0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5.71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1,'4'0,"6"0,6 0,4 0,3 0,2 0,6 0,6 0,-3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8.15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1,'1275'0,"-1275"0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11.65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1,'1326'0,"-1310"0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47.06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0,'1340'0,"-1306"0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7:16.31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1,'725'0,"-709"0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8:03.48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1,'659'0,"-645"0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59:04.88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1,'804'0,"-794"0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06.86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1,'953'0,"-937"0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52.801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1,'400'0,"-391"0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017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53645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25/11/1445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customXml" Target="../ink/ink17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6.xml"/><Relationship Id="rId4" Type="http://schemas.openxmlformats.org/officeDocument/2006/relationships/image" Target="../media/image20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customXml" Target="../ink/ink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77818"/>
            <a:ext cx="2994892" cy="570022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034329"/>
            <a:chOff x="1099548" y="2263724"/>
            <a:chExt cx="4082436" cy="303432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034329"/>
              <a:chOff x="1275040" y="2263724"/>
              <a:chExt cx="3481309" cy="3034329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001334"/>
                <a:chOff x="1819985" y="1755724"/>
                <a:chExt cx="3481309" cy="3001334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001334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A5CDF1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solidFill>
              <a:srgbClr val="B0DD7F"/>
            </a:solidFill>
            <a:ln>
              <a:solidFill>
                <a:schemeClr val="accent6">
                  <a:lumMod val="75000"/>
                </a:schemeClr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2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2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solidFill>
            <a:srgbClr val="A2CAEC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: Top Corners Snipped 39">
            <a:extLst>
              <a:ext uri="{FF2B5EF4-FFF2-40B4-BE49-F238E27FC236}">
                <a16:creationId xmlns:a16="http://schemas.microsoft.com/office/drawing/2014/main" id="{3B791696-EB2D-7401-DC40-CE5FE483A2BD}"/>
              </a:ext>
            </a:extLst>
          </p:cNvPr>
          <p:cNvSpPr/>
          <p:nvPr/>
        </p:nvSpPr>
        <p:spPr>
          <a:xfrm rot="10800000">
            <a:off x="2536731" y="3216499"/>
            <a:ext cx="1930985" cy="2376298"/>
          </a:xfrm>
          <a:prstGeom prst="snip2Same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712863-AE5E-348D-AB22-F02F12F9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8567" y="131415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4B2926-C427-46EC-8610-9198B114C15D}"/>
              </a:ext>
            </a:extLst>
          </p:cNvPr>
          <p:cNvSpPr txBox="1"/>
          <p:nvPr/>
        </p:nvSpPr>
        <p:spPr>
          <a:xfrm>
            <a:off x="1" y="2009693"/>
            <a:ext cx="10701772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تهیه یک مجموعه واژگان از تمام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یک زبان و اختصاص یک علامت (عدد) به هر کدام</a:t>
            </a: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 (با </a:t>
            </a:r>
            <a:r>
              <a:rPr lang="fa-IR" sz="2000" b="1" dirty="0" err="1">
                <a:cs typeface="B Nazanin" panose="00000400000000000000" pitchFamily="2" charset="-78"/>
              </a:rPr>
              <a:t>الگوریتم</a:t>
            </a:r>
            <a:r>
              <a:rPr lang="fa-IR" sz="2000" b="1" dirty="0">
                <a:cs typeface="B Nazanin" panose="00000400000000000000" pitchFamily="2" charset="-78"/>
              </a:rPr>
              <a:t> </a:t>
            </a:r>
            <a:r>
              <a:rPr lang="fa-IR" sz="2000" b="1" dirty="0" err="1">
                <a:cs typeface="B Nazanin" panose="00000400000000000000" pitchFamily="2" charset="-78"/>
              </a:rPr>
              <a:t>علامت‌ساز</a:t>
            </a:r>
            <a:r>
              <a:rPr lang="fa-IR" sz="2000" b="1" dirty="0">
                <a:cs typeface="B Nazanin" panose="00000400000000000000" pitchFamily="2" charset="-78"/>
              </a:rPr>
              <a:t>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21DCBC4-AE27-6B36-2ED1-765793FC35AA}"/>
              </a:ext>
            </a:extLst>
          </p:cNvPr>
          <p:cNvGrpSpPr/>
          <p:nvPr/>
        </p:nvGrpSpPr>
        <p:grpSpPr>
          <a:xfrm>
            <a:off x="2245541" y="4890474"/>
            <a:ext cx="9100127" cy="551849"/>
            <a:chOff x="2623127" y="1274620"/>
            <a:chExt cx="9100127" cy="551849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2C50B10-C3B4-7430-4406-BDACE18FA733}"/>
                </a:ext>
              </a:extLst>
            </p:cNvPr>
            <p:cNvGrpSpPr/>
            <p:nvPr/>
          </p:nvGrpSpPr>
          <p:grpSpPr>
            <a:xfrm>
              <a:off x="2623127" y="1274620"/>
              <a:ext cx="9100127" cy="551849"/>
              <a:chOff x="2724727" y="1265384"/>
              <a:chExt cx="9100127" cy="55184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57B862-80D0-175E-E70C-1F0F8720F9F9}"/>
                  </a:ext>
                </a:extLst>
              </p:cNvPr>
              <p:cNvSpPr txBox="1"/>
              <p:nvPr/>
            </p:nvSpPr>
            <p:spPr>
              <a:xfrm>
                <a:off x="2724727" y="1265384"/>
                <a:ext cx="9100127" cy="461665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، </a:t>
                </a:r>
                <a:r>
                  <a:rPr lang="fa-IR" sz="2400" dirty="0" err="1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پر</a:t>
                </a:r>
                <a:r>
                  <a:rPr lang="fa-IR" sz="2400" dirty="0" err="1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جمع</a:t>
                </a:r>
                <a:r>
                  <a:rPr lang="fa-IR" sz="2400" dirty="0" err="1">
                    <a:solidFill>
                      <a:schemeClr val="accent3">
                        <a:lumMod val="50000"/>
                      </a:schemeClr>
                    </a:solidFill>
                    <a:cs typeface="B Nazanin" panose="00000400000000000000" pitchFamily="2" charset="-78"/>
                  </a:rPr>
                  <a:t>یت</a:t>
                </a:r>
                <a:r>
                  <a:rPr lang="fa-IR" sz="2400" dirty="0" err="1">
                    <a:cs typeface="B Nazanin" panose="00000400000000000000" pitchFamily="2" charset="-78"/>
                  </a:rPr>
                  <a:t>‌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تر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ین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شهر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پایتخت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ایران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6600FF"/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مرکز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 استان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می‌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باش</a:t>
                </a:r>
                <a:r>
                  <a:rPr lang="fa-IR" sz="2400" dirty="0" err="1">
                    <a:solidFill>
                      <a:srgbClr val="00B050"/>
                    </a:solidFill>
                    <a:cs typeface="B Nazanin" panose="00000400000000000000" pitchFamily="2" charset="-78"/>
                  </a:rPr>
                  <a:t>د</a:t>
                </a:r>
                <a:r>
                  <a:rPr lang="fa-IR" sz="2400" dirty="0">
                    <a:cs typeface="B Nazanin" panose="00000400000000000000" pitchFamily="2" charset="-78"/>
                  </a:rPr>
                  <a:t>. </a:t>
                </a: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14:cNvPr>
                  <p14:cNvContentPartPr/>
                  <p14:nvPr/>
                </p14:nvContentPartPr>
                <p14:xfrm>
                  <a:off x="11259079" y="1816873"/>
                  <a:ext cx="492840" cy="36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1252959" y="1810753"/>
                    <a:ext cx="5050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14:cNvPr>
                  <p14:cNvContentPartPr/>
                  <p14:nvPr/>
                </p14:nvContentPartPr>
                <p14:xfrm>
                  <a:off x="10944799" y="1816873"/>
                  <a:ext cx="236160" cy="36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938679" y="1810753"/>
                    <a:ext cx="2484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F8473EF-4941-9705-DBE6-A36D5E5C09A5}"/>
                  </a:ext>
                </a:extLst>
              </p:cNvPr>
              <p:cNvGrpSpPr/>
              <p:nvPr/>
            </p:nvGrpSpPr>
            <p:grpSpPr>
              <a:xfrm>
                <a:off x="7887803" y="1807525"/>
                <a:ext cx="3010556" cy="9596"/>
                <a:chOff x="7416749" y="1816761"/>
                <a:chExt cx="3010556" cy="9596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04291" y="1825997"/>
                    <a:ext cx="323014" cy="3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10098176" y="1819877"/>
                      <a:ext cx="335244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37945" y="1825997"/>
                    <a:ext cx="396360" cy="36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9331825" y="1819877"/>
                      <a:ext cx="408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29985" y="1816761"/>
                    <a:ext cx="414720" cy="36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8823865" y="1810641"/>
                      <a:ext cx="426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700385" y="1816761"/>
                    <a:ext cx="72720" cy="36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8694265" y="1810641"/>
                      <a:ext cx="84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403865" y="1816761"/>
                    <a:ext cx="197879" cy="3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8397749" y="1810641"/>
                      <a:ext cx="210112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416749" y="1816761"/>
                    <a:ext cx="461880" cy="36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410629" y="1810641"/>
                      <a:ext cx="4741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54C0632-9B5C-4652-2687-8D6CDE89B517}"/>
                  </a:ext>
                </a:extLst>
              </p:cNvPr>
              <p:cNvGrpSpPr/>
              <p:nvPr/>
            </p:nvGrpSpPr>
            <p:grpSpPr>
              <a:xfrm>
                <a:off x="7204399" y="1807525"/>
                <a:ext cx="598680" cy="360"/>
                <a:chOff x="6733345" y="1825997"/>
                <a:chExt cx="598680" cy="3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59665" y="1825997"/>
                    <a:ext cx="72360" cy="36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7253545" y="1819877"/>
                      <a:ext cx="84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733345" y="1825997"/>
                    <a:ext cx="459360" cy="360"/>
                  </p14:xfrm>
                </p:contentPart>
              </mc:Choice>
              <mc:Fallback xmlns="">
                <p:pic>
                  <p:nvPicPr>
                    <p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6727225" y="1819877"/>
                      <a:ext cx="471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17BD9F6-433A-05F6-223E-62D0D130B07A}"/>
                  </a:ext>
                </a:extLst>
              </p:cNvPr>
              <p:cNvGrpSpPr/>
              <p:nvPr/>
            </p:nvGrpSpPr>
            <p:grpSpPr>
              <a:xfrm>
                <a:off x="6054323" y="1807153"/>
                <a:ext cx="1083960" cy="484"/>
                <a:chOff x="5569465" y="1825997"/>
                <a:chExt cx="1083960" cy="484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3">
                  <p14:nvContentPartPr>
                    <p14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9945" y="1825997"/>
                    <a:ext cx="483480" cy="360"/>
                  </p14:xfrm>
                </p:contentPart>
              </mc:Choice>
              <mc:Fallback xmlns="">
                <p:pic>
                  <p:nvPicPr>
                    <p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:cNvPr>
                    <p:cNvPicPr/>
                    <p:nvPr/>
                  </p:nvPicPr>
                  <p:blipFill>
                    <a:blip r:embed="rId24"/>
                    <a:stretch>
                      <a:fillRect/>
                    </a:stretch>
                  </p:blipFill>
                  <p:spPr>
                    <a:xfrm>
                      <a:off x="6163825" y="1819877"/>
                      <a:ext cx="4957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5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69465" y="1826121"/>
                    <a:ext cx="495000" cy="3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:cNvPr>
                    <p:cNvPicPr/>
                    <p:nvPr/>
                  </p:nvPicPr>
                  <p:blipFill>
                    <a:blip r:embed="rId26"/>
                    <a:stretch>
                      <a:fillRect/>
                    </a:stretch>
                  </p:blipFill>
                  <p:spPr>
                    <a:xfrm>
                      <a:off x="5563345" y="1820001"/>
                      <a:ext cx="50724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14:cNvPr>
                  <p14:cNvContentPartPr/>
                  <p14:nvPr/>
                </p14:nvContentPartPr>
                <p14:xfrm>
                  <a:off x="5403273" y="1807277"/>
                  <a:ext cx="266776" cy="3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397153" y="1801157"/>
                    <a:ext cx="27901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14:cNvPr>
                  <p14:cNvContentPartPr/>
                  <p14:nvPr/>
                </p14:nvContentPartPr>
                <p14:xfrm>
                  <a:off x="5715552" y="1806917"/>
                  <a:ext cx="242457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709437" y="1800797"/>
                    <a:ext cx="254688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14:cNvPr>
                <p14:cNvContentPartPr/>
                <p14:nvPr/>
              </p14:nvContentPartPr>
              <p14:xfrm>
                <a:off x="10134309" y="1825997"/>
                <a:ext cx="292996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128197" y="1819877"/>
                  <a:ext cx="30521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14:cNvPr>
                <p14:cNvContentPartPr/>
                <p14:nvPr/>
              </p14:nvContentPartPr>
              <p14:xfrm>
                <a:off x="8351280" y="1816153"/>
                <a:ext cx="349106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345162" y="1810033"/>
                  <a:ext cx="361343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14:cNvPr>
                <p14:cNvContentPartPr/>
                <p14:nvPr/>
              </p14:nvContentPartPr>
              <p14:xfrm>
                <a:off x="5088716" y="1815793"/>
                <a:ext cx="14724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82611" y="1809673"/>
                  <a:ext cx="15945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E56C6C0B-B669-C96D-2267-69C8F20A1E89}"/>
              </a:ext>
            </a:extLst>
          </p:cNvPr>
          <p:cNvSpPr txBox="1"/>
          <p:nvPr/>
        </p:nvSpPr>
        <p:spPr>
          <a:xfrm>
            <a:off x="735957" y="969246"/>
            <a:ext cx="11095181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اول - </a:t>
            </a:r>
            <a:r>
              <a:rPr lang="en-US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endParaRPr lang="fa-IR" sz="2800" b="1" dirty="0">
              <a:solidFill>
                <a:schemeClr val="accent1"/>
              </a:solidFill>
              <a:cs typeface="B Nazanin" panose="00000400000000000000" pitchFamily="2" charset="-78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9F3B0D-DE63-277C-DA8E-4D26818A9641}"/>
              </a:ext>
            </a:extLst>
          </p:cNvPr>
          <p:cNvSpPr txBox="1"/>
          <p:nvPr/>
        </p:nvSpPr>
        <p:spPr>
          <a:xfrm>
            <a:off x="7045581" y="1471718"/>
            <a:ext cx="4058722" cy="41549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</a:t>
            </a:r>
            <a:r>
              <a:rPr lang="fa-IR" sz="2100" b="1" dirty="0" err="1">
                <a:solidFill>
                  <a:schemeClr val="accent1"/>
                </a:solidFill>
                <a:cs typeface="B Nazanin" panose="00000400000000000000" pitchFamily="2" charset="-78"/>
              </a:rPr>
              <a:t>علامت‌سازی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(</a:t>
            </a:r>
            <a:r>
              <a:rPr lang="en-US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) چیست؟ </a:t>
            </a:r>
          </a:p>
        </p:txBody>
      </p:sp>
      <p:cxnSp>
        <p:nvCxnSpPr>
          <p:cNvPr id="77" name="Connector: Curved 76">
            <a:extLst>
              <a:ext uri="{FF2B5EF4-FFF2-40B4-BE49-F238E27FC236}">
                <a16:creationId xmlns:a16="http://schemas.microsoft.com/office/drawing/2014/main" id="{C8F1E050-9A04-20A8-DB58-BC3DA2D2ACA7}"/>
              </a:ext>
            </a:extLst>
          </p:cNvPr>
          <p:cNvCxnSpPr>
            <a:cxnSpLocks/>
            <a:stCxn id="33" idx="3"/>
            <a:endCxn id="78" idx="3"/>
          </p:cNvCxnSpPr>
          <p:nvPr/>
        </p:nvCxnSpPr>
        <p:spPr>
          <a:xfrm>
            <a:off x="10701773" y="2363636"/>
            <a:ext cx="84931" cy="575501"/>
          </a:xfrm>
          <a:prstGeom prst="curvedConnector3">
            <a:avLst>
              <a:gd name="adj1" fmla="val 36916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79FB899-4196-DFFD-92B0-0382FFB98744}"/>
              </a:ext>
            </a:extLst>
          </p:cNvPr>
          <p:cNvSpPr txBox="1"/>
          <p:nvPr/>
        </p:nvSpPr>
        <p:spPr>
          <a:xfrm>
            <a:off x="865339" y="2708304"/>
            <a:ext cx="9921365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400" b="1" dirty="0">
                <a:solidFill>
                  <a:schemeClr val="accent1"/>
                </a:solidFill>
                <a:cs typeface="B Nazanin" panose="00000400000000000000" pitchFamily="2" charset="-78"/>
              </a:rPr>
              <a:t>هدف:   </a:t>
            </a:r>
            <a:r>
              <a:rPr lang="fa-IR" sz="2000" b="1" dirty="0">
                <a:cs typeface="B Nazanin" panose="00000400000000000000" pitchFamily="2" charset="-78"/>
              </a:rPr>
              <a:t>ایجاد یک علامت ساز (</a:t>
            </a:r>
            <a:r>
              <a:rPr lang="en-US" sz="2000" b="1" dirty="0">
                <a:cs typeface="B Nazanin" panose="00000400000000000000" pitchFamily="2" charset="-78"/>
              </a:rPr>
              <a:t>Tokenizer</a:t>
            </a:r>
            <a:r>
              <a:rPr lang="fa-IR" sz="2000" b="1" dirty="0">
                <a:cs typeface="B Nazanin" panose="00000400000000000000" pitchFamily="2" charset="-78"/>
              </a:rPr>
              <a:t>) که جملات را شکسته و به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ادبی تقسیم‌ کند.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CAB574-9E5F-90D3-1A0F-0A02C193A697}"/>
              </a:ext>
            </a:extLst>
          </p:cNvPr>
          <p:cNvSpPr txBox="1"/>
          <p:nvPr/>
        </p:nvSpPr>
        <p:spPr>
          <a:xfrm>
            <a:off x="453201" y="3440545"/>
            <a:ext cx="824276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تهران</a:t>
            </a:r>
          </a:p>
          <a:p>
            <a:r>
              <a:rPr lang="fa-IR" b="1" dirty="0">
                <a:cs typeface="B Nazanin" panose="00000400000000000000" pitchFamily="2" charset="-78"/>
              </a:rPr>
              <a:t>پر</a:t>
            </a:r>
          </a:p>
          <a:p>
            <a:r>
              <a:rPr lang="fa-IR" b="1" dirty="0">
                <a:cs typeface="B Nazanin" panose="00000400000000000000" pitchFamily="2" charset="-78"/>
              </a:rPr>
              <a:t>جمع</a:t>
            </a:r>
          </a:p>
          <a:p>
            <a:r>
              <a:rPr lang="fa-IR" b="1" dirty="0" err="1">
                <a:cs typeface="B Nazanin" panose="00000400000000000000" pitchFamily="2" charset="-78"/>
              </a:rPr>
              <a:t>یت</a:t>
            </a:r>
            <a:endParaRPr lang="fa-IR" b="1" dirty="0">
              <a:cs typeface="B Nazanin" panose="00000400000000000000" pitchFamily="2" charset="-78"/>
            </a:endParaRPr>
          </a:p>
          <a:p>
            <a:r>
              <a:rPr lang="fa-IR" b="1" dirty="0">
                <a:cs typeface="B Nazanin" panose="00000400000000000000" pitchFamily="2" charset="-78"/>
              </a:rPr>
              <a:t>تر</a:t>
            </a:r>
          </a:p>
          <a:p>
            <a:r>
              <a:rPr lang="fa-IR" b="1" dirty="0">
                <a:cs typeface="B Nazanin" panose="00000400000000000000" pitchFamily="2" charset="-78"/>
              </a:rPr>
              <a:t>ین</a:t>
            </a:r>
          </a:p>
          <a:p>
            <a:r>
              <a:rPr lang="fa-IR" b="1" dirty="0">
                <a:cs typeface="B Nazanin" panose="00000400000000000000" pitchFamily="2" charset="-78"/>
              </a:rPr>
              <a:t>شهر</a:t>
            </a:r>
          </a:p>
          <a:p>
            <a:r>
              <a:rPr lang="fa-IR" b="1" dirty="0">
                <a:cs typeface="B Nazanin" panose="00000400000000000000" pitchFamily="2" charset="-78"/>
              </a:rPr>
              <a:t>و </a:t>
            </a:r>
          </a:p>
          <a:p>
            <a:r>
              <a:rPr lang="fa-IR" b="1" dirty="0">
                <a:cs typeface="B Nazanin" panose="00000400000000000000" pitchFamily="2" charset="-78"/>
              </a:rPr>
              <a:t>پایتخت</a:t>
            </a:r>
          </a:p>
          <a:p>
            <a:r>
              <a:rPr lang="fa-IR" b="1" dirty="0">
                <a:cs typeface="B Nazanin" panose="00000400000000000000" pitchFamily="2" charset="-78"/>
              </a:rPr>
              <a:t>...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23A0F3-C829-733E-0309-983AF5B4FF5A}"/>
              </a:ext>
            </a:extLst>
          </p:cNvPr>
          <p:cNvSpPr txBox="1"/>
          <p:nvPr/>
        </p:nvSpPr>
        <p:spPr>
          <a:xfrm>
            <a:off x="1588289" y="3440545"/>
            <a:ext cx="1084098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6325</a:t>
            </a:r>
          </a:p>
          <a:p>
            <a:r>
              <a:rPr lang="fa-IR" b="1" dirty="0">
                <a:cs typeface="B Nazanin" panose="00000400000000000000" pitchFamily="2" charset="-78"/>
              </a:rPr>
              <a:t>4521</a:t>
            </a:r>
          </a:p>
          <a:p>
            <a:r>
              <a:rPr lang="fa-IR" b="1" dirty="0">
                <a:cs typeface="B Nazanin" panose="00000400000000000000" pitchFamily="2" charset="-78"/>
              </a:rPr>
              <a:t>8240</a:t>
            </a:r>
          </a:p>
          <a:p>
            <a:r>
              <a:rPr lang="fa-IR" b="1" dirty="0">
                <a:cs typeface="B Nazanin" panose="00000400000000000000" pitchFamily="2" charset="-78"/>
              </a:rPr>
              <a:t>46231</a:t>
            </a:r>
          </a:p>
          <a:p>
            <a:r>
              <a:rPr lang="fa-IR" b="1" dirty="0">
                <a:cs typeface="B Nazanin" panose="00000400000000000000" pitchFamily="2" charset="-78"/>
              </a:rPr>
              <a:t>5812</a:t>
            </a:r>
          </a:p>
          <a:p>
            <a:r>
              <a:rPr lang="fa-IR" b="1" dirty="0">
                <a:cs typeface="B Nazanin" panose="00000400000000000000" pitchFamily="2" charset="-78"/>
              </a:rPr>
              <a:t>46790</a:t>
            </a:r>
          </a:p>
          <a:p>
            <a:r>
              <a:rPr lang="fa-IR" b="1" dirty="0">
                <a:cs typeface="B Nazanin" panose="00000400000000000000" pitchFamily="2" charset="-78"/>
              </a:rPr>
              <a:t>29746</a:t>
            </a:r>
          </a:p>
          <a:p>
            <a:r>
              <a:rPr lang="fa-IR" b="1" dirty="0">
                <a:cs typeface="B Nazanin" panose="00000400000000000000" pitchFamily="2" charset="-78"/>
              </a:rPr>
              <a:t>42032</a:t>
            </a:r>
          </a:p>
          <a:p>
            <a:r>
              <a:rPr lang="fa-IR" b="1" dirty="0">
                <a:cs typeface="B Nazanin" panose="00000400000000000000" pitchFamily="2" charset="-78"/>
              </a:rPr>
              <a:t>4163</a:t>
            </a:r>
          </a:p>
          <a:p>
            <a:r>
              <a:rPr lang="fa-IR" b="1" dirty="0">
                <a:cs typeface="B Nazanin" panose="00000400000000000000" pitchFamily="2" charset="-78"/>
              </a:rPr>
              <a:t>....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01D7DB-4481-194F-F744-4200DFE6C211}"/>
              </a:ext>
            </a:extLst>
          </p:cNvPr>
          <p:cNvGrpSpPr/>
          <p:nvPr/>
        </p:nvGrpSpPr>
        <p:grpSpPr>
          <a:xfrm>
            <a:off x="4506209" y="3951564"/>
            <a:ext cx="5108362" cy="615553"/>
            <a:chOff x="1828124" y="3816522"/>
            <a:chExt cx="5201634" cy="1083899"/>
          </a:xfrm>
        </p:grpSpPr>
        <p:sp>
          <p:nvSpPr>
            <p:cNvPr id="92" name="Callout: Left Arrow 91">
              <a:extLst>
                <a:ext uri="{FF2B5EF4-FFF2-40B4-BE49-F238E27FC236}">
                  <a16:creationId xmlns:a16="http://schemas.microsoft.com/office/drawing/2014/main" id="{433193C1-9D6C-DE90-75EE-37C44A2BF010}"/>
                </a:ext>
              </a:extLst>
            </p:cNvPr>
            <p:cNvSpPr/>
            <p:nvPr/>
          </p:nvSpPr>
          <p:spPr>
            <a:xfrm>
              <a:off x="1828124" y="3824754"/>
              <a:ext cx="5201634" cy="1016601"/>
            </a:xfrm>
            <a:prstGeom prst="leftArrowCallout">
              <a:avLst>
                <a:gd name="adj1" fmla="val 51818"/>
                <a:gd name="adj2" fmla="val 25909"/>
                <a:gd name="adj3" fmla="val 25000"/>
                <a:gd name="adj4" fmla="val 97132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05D8B-3A4A-AC10-44FD-BC327A157A11}"/>
                </a:ext>
              </a:extLst>
            </p:cNvPr>
            <p:cNvSpPr txBox="1"/>
            <p:nvPr/>
          </p:nvSpPr>
          <p:spPr>
            <a:xfrm>
              <a:off x="1935330" y="3816522"/>
              <a:ext cx="5092772" cy="108389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تبدیل علامت (</a:t>
              </a:r>
              <a:r>
                <a:rPr lang="en-US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Token</a:t>
              </a:r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) به بردار یکه:</a:t>
              </a:r>
            </a:p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هر لغت را بردار یکه آن نمایندگی خواهد کرد. (</a:t>
              </a:r>
              <a:r>
                <a:rPr lang="en-US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One-hot vector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)</a:t>
              </a:r>
              <a:endParaRPr lang="en-US" sz="17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7D5AB795-BA43-7986-F298-2612D598A205}"/>
              </a:ext>
            </a:extLst>
          </p:cNvPr>
          <p:cNvSpPr txBox="1"/>
          <p:nvPr/>
        </p:nvSpPr>
        <p:spPr>
          <a:xfrm>
            <a:off x="3975959" y="5474035"/>
            <a:ext cx="7426036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cs typeface="B Nazanin" panose="00000400000000000000" pitchFamily="2" charset="-78"/>
              </a:rPr>
              <a:t>6325 – 4521-8240-46231-5812-46790-29746-42032-4163- ..................................................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E7461EC-92F1-C08E-FF13-AE001323EA24}"/>
              </a:ext>
            </a:extLst>
          </p:cNvPr>
          <p:cNvGrpSpPr/>
          <p:nvPr/>
        </p:nvGrpSpPr>
        <p:grpSpPr>
          <a:xfrm>
            <a:off x="3250845" y="6106700"/>
            <a:ext cx="8487954" cy="523220"/>
            <a:chOff x="2900218" y="6098256"/>
            <a:chExt cx="8487954" cy="523220"/>
          </a:xfrm>
        </p:grpSpPr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86B6D41C-7165-1503-1349-F84B86A66409}"/>
                </a:ext>
              </a:extLst>
            </p:cNvPr>
            <p:cNvSpPr/>
            <p:nvPr/>
          </p:nvSpPr>
          <p:spPr>
            <a:xfrm>
              <a:off x="2900218" y="6098256"/>
              <a:ext cx="8487954" cy="523220"/>
            </a:xfrm>
            <a:prstGeom prst="roundRect">
              <a:avLst/>
            </a:prstGeom>
            <a:solidFill>
              <a:schemeClr val="bg2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AAEAB3-FB3F-F883-E5F2-8ADD4D8683CC}"/>
                </a:ext>
              </a:extLst>
            </p:cNvPr>
            <p:cNvSpPr txBox="1"/>
            <p:nvPr/>
          </p:nvSpPr>
          <p:spPr>
            <a:xfrm>
              <a:off x="2900218" y="6174281"/>
              <a:ext cx="8445450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علامت‌ساز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غالب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مدل‌های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زبانی جدید نظیر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GPT-4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،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en-US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(BPE) Byte Pair Encoding</a:t>
              </a:r>
              <a:r>
                <a:rPr lang="fa-IR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است.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B0EF862A-C43F-13BF-3A2A-0543B5F1C379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10701773" y="2363636"/>
            <a:ext cx="882718" cy="90652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22BEF6A-AD29-FE3C-1A5D-FE80D4B10C33}"/>
              </a:ext>
            </a:extLst>
          </p:cNvPr>
          <p:cNvGrpSpPr/>
          <p:nvPr/>
        </p:nvGrpSpPr>
        <p:grpSpPr>
          <a:xfrm>
            <a:off x="3728085" y="3299457"/>
            <a:ext cx="494071" cy="3416320"/>
            <a:chOff x="375853" y="449104"/>
            <a:chExt cx="494071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F57B67-04CA-238D-8B50-2405CA6AD8E0}"/>
                </a:ext>
              </a:extLst>
            </p:cNvPr>
            <p:cNvSpPr txBox="1"/>
            <p:nvPr/>
          </p:nvSpPr>
          <p:spPr>
            <a:xfrm>
              <a:off x="375853" y="449104"/>
              <a:ext cx="494071" cy="3416320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b="1" dirty="0">
                  <a:solidFill>
                    <a:srgbClr val="002060"/>
                  </a:solidFill>
                </a:rPr>
                <a:t>[0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1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0]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fa-IR" b="1" dirty="0">
                <a:solidFill>
                  <a:srgbClr val="002060"/>
                </a:solidFill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0592BF4-3891-8C7F-5B59-3419BE2FB6FE}"/>
                </a:ext>
              </a:extLst>
            </p:cNvPr>
            <p:cNvGrpSpPr/>
            <p:nvPr/>
          </p:nvGrpSpPr>
          <p:grpSpPr>
            <a:xfrm>
              <a:off x="455591" y="1162921"/>
              <a:ext cx="279402" cy="447202"/>
              <a:chOff x="1347693" y="1074592"/>
              <a:chExt cx="279402" cy="447202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567D3D7-3334-6BE3-EAFB-2B600E7C69DE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5D15ED-5B24-8FC8-87EE-6F540AC06093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6DC957C-39CA-B68A-DD34-28FCDB7C1C9F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FD84BD8-631B-B89A-7F89-70FC5B990C21}"/>
                </a:ext>
              </a:extLst>
            </p:cNvPr>
            <p:cNvGrpSpPr/>
            <p:nvPr/>
          </p:nvGrpSpPr>
          <p:grpSpPr>
            <a:xfrm>
              <a:off x="467345" y="1739905"/>
              <a:ext cx="279402" cy="447202"/>
              <a:chOff x="1347693" y="1074592"/>
              <a:chExt cx="279402" cy="447202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8F4EA9-1F94-3BA7-6C0D-40ACC70C1CB4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E04F65-EBBA-0BE6-9FC4-E32033CF5E30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EEDE60-4696-72DC-E404-D2453B4FE13B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A15BE43-BCF8-0BA7-49C0-AC1B2618B8A4}"/>
              </a:ext>
            </a:extLst>
          </p:cNvPr>
          <p:cNvSpPr txBox="1"/>
          <p:nvPr/>
        </p:nvSpPr>
        <p:spPr>
          <a:xfrm>
            <a:off x="2536730" y="4422706"/>
            <a:ext cx="1277322" cy="107721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آرایه 6325</a:t>
            </a: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از50000</a:t>
            </a:r>
          </a:p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(اندازه مجموعه واژگان)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0F2349-004A-AF1F-93B2-A71A6199DA29}"/>
              </a:ext>
            </a:extLst>
          </p:cNvPr>
          <p:cNvCxnSpPr>
            <a:cxnSpLocks/>
          </p:cNvCxnSpPr>
          <p:nvPr/>
        </p:nvCxnSpPr>
        <p:spPr>
          <a:xfrm>
            <a:off x="3508828" y="4592239"/>
            <a:ext cx="301513" cy="20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B0C7D9F6-7B8D-B9FC-8629-F8C1717D150B}"/>
              </a:ext>
            </a:extLst>
          </p:cNvPr>
          <p:cNvSpPr/>
          <p:nvPr/>
        </p:nvSpPr>
        <p:spPr>
          <a:xfrm>
            <a:off x="2245541" y="3410962"/>
            <a:ext cx="790387" cy="365262"/>
          </a:xfrm>
          <a:prstGeom prst="right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F46BDD6-79B3-A11A-C62A-7502E0AEDE2D}"/>
              </a:ext>
            </a:extLst>
          </p:cNvPr>
          <p:cNvSpPr/>
          <p:nvPr/>
        </p:nvSpPr>
        <p:spPr>
          <a:xfrm>
            <a:off x="350982" y="3351489"/>
            <a:ext cx="1894559" cy="457170"/>
          </a:xfrm>
          <a:prstGeom prst="ellipse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C4066C5-B60B-C3D4-0C00-FFEE2B688538}"/>
              </a:ext>
            </a:extLst>
          </p:cNvPr>
          <p:cNvGrpSpPr/>
          <p:nvPr/>
        </p:nvGrpSpPr>
        <p:grpSpPr>
          <a:xfrm>
            <a:off x="6511636" y="3265541"/>
            <a:ext cx="5242462" cy="422845"/>
            <a:chOff x="6511636" y="3265541"/>
            <a:chExt cx="5242462" cy="422845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E63F922-2DB2-C967-A722-5954529067CA}"/>
                </a:ext>
              </a:extLst>
            </p:cNvPr>
            <p:cNvSpPr txBox="1"/>
            <p:nvPr/>
          </p:nvSpPr>
          <p:spPr>
            <a:xfrm>
              <a:off x="6511636" y="3319054"/>
              <a:ext cx="5242462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>
                  <a:cs typeface="B Nazanin" panose="00000400000000000000" pitchFamily="2" charset="-78"/>
                </a:rPr>
                <a:t>اندازه این مجموعه واژگان معمولا بین 50000 الی 500000 لغت است.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19F4A9D-19BC-0DB4-9453-15C6DAE98344}"/>
                </a:ext>
              </a:extLst>
            </p:cNvPr>
            <p:cNvSpPr txBox="1"/>
            <p:nvPr/>
          </p:nvSpPr>
          <p:spPr>
            <a:xfrm>
              <a:off x="7608098" y="3272305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5479EB8-8808-C98A-72A2-B08060FBED78}"/>
                </a:ext>
              </a:extLst>
            </p:cNvPr>
            <p:cNvSpPr txBox="1"/>
            <p:nvPr/>
          </p:nvSpPr>
          <p:spPr>
            <a:xfrm>
              <a:off x="8395733" y="3265541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</p:grp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15BFA5A1-1609-6042-7A83-9C6DE658257C}"/>
              </a:ext>
            </a:extLst>
          </p:cNvPr>
          <p:cNvCxnSpPr>
            <a:cxnSpLocks/>
            <a:stCxn id="33" idx="3"/>
            <a:endCxn id="101" idx="3"/>
          </p:cNvCxnSpPr>
          <p:nvPr/>
        </p:nvCxnSpPr>
        <p:spPr>
          <a:xfrm>
            <a:off x="10701773" y="2363636"/>
            <a:ext cx="1037026" cy="4004674"/>
          </a:xfrm>
          <a:prstGeom prst="curvedConnector3">
            <a:avLst>
              <a:gd name="adj1" fmla="val 122044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805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70DA8C4-9B41-250F-1106-DFA84C99B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9494" y="135217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F80226-4C4C-4297-F4C6-7BFF92C099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12008" y="1119219"/>
            <a:ext cx="8100961" cy="49090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indent="0" algn="r" rtl="1">
              <a:buNone/>
            </a:pPr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دوم – آموزش مدل بر روی داده‌ متنی عظیم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AD6D-9DA3-6962-5BD5-52B2BA4CDC67}"/>
              </a:ext>
            </a:extLst>
          </p:cNvPr>
          <p:cNvSpPr txBox="1"/>
          <p:nvPr/>
        </p:nvSpPr>
        <p:spPr>
          <a:xfrm>
            <a:off x="387930" y="1692760"/>
            <a:ext cx="11470314" cy="63094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750" b="1" dirty="0">
                <a:cs typeface="B Nazanin" panose="00000400000000000000" pitchFamily="2" charset="-78"/>
              </a:rPr>
              <a:t>در این مرحله، بر اساس یک اندازه پنجره انتخابی، متن را تکه </a:t>
            </a:r>
            <a:r>
              <a:rPr lang="fa-IR" sz="1750" b="1" dirty="0" err="1">
                <a:cs typeface="B Nazanin" panose="00000400000000000000" pitchFamily="2" charset="-78"/>
              </a:rPr>
              <a:t>تکه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می‌کنیم</a:t>
            </a:r>
            <a:r>
              <a:rPr lang="fa-IR" sz="1750" b="1" dirty="0">
                <a:cs typeface="B Nazanin" panose="00000400000000000000" pitchFamily="2" charset="-78"/>
              </a:rPr>
              <a:t>. سپس، روی هر تکه ،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لغت میانی </a:t>
            </a:r>
            <a:r>
              <a:rPr lang="fa-IR" sz="1750" b="1" dirty="0">
                <a:cs typeface="B Nazanin" panose="00000400000000000000" pitchFamily="2" charset="-78"/>
              </a:rPr>
              <a:t>را بر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باقی لغات </a:t>
            </a:r>
            <a:r>
              <a:rPr lang="fa-IR" sz="1750" b="1" dirty="0">
                <a:cs typeface="B Nazanin" panose="00000400000000000000" pitchFamily="2" charset="-78"/>
              </a:rPr>
              <a:t>آن تکه متن بر یک مدل شبکه عصبی مصنوعی (با</a:t>
            </a:r>
            <a:r>
              <a:rPr lang="en-US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فعالساز</a:t>
            </a:r>
            <a:r>
              <a:rPr lang="fa-IR" sz="1750" b="1" dirty="0">
                <a:cs typeface="B Nazanin" panose="00000400000000000000" pitchFamily="2" charset="-78"/>
              </a:rPr>
              <a:t> لایه آخر </a:t>
            </a:r>
            <a:r>
              <a:rPr lang="en-US" sz="1750" b="1" dirty="0">
                <a:cs typeface="B Nazanin" panose="00000400000000000000" pitchFamily="2" charset="-78"/>
              </a:rPr>
              <a:t>(</a:t>
            </a:r>
            <a:r>
              <a:rPr lang="en-US" sz="1750" b="1" dirty="0" err="1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Softmax</a:t>
            </a:r>
            <a:r>
              <a:rPr lang="fa-IR" sz="1750" b="1" dirty="0">
                <a:cs typeface="B Nazanin" panose="00000400000000000000" pitchFamily="2" charset="-78"/>
              </a:rPr>
              <a:t> آموزش </a:t>
            </a:r>
            <a:r>
              <a:rPr lang="fa-IR" sz="1750" b="1" dirty="0" err="1">
                <a:cs typeface="B Nazanin" panose="00000400000000000000" pitchFamily="2" charset="-78"/>
              </a:rPr>
              <a:t>می‌دهیم</a:t>
            </a:r>
            <a:r>
              <a:rPr lang="fa-IR" sz="1750" b="1" dirty="0">
                <a:cs typeface="B Nazanin" panose="00000400000000000000" pitchFamily="2" charset="-78"/>
              </a:rPr>
              <a:t>. در نهایت خروجی لایه نهایی ،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 </a:t>
            </a:r>
            <a:r>
              <a:rPr lang="fa-IR" sz="1750" b="1" dirty="0">
                <a:cs typeface="B Nazanin" panose="00000400000000000000" pitchFamily="2" charset="-78"/>
              </a:rPr>
              <a:t>به </a:t>
            </a:r>
            <a:r>
              <a:rPr lang="fa-IR" sz="1750" b="1" dirty="0" err="1">
                <a:cs typeface="B Nazanin" panose="00000400000000000000" pitchFamily="2" charset="-78"/>
              </a:rPr>
              <a:t>ازای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لغت ورودی </a:t>
            </a:r>
            <a:r>
              <a:rPr lang="fa-IR" sz="1750" b="1" dirty="0">
                <a:cs typeface="B Nazanin" panose="00000400000000000000" pitchFamily="2" charset="-78"/>
              </a:rPr>
              <a:t>خواهد بود. </a:t>
            </a:r>
            <a:endParaRPr lang="fa-IR" sz="1750" dirty="0">
              <a:cs typeface="B Nazanin" panose="00000400000000000000" pitchFamily="2" charset="-78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BCABD63-4BD4-5A86-70EA-BC319BFA16A6}"/>
              </a:ext>
            </a:extLst>
          </p:cNvPr>
          <p:cNvGrpSpPr/>
          <p:nvPr/>
        </p:nvGrpSpPr>
        <p:grpSpPr>
          <a:xfrm>
            <a:off x="1329221" y="2355395"/>
            <a:ext cx="2202872" cy="3483523"/>
            <a:chOff x="1145310" y="2687918"/>
            <a:chExt cx="2202872" cy="348352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A5BCF66-2DCA-2EE3-F7CF-A42687D537ED}"/>
                </a:ext>
              </a:extLst>
            </p:cNvPr>
            <p:cNvCxnSpPr>
              <a:cxnSpLocks/>
              <a:stCxn id="35" idx="6"/>
              <a:endCxn id="38" idx="2"/>
            </p:cNvCxnSpPr>
            <p:nvPr/>
          </p:nvCxnSpPr>
          <p:spPr>
            <a:xfrm flipV="1">
              <a:off x="1722587" y="2915673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7983E7-0241-5BCE-E29A-ADB65090CC4F}"/>
                </a:ext>
              </a:extLst>
            </p:cNvPr>
            <p:cNvCxnSpPr>
              <a:cxnSpLocks/>
              <a:stCxn id="35" idx="6"/>
              <a:endCxn id="48" idx="2"/>
            </p:cNvCxnSpPr>
            <p:nvPr/>
          </p:nvCxnSpPr>
          <p:spPr>
            <a:xfrm flipV="1">
              <a:off x="1722587" y="3506879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751CCF5-9F97-544F-F9E5-A5855BE9AC0C}"/>
                </a:ext>
              </a:extLst>
            </p:cNvPr>
            <p:cNvCxnSpPr>
              <a:cxnSpLocks/>
              <a:stCxn id="41" idx="2"/>
              <a:endCxn id="35" idx="6"/>
            </p:cNvCxnSpPr>
            <p:nvPr/>
          </p:nvCxnSpPr>
          <p:spPr>
            <a:xfrm flipH="1" flipV="1">
              <a:off x="1722587" y="4350523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14AB66-2900-88DC-3C3C-971344A3E715}"/>
                </a:ext>
              </a:extLst>
            </p:cNvPr>
            <p:cNvCxnSpPr>
              <a:cxnSpLocks/>
              <a:stCxn id="35" idx="6"/>
              <a:endCxn id="49" idx="2"/>
            </p:cNvCxnSpPr>
            <p:nvPr/>
          </p:nvCxnSpPr>
          <p:spPr>
            <a:xfrm flipV="1">
              <a:off x="1722587" y="4141437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890137C-6B84-500C-A633-9D2C8B23F1DA}"/>
                </a:ext>
              </a:extLst>
            </p:cNvPr>
            <p:cNvCxnSpPr>
              <a:cxnSpLocks/>
              <a:stCxn id="35" idx="6"/>
              <a:endCxn id="40" idx="2"/>
            </p:cNvCxnSpPr>
            <p:nvPr/>
          </p:nvCxnSpPr>
          <p:spPr>
            <a:xfrm>
              <a:off x="1722587" y="4350523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506529E-1008-2591-0100-C6AF03AE8A28}"/>
                </a:ext>
              </a:extLst>
            </p:cNvPr>
            <p:cNvCxnSpPr>
              <a:cxnSpLocks/>
              <a:stCxn id="39" idx="2"/>
              <a:endCxn id="35" idx="6"/>
            </p:cNvCxnSpPr>
            <p:nvPr/>
          </p:nvCxnSpPr>
          <p:spPr>
            <a:xfrm flipH="1" flipV="1">
              <a:off x="1722587" y="4350523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7D3A2EE-AB6E-13B0-4CD9-626E6399423B}"/>
                </a:ext>
              </a:extLst>
            </p:cNvPr>
            <p:cNvSpPr/>
            <p:nvPr/>
          </p:nvSpPr>
          <p:spPr>
            <a:xfrm>
              <a:off x="1145310" y="4073627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E312E-7479-B0FF-69CF-FDCE502E147F}"/>
                </a:ext>
              </a:extLst>
            </p:cNvPr>
            <p:cNvSpPr/>
            <p:nvPr/>
          </p:nvSpPr>
          <p:spPr>
            <a:xfrm>
              <a:off x="2875507" y="2687918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2908967-B611-E6A0-4AAF-D3464A9112CC}"/>
                </a:ext>
              </a:extLst>
            </p:cNvPr>
            <p:cNvSpPr/>
            <p:nvPr/>
          </p:nvSpPr>
          <p:spPr>
            <a:xfrm>
              <a:off x="2895590" y="45318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094723E-B0C5-3C3C-2A15-09C1DBD4AE02}"/>
                </a:ext>
              </a:extLst>
            </p:cNvPr>
            <p:cNvSpPr/>
            <p:nvPr/>
          </p:nvSpPr>
          <p:spPr>
            <a:xfrm>
              <a:off x="2895591" y="515008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D808417-FE93-992B-CAF2-CE7D075F58B0}"/>
                </a:ext>
              </a:extLst>
            </p:cNvPr>
            <p:cNvSpPr/>
            <p:nvPr/>
          </p:nvSpPr>
          <p:spPr>
            <a:xfrm>
              <a:off x="2895591" y="571593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7EAC36E-E360-5F96-392A-5B5F24CB0413}"/>
                </a:ext>
              </a:extLst>
            </p:cNvPr>
            <p:cNvSpPr/>
            <p:nvPr/>
          </p:nvSpPr>
          <p:spPr>
            <a:xfrm>
              <a:off x="2875508" y="3279124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30581EB-88DB-5B4F-C0C3-F0FDD3FF6EE7}"/>
                </a:ext>
              </a:extLst>
            </p:cNvPr>
            <p:cNvSpPr/>
            <p:nvPr/>
          </p:nvSpPr>
          <p:spPr>
            <a:xfrm>
              <a:off x="2875507" y="391368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CE9F8CE2-633C-F8BB-E6F8-AD29E03F2AA8}"/>
              </a:ext>
            </a:extLst>
          </p:cNvPr>
          <p:cNvSpPr txBox="1"/>
          <p:nvPr/>
        </p:nvSpPr>
        <p:spPr>
          <a:xfrm>
            <a:off x="3528522" y="3585287"/>
            <a:ext cx="1152921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4000" dirty="0"/>
              <a:t>......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7087D66-AF1C-4043-E102-CE77F17CB5E7}"/>
              </a:ext>
            </a:extLst>
          </p:cNvPr>
          <p:cNvSpPr txBox="1"/>
          <p:nvPr/>
        </p:nvSpPr>
        <p:spPr>
          <a:xfrm>
            <a:off x="6016158" y="4436061"/>
            <a:ext cx="10067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err="1">
                <a:solidFill>
                  <a:schemeClr val="accent5">
                    <a:lumMod val="50000"/>
                  </a:schemeClr>
                </a:solidFill>
              </a:rPr>
              <a:t>Softmax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22C100C-599B-0C3D-CEAF-5AD6CC8392E5}"/>
              </a:ext>
            </a:extLst>
          </p:cNvPr>
          <p:cNvGrpSpPr/>
          <p:nvPr/>
        </p:nvGrpSpPr>
        <p:grpSpPr>
          <a:xfrm rot="10800000">
            <a:off x="4538887" y="2355395"/>
            <a:ext cx="2202872" cy="3483523"/>
            <a:chOff x="5375563" y="2592385"/>
            <a:chExt cx="2202872" cy="3483523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5AE18A0-6C6C-49D4-5850-577C90C4236E}"/>
                </a:ext>
              </a:extLst>
            </p:cNvPr>
            <p:cNvCxnSpPr>
              <a:cxnSpLocks/>
              <a:stCxn id="142" idx="6"/>
              <a:endCxn id="143" idx="2"/>
            </p:cNvCxnSpPr>
            <p:nvPr/>
          </p:nvCxnSpPr>
          <p:spPr>
            <a:xfrm flipV="1">
              <a:off x="5952840" y="2820140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37B1489-F02C-65A6-3958-7787722C8449}"/>
                </a:ext>
              </a:extLst>
            </p:cNvPr>
            <p:cNvCxnSpPr>
              <a:cxnSpLocks/>
              <a:stCxn id="142" idx="6"/>
              <a:endCxn id="147" idx="2"/>
            </p:cNvCxnSpPr>
            <p:nvPr/>
          </p:nvCxnSpPr>
          <p:spPr>
            <a:xfrm flipV="1">
              <a:off x="5952840" y="3411346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A24AEB-1B97-B68B-2D61-F1826EA7D5DB}"/>
                </a:ext>
              </a:extLst>
            </p:cNvPr>
            <p:cNvCxnSpPr>
              <a:cxnSpLocks/>
              <a:stCxn id="146" idx="2"/>
              <a:endCxn id="142" idx="6"/>
            </p:cNvCxnSpPr>
            <p:nvPr/>
          </p:nvCxnSpPr>
          <p:spPr>
            <a:xfrm flipH="1" flipV="1">
              <a:off x="5952840" y="4254990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7349654-3A8B-4CFC-EC8C-773838A36F64}"/>
                </a:ext>
              </a:extLst>
            </p:cNvPr>
            <p:cNvCxnSpPr>
              <a:cxnSpLocks/>
              <a:stCxn id="142" idx="6"/>
              <a:endCxn id="148" idx="2"/>
            </p:cNvCxnSpPr>
            <p:nvPr/>
          </p:nvCxnSpPr>
          <p:spPr>
            <a:xfrm flipV="1">
              <a:off x="5952840" y="4045904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93C701-BD94-F7CA-E176-EB5A70B6FB45}"/>
                </a:ext>
              </a:extLst>
            </p:cNvPr>
            <p:cNvCxnSpPr>
              <a:cxnSpLocks/>
              <a:stCxn id="142" idx="6"/>
              <a:endCxn id="145" idx="2"/>
            </p:cNvCxnSpPr>
            <p:nvPr/>
          </p:nvCxnSpPr>
          <p:spPr>
            <a:xfrm>
              <a:off x="5952840" y="4254990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02F93D67-1575-003B-97DB-BA9EFD6B1A53}"/>
                </a:ext>
              </a:extLst>
            </p:cNvPr>
            <p:cNvCxnSpPr>
              <a:cxnSpLocks/>
              <a:stCxn id="144" idx="2"/>
              <a:endCxn id="142" idx="6"/>
            </p:cNvCxnSpPr>
            <p:nvPr/>
          </p:nvCxnSpPr>
          <p:spPr>
            <a:xfrm flipH="1" flipV="1">
              <a:off x="5952840" y="4254990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28207281-745F-E165-8BB8-84F56E142265}"/>
                </a:ext>
              </a:extLst>
            </p:cNvPr>
            <p:cNvSpPr/>
            <p:nvPr/>
          </p:nvSpPr>
          <p:spPr>
            <a:xfrm>
              <a:off x="5375563" y="3978094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F2D18AB6-E64C-DC4F-CCF3-2280D1760C89}"/>
                </a:ext>
              </a:extLst>
            </p:cNvPr>
            <p:cNvSpPr/>
            <p:nvPr/>
          </p:nvSpPr>
          <p:spPr>
            <a:xfrm>
              <a:off x="7105760" y="25923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8F3AF6F4-5C8B-3D38-20E9-DE73AECACF90}"/>
                </a:ext>
              </a:extLst>
            </p:cNvPr>
            <p:cNvSpPr/>
            <p:nvPr/>
          </p:nvSpPr>
          <p:spPr>
            <a:xfrm>
              <a:off x="7125843" y="443635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50901EC1-9ADD-CC0D-05EA-87726F3D8E22}"/>
                </a:ext>
              </a:extLst>
            </p:cNvPr>
            <p:cNvSpPr/>
            <p:nvPr/>
          </p:nvSpPr>
          <p:spPr>
            <a:xfrm>
              <a:off x="7125844" y="5054556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EB4515E-CF85-9DEE-51FF-D48D5316846C}"/>
                </a:ext>
              </a:extLst>
            </p:cNvPr>
            <p:cNvSpPr/>
            <p:nvPr/>
          </p:nvSpPr>
          <p:spPr>
            <a:xfrm>
              <a:off x="7125844" y="562039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2FF4EEE-5D88-95BB-9069-45B3CFEE5E5B}"/>
                </a:ext>
              </a:extLst>
            </p:cNvPr>
            <p:cNvSpPr/>
            <p:nvPr/>
          </p:nvSpPr>
          <p:spPr>
            <a:xfrm>
              <a:off x="7105761" y="3183591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5501C51A-EF88-E619-873F-795327273BB8}"/>
                </a:ext>
              </a:extLst>
            </p:cNvPr>
            <p:cNvSpPr/>
            <p:nvPr/>
          </p:nvSpPr>
          <p:spPr>
            <a:xfrm>
              <a:off x="7105760" y="381814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0520986-EF5F-1874-0055-B32229EB706E}"/>
              </a:ext>
            </a:extLst>
          </p:cNvPr>
          <p:cNvGrpSpPr/>
          <p:nvPr/>
        </p:nvGrpSpPr>
        <p:grpSpPr>
          <a:xfrm>
            <a:off x="6160910" y="1884347"/>
            <a:ext cx="5611099" cy="1826226"/>
            <a:chOff x="5938241" y="2429918"/>
            <a:chExt cx="5611099" cy="182622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604D09-D355-6442-4C61-EDC9793346AA}"/>
                </a:ext>
              </a:extLst>
            </p:cNvPr>
            <p:cNvSpPr txBox="1"/>
            <p:nvPr/>
          </p:nvSpPr>
          <p:spPr>
            <a:xfrm>
              <a:off x="5938241" y="3091473"/>
              <a:ext cx="5611099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/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تهران، </a:t>
              </a:r>
              <a:r>
                <a:rPr lang="fa-IR" b="1" dirty="0" err="1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پرجمعیت‌ترین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 شهر و </a:t>
              </a:r>
              <a:r>
                <a:rPr lang="fa-IR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پایتخت</a:t>
              </a:r>
              <a:r>
                <a:rPr lang="fa-IR" b="1" dirty="0">
                  <a:cs typeface="B Nazanin" panose="00000400000000000000" pitchFamily="2" charset="-78"/>
                </a:rPr>
                <a:t> 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ایران و مرکز استان تهران است.</a:t>
              </a:r>
              <a:endParaRPr lang="fa-IR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806B1D85-E0F1-7207-198D-81A00FD73C49}"/>
                </a:ext>
              </a:extLst>
            </p:cNvPr>
            <p:cNvSpPr/>
            <p:nvPr/>
          </p:nvSpPr>
          <p:spPr>
            <a:xfrm rot="6051015">
              <a:off x="8962135" y="3061057"/>
              <a:ext cx="553086" cy="68171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BC328F1F-50B8-83B7-D4C9-648B311F8AF1}"/>
                </a:ext>
              </a:extLst>
            </p:cNvPr>
            <p:cNvSpPr/>
            <p:nvPr/>
          </p:nvSpPr>
          <p:spPr>
            <a:xfrm rot="5400000">
              <a:off x="8999747" y="2894364"/>
              <a:ext cx="848192" cy="1052048"/>
            </a:xfrm>
            <a:prstGeom prst="arc">
              <a:avLst>
                <a:gd name="adj1" fmla="val 16460231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D9C191B-F3B7-626C-8CDE-06F255FB7598}"/>
                </a:ext>
              </a:extLst>
            </p:cNvPr>
            <p:cNvSpPr/>
            <p:nvPr/>
          </p:nvSpPr>
          <p:spPr>
            <a:xfrm rot="5400000">
              <a:off x="9044510" y="2628984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5AD3E7CC-289C-6FEF-D8FA-88B522D43B4A}"/>
                </a:ext>
              </a:extLst>
            </p:cNvPr>
            <p:cNvSpPr/>
            <p:nvPr/>
          </p:nvSpPr>
          <p:spPr>
            <a:xfrm rot="5400000">
              <a:off x="9164051" y="2163684"/>
              <a:ext cx="1814240" cy="234670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E5C4F01E-BF5D-D49F-2F38-345F6AAB7E92}"/>
                </a:ext>
              </a:extLst>
            </p:cNvPr>
            <p:cNvSpPr/>
            <p:nvPr/>
          </p:nvSpPr>
          <p:spPr>
            <a:xfrm rot="5400000">
              <a:off x="7394808" y="2597678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D443A61D-4658-6710-F83A-B62935098F96}"/>
                </a:ext>
              </a:extLst>
            </p:cNvPr>
            <p:cNvSpPr/>
            <p:nvPr/>
          </p:nvSpPr>
          <p:spPr>
            <a:xfrm rot="5400000">
              <a:off x="8355259" y="3193852"/>
              <a:ext cx="575639" cy="57727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25F0790C-D6CD-0501-F0E2-536C514E25B6}"/>
                </a:ext>
              </a:extLst>
            </p:cNvPr>
            <p:cNvSpPr/>
            <p:nvPr/>
          </p:nvSpPr>
          <p:spPr>
            <a:xfrm rot="5400000">
              <a:off x="7866292" y="2944090"/>
              <a:ext cx="1068654" cy="1006764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50D5B86B-CE4A-C241-194F-99E3E34C9453}"/>
                </a:ext>
              </a:extLst>
            </p:cNvPr>
            <p:cNvSpPr/>
            <p:nvPr/>
          </p:nvSpPr>
          <p:spPr>
            <a:xfrm rot="5400000">
              <a:off x="7059661" y="2359054"/>
              <a:ext cx="1640014" cy="2067252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B6C88CA1-3E56-317A-224B-767B855AC95C}"/>
                </a:ext>
              </a:extLst>
            </p:cNvPr>
            <p:cNvSpPr/>
            <p:nvPr/>
          </p:nvSpPr>
          <p:spPr>
            <a:xfrm rot="5400000">
              <a:off x="6790949" y="2149277"/>
              <a:ext cx="1735337" cy="2478397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473E07C-F7C2-5FBC-0106-13D9B632C755}"/>
              </a:ext>
            </a:extLst>
          </p:cNvPr>
          <p:cNvSpPr txBox="1"/>
          <p:nvPr/>
        </p:nvSpPr>
        <p:spPr>
          <a:xfrm>
            <a:off x="0" y="3792150"/>
            <a:ext cx="1309138" cy="60016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پایتخت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sz="15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(بردار یکه 4163)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856741A-45CA-0D14-D1DA-3B23E7101C05}"/>
              </a:ext>
            </a:extLst>
          </p:cNvPr>
          <p:cNvCxnSpPr>
            <a:cxnSpLocks/>
            <a:stCxn id="44" idx="0"/>
            <a:endCxn id="35" idx="0"/>
          </p:cNvCxnSpPr>
          <p:nvPr/>
        </p:nvCxnSpPr>
        <p:spPr>
          <a:xfrm rot="5400000" flipH="1" flipV="1">
            <a:off x="1110691" y="3284982"/>
            <a:ext cx="51046" cy="963291"/>
          </a:xfrm>
          <a:prstGeom prst="curvedConnector3">
            <a:avLst>
              <a:gd name="adj1" fmla="val 547831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F82B8D4-560C-5A59-44F8-91CA5D45C86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13175" y="5288915"/>
            <a:ext cx="81979" cy="777082"/>
          </a:xfrm>
          <a:prstGeom prst="curvedConnector3">
            <a:avLst>
              <a:gd name="adj1" fmla="val -274625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49C7F24-A237-B859-05DC-558AA762190B}"/>
              </a:ext>
            </a:extLst>
          </p:cNvPr>
          <p:cNvSpPr txBox="1"/>
          <p:nvPr/>
        </p:nvSpPr>
        <p:spPr>
          <a:xfrm>
            <a:off x="6178703" y="5214489"/>
            <a:ext cx="115292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EBA58AD-E192-39CF-07B6-618F67A3E640}"/>
              </a:ext>
            </a:extLst>
          </p:cNvPr>
          <p:cNvGrpSpPr/>
          <p:nvPr/>
        </p:nvGrpSpPr>
        <p:grpSpPr>
          <a:xfrm>
            <a:off x="7623731" y="5092916"/>
            <a:ext cx="4234513" cy="612477"/>
            <a:chOff x="8096541" y="4591724"/>
            <a:chExt cx="3898448" cy="1008964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BE6A9D1F-3F66-2B45-DF40-F73D814CF2B8}"/>
                </a:ext>
              </a:extLst>
            </p:cNvPr>
            <p:cNvSpPr/>
            <p:nvPr/>
          </p:nvSpPr>
          <p:spPr>
            <a:xfrm>
              <a:off x="8238224" y="4591724"/>
              <a:ext cx="3756765" cy="1008964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3C5887-4B62-B78A-0D04-73BB92AF6037}"/>
                </a:ext>
              </a:extLst>
            </p:cNvPr>
            <p:cNvSpPr txBox="1"/>
            <p:nvPr/>
          </p:nvSpPr>
          <p:spPr>
            <a:xfrm>
              <a:off x="8096541" y="4634119"/>
              <a:ext cx="3847387" cy="96332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cs typeface="B Nazanin" panose="00000400000000000000" pitchFamily="2" charset="-78"/>
                </a:rPr>
                <a:t>سرانجام، </a:t>
              </a:r>
              <a:r>
                <a:rPr lang="fa-IR" sz="1600" b="1" dirty="0" err="1">
                  <a:cs typeface="B Nazanin" panose="00000400000000000000" pitchFamily="2" charset="-78"/>
                </a:rPr>
                <a:t>واژه‌های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 و مرتبط، </a:t>
              </a:r>
              <a:r>
                <a:rPr lang="fa-IR" sz="1600" b="1" dirty="0" err="1">
                  <a:cs typeface="B Nazanin" panose="00000400000000000000" pitchFamily="2" charset="-78"/>
                </a:rPr>
                <a:t>بردارهای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نزدیکی نیز نسبت به هم خواهند داشت. (به لحاظ فاصله برداری) </a:t>
              </a: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B11899C-A9EC-2D05-C7D7-8884AB91ABA6}"/>
              </a:ext>
            </a:extLst>
          </p:cNvPr>
          <p:cNvSpPr/>
          <p:nvPr/>
        </p:nvSpPr>
        <p:spPr>
          <a:xfrm>
            <a:off x="106122" y="6326181"/>
            <a:ext cx="11886937" cy="40911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4F4D82-396E-CB2F-C1F8-47AB56FB98A9}"/>
              </a:ext>
            </a:extLst>
          </p:cNvPr>
          <p:cNvSpPr txBox="1"/>
          <p:nvPr/>
        </p:nvSpPr>
        <p:spPr>
          <a:xfrm>
            <a:off x="109418" y="6361473"/>
            <a:ext cx="11813479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این روش، از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پرکاربردترین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روش های ساخت مدل تبدیل متن به بردار معنایی است که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Word2Vec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نام دارد و توسط دانشمند روسی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Tomas </a:t>
            </a:r>
            <a:r>
              <a:rPr lang="en-US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Mikolov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در سال 2013 ارائه شده است.</a:t>
            </a:r>
            <a:endParaRPr lang="fa-IR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F8EB036-8706-C81D-1A58-65AD9C72B726}"/>
              </a:ext>
            </a:extLst>
          </p:cNvPr>
          <p:cNvSpPr/>
          <p:nvPr/>
        </p:nvSpPr>
        <p:spPr>
          <a:xfrm>
            <a:off x="5073630" y="2495163"/>
            <a:ext cx="696229" cy="331578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F5B76C-30F1-F8EA-0231-707EE8A37E3C}"/>
              </a:ext>
            </a:extLst>
          </p:cNvPr>
          <p:cNvSpPr txBox="1"/>
          <p:nvPr/>
        </p:nvSpPr>
        <p:spPr>
          <a:xfrm>
            <a:off x="5049254" y="2464845"/>
            <a:ext cx="718196" cy="339580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[ 0.23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0.74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0.39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0.65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0.07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0.51 ]</a:t>
            </a:r>
            <a:endParaRPr lang="fa-IR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6502E99-4E2E-943D-8DA9-F8BA029DD8C8}"/>
              </a:ext>
            </a:extLst>
          </p:cNvPr>
          <p:cNvGrpSpPr/>
          <p:nvPr/>
        </p:nvGrpSpPr>
        <p:grpSpPr>
          <a:xfrm>
            <a:off x="7239009" y="3885451"/>
            <a:ext cx="4610656" cy="635736"/>
            <a:chOff x="7447696" y="4111273"/>
            <a:chExt cx="4610656" cy="64108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791FB403-3B1D-8757-DD68-613023863E6D}"/>
                </a:ext>
              </a:extLst>
            </p:cNvPr>
            <p:cNvSpPr/>
            <p:nvPr/>
          </p:nvSpPr>
          <p:spPr>
            <a:xfrm>
              <a:off x="7447696" y="4111273"/>
              <a:ext cx="4610656" cy="641085"/>
            </a:xfrm>
            <a:prstGeom prst="roundRect">
              <a:avLst/>
            </a:prstGeom>
            <a:solidFill>
              <a:srgbClr val="FDCBC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9B0A97B-C263-DC3A-87A9-C6DD80B43B6A}"/>
                </a:ext>
              </a:extLst>
            </p:cNvPr>
            <p:cNvSpPr txBox="1"/>
            <p:nvPr/>
          </p:nvSpPr>
          <p:spPr>
            <a:xfrm>
              <a:off x="7447696" y="4136808"/>
              <a:ext cx="4610656" cy="584775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تابع هزینه:</a:t>
              </a:r>
            </a:p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میانگین </a:t>
              </a:r>
              <a:r>
                <a:rPr lang="fa-IR" sz="1600" b="1" dirty="0" err="1">
                  <a:solidFill>
                    <a:srgbClr val="7E0000"/>
                  </a:solidFill>
                  <a:cs typeface="B Nazanin" panose="00000400000000000000" pitchFamily="2" charset="-78"/>
                </a:rPr>
                <a:t>مربعات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 خطا 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)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بردار یکه "تهران" ، بردار یکه "پایتخت“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(</a:t>
              </a:r>
              <a:endParaRPr lang="fa-IR" sz="1600" b="1" dirty="0">
                <a:solidFill>
                  <a:srgbClr val="7E0000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6CABF742-1182-5AB5-FE97-2A6F76E6DB2E}"/>
              </a:ext>
            </a:extLst>
          </p:cNvPr>
          <p:cNvSpPr txBox="1"/>
          <p:nvPr/>
        </p:nvSpPr>
        <p:spPr>
          <a:xfrm>
            <a:off x="932873" y="5958019"/>
            <a:ext cx="3435125" cy="33855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تعداد </a:t>
            </a:r>
            <a:r>
              <a:rPr lang="fa-IR" sz="16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نورون‌های</a:t>
            </a:r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این لایه: اندازه مجموعه واژگان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F486F3-97F5-B05B-D581-6E605CEB6E8A}"/>
              </a:ext>
            </a:extLst>
          </p:cNvPr>
          <p:cNvSpPr txBox="1"/>
          <p:nvPr/>
        </p:nvSpPr>
        <p:spPr>
          <a:xfrm rot="5400000">
            <a:off x="4697824" y="5622688"/>
            <a:ext cx="307064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3200" dirty="0"/>
              <a:t>{</a:t>
            </a:r>
          </a:p>
        </p:txBody>
      </p:sp>
      <p:cxnSp>
        <p:nvCxnSpPr>
          <p:cNvPr id="73" name="Connector: Curved 72">
            <a:extLst>
              <a:ext uri="{FF2B5EF4-FFF2-40B4-BE49-F238E27FC236}">
                <a16:creationId xmlns:a16="http://schemas.microsoft.com/office/drawing/2014/main" id="{8C95D6E3-C9F3-862C-7D5E-199C188FB62F}"/>
              </a:ext>
            </a:extLst>
          </p:cNvPr>
          <p:cNvCxnSpPr>
            <a:cxnSpLocks/>
            <a:stCxn id="53" idx="3"/>
            <a:endCxn id="52" idx="3"/>
          </p:cNvCxnSpPr>
          <p:nvPr/>
        </p:nvCxnSpPr>
        <p:spPr>
          <a:xfrm rot="5400000">
            <a:off x="4580333" y="5856273"/>
            <a:ext cx="58688" cy="483358"/>
          </a:xfrm>
          <a:prstGeom prst="curvedConnector4">
            <a:avLst>
              <a:gd name="adj1" fmla="val 389517"/>
              <a:gd name="adj2" fmla="val 6588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54" grpId="0"/>
      <p:bldP spid="67" grpId="0" animBg="1"/>
      <p:bldP spid="4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1175435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683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3881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/>
          </a:bodyPr>
          <a:lstStyle/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اندازه </a:t>
            </a:r>
            <a:r>
              <a:rPr lang="fa-IR" sz="2400" b="1" dirty="0" err="1">
                <a:cs typeface="B Nazanin" panose="00000400000000000000" pitchFamily="2" charset="-78"/>
              </a:rPr>
              <a:t>تکه‌متن‌ها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Chunk size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درصد آستانه تشابه (</a:t>
            </a:r>
            <a:r>
              <a:rPr lang="en-US" sz="2400" b="1" dirty="0">
                <a:cs typeface="B Nazanin" panose="00000400000000000000" pitchFamily="2" charset="-78"/>
              </a:rPr>
              <a:t>Similarity threshold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sz="2400" b="1" dirty="0">
                <a:cs typeface="B Nazanin" panose="00000400000000000000" pitchFamily="2" charset="-78"/>
              </a:rPr>
              <a:t>RAG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 err="1">
                <a:cs typeface="B Nazanin" panose="00000400000000000000" pitchFamily="2" charset="-78"/>
              </a:rPr>
              <a:t>Top_k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Context size</a:t>
            </a:r>
            <a:r>
              <a:rPr lang="fa-IR" sz="2400" b="1" dirty="0">
                <a:cs typeface="B Nazanin" panose="00000400000000000000" pitchFamily="2" charset="-78"/>
              </a:rPr>
              <a:t>) </a:t>
            </a:r>
          </a:p>
          <a:p>
            <a:pPr algn="r" rtl="1">
              <a:lnSpc>
                <a:spcPct val="160000"/>
              </a:lnSpc>
            </a:pPr>
            <a:r>
              <a:rPr lang="fa-IR" sz="2400" b="1">
                <a:cs typeface="B Nazanin" panose="00000400000000000000" pitchFamily="2" charset="-78"/>
              </a:rPr>
              <a:t>دستور توجیهی مدل (</a:t>
            </a:r>
            <a:r>
              <a:rPr lang="en-US" sz="2400" b="1" dirty="0">
                <a:cs typeface="B Nazanin" panose="00000400000000000000" pitchFamily="2" charset="-78"/>
              </a:rPr>
              <a:t>System prompt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  <a:endParaRPr lang="en-US" sz="24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1918</TotalTime>
  <Words>1429</Words>
  <Application>Microsoft Office PowerPoint</Application>
  <PresentationFormat>Widescreen</PresentationFormat>
  <Paragraphs>244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مدل‌های مبدل متن به بردار معنایی چگونه به‌دست می‌آیند؟</vt:lpstr>
      <vt:lpstr>مدل‌های مبدل متن به بردار معنایی چگونه به‌دست می‌آیند؟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577</cp:revision>
  <dcterms:created xsi:type="dcterms:W3CDTF">2024-02-19T06:46:45Z</dcterms:created>
  <dcterms:modified xsi:type="dcterms:W3CDTF">2024-06-01T09:59:31Z</dcterms:modified>
</cp:coreProperties>
</file>