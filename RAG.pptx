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66" r:id="rId4"/>
    <p:sldId id="258" r:id="rId5"/>
    <p:sldId id="260" r:id="rId6"/>
    <p:sldId id="269" r:id="rId7"/>
    <p:sldId id="261" r:id="rId8"/>
    <p:sldId id="267" r:id="rId9"/>
    <p:sldId id="270" r:id="rId10"/>
    <p:sldId id="268" r:id="rId11"/>
    <p:sldId id="262" r:id="rId12"/>
    <p:sldId id="263" r:id="rId13"/>
    <p:sldId id="264" r:id="rId14"/>
    <p:sldId id="265" r:id="rId15"/>
    <p:sldId id="259" r:id="rId16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rshad Amiri" initials="FA" lastIdx="2" clrIdx="0">
    <p:extLst>
      <p:ext uri="{19B8F6BF-5375-455C-9EA6-DF929625EA0E}">
        <p15:presenceInfo xmlns:p15="http://schemas.microsoft.com/office/powerpoint/2012/main" userId="eb0f5e6ffa9f274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3E3FF"/>
    <a:srgbClr val="33CAFF"/>
    <a:srgbClr val="FFE07D"/>
    <a:srgbClr val="E3B5F5"/>
    <a:srgbClr val="DFAAF4"/>
    <a:srgbClr val="944402"/>
    <a:srgbClr val="008EC0"/>
    <a:srgbClr val="6D91D1"/>
    <a:srgbClr val="A2B9E2"/>
    <a:srgbClr val="4674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54" autoAdjust="0"/>
  </p:normalViewPr>
  <p:slideViewPr>
    <p:cSldViewPr snapToGrid="0">
      <p:cViewPr varScale="1">
        <p:scale>
          <a:sx n="104" d="100"/>
          <a:sy n="104" d="100"/>
        </p:scale>
        <p:origin x="8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3024F7-A729-4F93-B845-004F91386FBD}" type="doc">
      <dgm:prSet loTypeId="urn:microsoft.com/office/officeart/2005/8/layout/vList2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pPr rtl="1"/>
          <a:endParaRPr lang="fa-IR"/>
        </a:p>
      </dgm:t>
    </dgm:pt>
    <dgm:pt modelId="{A5010BC2-76BB-49B6-8597-C761ECAC1772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درک زبانی قوی</a:t>
          </a:r>
          <a:endParaRPr lang="fa-IR" sz="2000" dirty="0">
            <a:cs typeface="B Nazanin" panose="00000400000000000000" pitchFamily="2" charset="-78"/>
          </a:endParaRPr>
        </a:p>
      </dgm:t>
    </dgm:pt>
    <dgm:pt modelId="{37ABEE5F-A67C-47E0-8941-7E6F22037044}" type="par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0DE24500-9EED-4915-B752-26BB93CD87A8}" type="sib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FD7784B0-2A99-42F6-A10A-83EB0DC73BE5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 err="1">
              <a:cs typeface="B Nazanin" panose="00000400000000000000" pitchFamily="2" charset="-78"/>
            </a:rPr>
            <a:t>دانش‌های</a:t>
          </a:r>
          <a:r>
            <a:rPr lang="fa-IR" sz="2000" b="1" dirty="0">
              <a:cs typeface="B Nazanin" panose="00000400000000000000" pitchFamily="2" charset="-78"/>
            </a:rPr>
            <a:t> پایه</a:t>
          </a:r>
          <a:endParaRPr lang="fa-IR" sz="2000" dirty="0">
            <a:cs typeface="B Nazanin" panose="00000400000000000000" pitchFamily="2" charset="-78"/>
          </a:endParaRPr>
        </a:p>
      </dgm:t>
    </dgm:pt>
    <dgm:pt modelId="{7750B9D0-E9EB-4945-A5DD-38B6C271B362}" type="par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8FB5A77B-8F2F-410E-BCF3-6707659D0E62}" type="sib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F97E06E0-D2ED-46AC-B66F-A247C305E866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استدلال منطقی</a:t>
          </a:r>
          <a:endParaRPr lang="fa-IR" sz="2000" dirty="0">
            <a:cs typeface="B Nazanin" panose="00000400000000000000" pitchFamily="2" charset="-78"/>
          </a:endParaRPr>
        </a:p>
      </dgm:t>
    </dgm:pt>
    <dgm:pt modelId="{11013EF0-1DEB-416B-8CE8-9EC82E46518B}" type="par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C17DE5C5-8921-430D-9956-183998995338}" type="sib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B61DC9FB-7626-4D39-9363-433259384063}" type="pres">
      <dgm:prSet presAssocID="{6C3024F7-A729-4F93-B845-004F91386FBD}" presName="linear" presStyleCnt="0">
        <dgm:presLayoutVars>
          <dgm:animLvl val="lvl"/>
          <dgm:resizeHandles val="exact"/>
        </dgm:presLayoutVars>
      </dgm:prSet>
      <dgm:spPr/>
    </dgm:pt>
    <dgm:pt modelId="{4705860B-CF4C-4332-80F6-CB6B998C1578}" type="pres">
      <dgm:prSet presAssocID="{A5010BC2-76BB-49B6-8597-C761ECAC177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609EB0D-73A0-4A16-A10A-0EAF13DAEA24}" type="pres">
      <dgm:prSet presAssocID="{0DE24500-9EED-4915-B752-26BB93CD87A8}" presName="spacer" presStyleCnt="0"/>
      <dgm:spPr/>
    </dgm:pt>
    <dgm:pt modelId="{C57268A3-E864-4C73-8DE7-94B3BCF7AFEA}" type="pres">
      <dgm:prSet presAssocID="{FD7784B0-2A99-42F6-A10A-83EB0DC73BE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1A1DC5D-E581-45EC-9A62-2DB7A089B493}" type="pres">
      <dgm:prSet presAssocID="{8FB5A77B-8F2F-410E-BCF3-6707659D0E62}" presName="spacer" presStyleCnt="0"/>
      <dgm:spPr/>
    </dgm:pt>
    <dgm:pt modelId="{842763DB-A544-47BF-A6F6-9BAB67F6C350}" type="pres">
      <dgm:prSet presAssocID="{F97E06E0-D2ED-46AC-B66F-A247C305E866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28DAC406-83EA-4CDB-BEF1-141981261C2A}" srcId="{6C3024F7-A729-4F93-B845-004F91386FBD}" destId="{FD7784B0-2A99-42F6-A10A-83EB0DC73BE5}" srcOrd="1" destOrd="0" parTransId="{7750B9D0-E9EB-4945-A5DD-38B6C271B362}" sibTransId="{8FB5A77B-8F2F-410E-BCF3-6707659D0E62}"/>
    <dgm:cxn modelId="{59EAE66C-5A32-402A-843F-503A36D1B914}" type="presOf" srcId="{F97E06E0-D2ED-46AC-B66F-A247C305E866}" destId="{842763DB-A544-47BF-A6F6-9BAB67F6C350}" srcOrd="0" destOrd="0" presId="urn:microsoft.com/office/officeart/2005/8/layout/vList2"/>
    <dgm:cxn modelId="{54B3144F-E044-46DB-AE80-DA0C4B5AF6CD}" type="presOf" srcId="{A5010BC2-76BB-49B6-8597-C761ECAC1772}" destId="{4705860B-CF4C-4332-80F6-CB6B998C1578}" srcOrd="0" destOrd="0" presId="urn:microsoft.com/office/officeart/2005/8/layout/vList2"/>
    <dgm:cxn modelId="{60705B94-45EC-4D08-8E8A-3FC644CAD19B}" type="presOf" srcId="{FD7784B0-2A99-42F6-A10A-83EB0DC73BE5}" destId="{C57268A3-E864-4C73-8DE7-94B3BCF7AFEA}" srcOrd="0" destOrd="0" presId="urn:microsoft.com/office/officeart/2005/8/layout/vList2"/>
    <dgm:cxn modelId="{4E6E859C-FD5E-46D1-B0A8-DF8EB312FDA7}" type="presOf" srcId="{6C3024F7-A729-4F93-B845-004F91386FBD}" destId="{B61DC9FB-7626-4D39-9363-433259384063}" srcOrd="0" destOrd="0" presId="urn:microsoft.com/office/officeart/2005/8/layout/vList2"/>
    <dgm:cxn modelId="{FC4256CC-E590-41FD-B031-26CCB70FBBCE}" srcId="{6C3024F7-A729-4F93-B845-004F91386FBD}" destId="{A5010BC2-76BB-49B6-8597-C761ECAC1772}" srcOrd="0" destOrd="0" parTransId="{37ABEE5F-A67C-47E0-8941-7E6F22037044}" sibTransId="{0DE24500-9EED-4915-B752-26BB93CD87A8}"/>
    <dgm:cxn modelId="{4B7CE9F5-1584-4EFD-8B26-B8F860164884}" srcId="{6C3024F7-A729-4F93-B845-004F91386FBD}" destId="{F97E06E0-D2ED-46AC-B66F-A247C305E866}" srcOrd="2" destOrd="0" parTransId="{11013EF0-1DEB-416B-8CE8-9EC82E46518B}" sibTransId="{C17DE5C5-8921-430D-9956-183998995338}"/>
    <dgm:cxn modelId="{6C8479B2-FD04-438A-AD16-CAFC01A7069E}" type="presParOf" srcId="{B61DC9FB-7626-4D39-9363-433259384063}" destId="{4705860B-CF4C-4332-80F6-CB6B998C1578}" srcOrd="0" destOrd="0" presId="urn:microsoft.com/office/officeart/2005/8/layout/vList2"/>
    <dgm:cxn modelId="{40D356D4-6752-4DEF-B2F5-744711551A31}" type="presParOf" srcId="{B61DC9FB-7626-4D39-9363-433259384063}" destId="{F609EB0D-73A0-4A16-A10A-0EAF13DAEA24}" srcOrd="1" destOrd="0" presId="urn:microsoft.com/office/officeart/2005/8/layout/vList2"/>
    <dgm:cxn modelId="{3803C583-EAF7-456E-91F2-D9AD4CD8A157}" type="presParOf" srcId="{B61DC9FB-7626-4D39-9363-433259384063}" destId="{C57268A3-E864-4C73-8DE7-94B3BCF7AFEA}" srcOrd="2" destOrd="0" presId="urn:microsoft.com/office/officeart/2005/8/layout/vList2"/>
    <dgm:cxn modelId="{E12BBAF7-286C-48A5-B407-33DD8026DCFC}" type="presParOf" srcId="{B61DC9FB-7626-4D39-9363-433259384063}" destId="{31A1DC5D-E581-45EC-9A62-2DB7A089B493}" srcOrd="3" destOrd="0" presId="urn:microsoft.com/office/officeart/2005/8/layout/vList2"/>
    <dgm:cxn modelId="{0BCF3CA0-4B1C-4CEF-868E-C4696B55FC24}" type="presParOf" srcId="{B61DC9FB-7626-4D39-9363-433259384063}" destId="{842763DB-A544-47BF-A6F6-9BAB67F6C35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05860B-CF4C-4332-80F6-CB6B998C1578}">
      <dsp:nvSpPr>
        <dsp:cNvPr id="0" name=""/>
        <dsp:cNvSpPr/>
      </dsp:nvSpPr>
      <dsp:spPr>
        <a:xfrm>
          <a:off x="0" y="4871"/>
          <a:ext cx="2022763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درک زبانی قوی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33857"/>
        <a:ext cx="1964791" cy="535803"/>
      </dsp:txXfrm>
    </dsp:sp>
    <dsp:sp modelId="{C57268A3-E864-4C73-8DE7-94B3BCF7AFEA}">
      <dsp:nvSpPr>
        <dsp:cNvPr id="0" name=""/>
        <dsp:cNvSpPr/>
      </dsp:nvSpPr>
      <dsp:spPr>
        <a:xfrm>
          <a:off x="0" y="682166"/>
          <a:ext cx="2022763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 err="1">
              <a:cs typeface="B Nazanin" panose="00000400000000000000" pitchFamily="2" charset="-78"/>
            </a:rPr>
            <a:t>دانش‌های</a:t>
          </a:r>
          <a:r>
            <a:rPr lang="fa-IR" sz="2000" b="1" kern="1200" dirty="0">
              <a:cs typeface="B Nazanin" panose="00000400000000000000" pitchFamily="2" charset="-78"/>
            </a:rPr>
            <a:t> پایه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711152"/>
        <a:ext cx="1964791" cy="535803"/>
      </dsp:txXfrm>
    </dsp:sp>
    <dsp:sp modelId="{842763DB-A544-47BF-A6F6-9BAB67F6C350}">
      <dsp:nvSpPr>
        <dsp:cNvPr id="0" name=""/>
        <dsp:cNvSpPr/>
      </dsp:nvSpPr>
      <dsp:spPr>
        <a:xfrm>
          <a:off x="0" y="1359461"/>
          <a:ext cx="2022763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استدلال منطقی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1388447"/>
        <a:ext cx="1964791" cy="5358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D9737E2-E5A7-4798-8CE4-635A842BA6E2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1A1FC86-6D43-4743-9C66-42764E3FFE4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00205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4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84488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6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515031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7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74101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D24C1-02E5-D959-1048-D50D1000E1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6221"/>
            <a:ext cx="9144000" cy="831943"/>
          </a:xfrm>
        </p:spPr>
        <p:txBody>
          <a:bodyPr>
            <a:normAutofit fontScale="90000"/>
          </a:bodyPr>
          <a:lstStyle/>
          <a:p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5C100C-1CBC-2D96-6416-B45A5AFF18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7458" y="2413281"/>
            <a:ext cx="9144000" cy="521727"/>
          </a:xfrm>
        </p:spPr>
        <p:txBody>
          <a:bodyPr/>
          <a:lstStyle/>
          <a:p>
            <a:r>
              <a:rPr lang="en-US" b="0" i="0" dirty="0">
                <a:solidFill>
                  <a:srgbClr val="4B4F58"/>
                </a:solidFill>
                <a:effectLst/>
                <a:latin typeface="lists-font"/>
              </a:rPr>
              <a:t>Retrieval-Augmented Generation</a:t>
            </a:r>
            <a:endParaRPr lang="fa-IR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5B90CAB-F0F4-F1F4-2F22-A3227EFB4176}"/>
              </a:ext>
            </a:extLst>
          </p:cNvPr>
          <p:cNvSpPr txBox="1">
            <a:spLocks/>
          </p:cNvSpPr>
          <p:nvPr/>
        </p:nvSpPr>
        <p:spPr>
          <a:xfrm>
            <a:off x="1524000" y="1228164"/>
            <a:ext cx="9144000" cy="7620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تولید پاسخ توسط مدل زبانی با تکنیک تقویت زمینه دانشی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07E24E0-2EFC-7FCF-A5F9-43E02F8DC4B0}"/>
              </a:ext>
            </a:extLst>
          </p:cNvPr>
          <p:cNvSpPr txBox="1">
            <a:spLocks/>
          </p:cNvSpPr>
          <p:nvPr/>
        </p:nvSpPr>
        <p:spPr>
          <a:xfrm>
            <a:off x="1407458" y="3541992"/>
            <a:ext cx="9144000" cy="65349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4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تقویت کیفیت پاسخ مدل زبانی با ضمیمه کردن دانش </a:t>
            </a:r>
            <a:r>
              <a:rPr lang="fa-IR" dirty="0" err="1"/>
              <a:t>واطلاعات</a:t>
            </a:r>
            <a:r>
              <a:rPr lang="fa-IR" dirty="0"/>
              <a:t> مرتبط با سوال به ورودی مدل زبانی</a:t>
            </a:r>
          </a:p>
        </p:txBody>
      </p:sp>
    </p:spTree>
    <p:extLst>
      <p:ext uri="{BB962C8B-B14F-4D97-AF65-F5344CB8AC3E}">
        <p14:creationId xmlns:p14="http://schemas.microsoft.com/office/powerpoint/2010/main" val="66990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19097"/>
            <a:ext cx="2998510" cy="628743"/>
          </a:xfrm>
          <a:noFill/>
        </p:spPr>
        <p:txBody>
          <a:bodyPr>
            <a:noAutofit/>
          </a:bodyPr>
          <a:lstStyle/>
          <a:p>
            <a:r>
              <a:rPr lang="en-US" sz="8800" dirty="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</a:gradFill>
                <a:effectLst>
                  <a:reflection stA="70000" endPos="12000" dir="5400000" sy="-100000" algn="bl" rotWithShape="0"/>
                </a:effectLst>
                <a:latin typeface="Arial Black" panose="020B0A04020102020204" pitchFamily="34" charset="0"/>
              </a:rPr>
              <a:t>RAG</a:t>
            </a:r>
            <a:r>
              <a:rPr lang="en-US" sz="8000" dirty="0"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  <a:tileRect/>
                </a:gradFill>
                <a:latin typeface="Arial Black" panose="020B0A04020102020204" pitchFamily="34" charset="0"/>
              </a:rPr>
              <a:t> </a:t>
            </a:r>
            <a:endParaRPr lang="fa-IR" sz="8000" dirty="0"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60000"/>
                    </a:schemeClr>
                  </a:gs>
                </a:gsLst>
                <a:lin ang="10800000" scaled="1"/>
                <a:tileRect/>
              </a:gradFill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2697018" y="3697326"/>
            <a:ext cx="8843077" cy="617632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تقویت مدل زبانی بزرگ (</a:t>
            </a:r>
            <a:r>
              <a:rPr lang="en-US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latin typeface="+mn-lt"/>
              </a:rPr>
              <a:t>LLM</a:t>
            </a:r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605251" y="189056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 </a:t>
            </a:r>
            <a:r>
              <a:rPr lang="fa-IR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تعالی</a:t>
            </a:r>
            <a:endParaRPr lang="fa-IR" sz="1600" b="1" dirty="0">
              <a:ln w="6350" cmpd="sng">
                <a:noFill/>
                <a:prstDash val="solid"/>
                <a:round/>
              </a:ln>
              <a:gradFill flip="none" rotWithShape="1">
                <a:gsLst>
                  <a:gs pos="0">
                    <a:srgbClr val="002060"/>
                  </a:gs>
                  <a:gs pos="48000">
                    <a:schemeClr val="accent1">
                      <a:lumMod val="75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85334" y="2332587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800" b="1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sz="3800" b="1" dirty="0">
              <a:latin typeface="Arial Black" panose="020B0A040201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7A88DB-9AC8-D0B3-D9B6-D1393842B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9370" y="-123655"/>
            <a:ext cx="3612630" cy="355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675638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نداشتن دانش و اطلاعات به روز (احتمال ارائه اطلاعات منسوخ)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توهم (</a:t>
            </a:r>
            <a:r>
              <a:rPr lang="en-US" sz="2000" b="1" dirty="0">
                <a:cs typeface="B Nazanin" panose="00000400000000000000" pitchFamily="2" charset="-78"/>
              </a:rPr>
              <a:t>Hallucination</a:t>
            </a:r>
            <a:r>
              <a:rPr lang="fa-IR" sz="2000" b="1" dirty="0">
                <a:cs typeface="B Nazanin" panose="00000400000000000000" pitchFamily="2" charset="-78"/>
              </a:rPr>
              <a:t>): احتمال ارائه پاسخ نادرست </a:t>
            </a:r>
            <a:r>
              <a:rPr lang="fa-IR" sz="2000" b="1" dirty="0" err="1">
                <a:cs typeface="B Nazanin" panose="00000400000000000000" pitchFamily="2" charset="-78"/>
              </a:rPr>
              <a:t>علی‌رغم</a:t>
            </a:r>
            <a:r>
              <a:rPr lang="fa-IR" sz="2000" b="1" dirty="0">
                <a:cs typeface="B Nazanin" panose="00000400000000000000" pitchFamily="2" charset="-78"/>
              </a:rPr>
              <a:t> قاطعیت در بیان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000" b="1" dirty="0" err="1">
                <a:cs typeface="B Nazanin" panose="00000400000000000000" pitchFamily="2" charset="-78"/>
              </a:rPr>
              <a:t>ناهمگونی</a:t>
            </a:r>
            <a:r>
              <a:rPr lang="fa-IR" sz="20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و کاربر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پیروی از </a:t>
            </a:r>
            <a:r>
              <a:rPr lang="fa-IR" sz="2000" b="1" dirty="0" err="1">
                <a:cs typeface="B Nazanin" panose="00000400000000000000" pitchFamily="2" charset="-78"/>
              </a:rPr>
              <a:t>جهت‌گیری</a:t>
            </a:r>
            <a:r>
              <a:rPr lang="fa-IR" sz="2000" b="1" dirty="0">
                <a:cs typeface="B Nazanin" panose="00000400000000000000" pitchFamily="2" charset="-78"/>
              </a:rPr>
              <a:t>‎ (</a:t>
            </a:r>
            <a:r>
              <a:rPr lang="en-US" sz="2000" b="1" dirty="0">
                <a:cs typeface="B Nazanin" panose="00000400000000000000" pitchFamily="2" charset="-78"/>
              </a:rPr>
              <a:t>Bias</a:t>
            </a:r>
            <a:r>
              <a:rPr lang="fa-IR" sz="2000" b="1" dirty="0">
                <a:cs typeface="B Nazanin" panose="00000400000000000000" pitchFamily="2" charset="-78"/>
              </a:rPr>
              <a:t>) و ادبیات </a:t>
            </a:r>
            <a:r>
              <a:rPr lang="fa-IR" sz="2000" b="1" dirty="0" err="1">
                <a:cs typeface="B Nazanin" panose="00000400000000000000" pitchFamily="2" charset="-78"/>
              </a:rPr>
              <a:t>داده‌های</a:t>
            </a:r>
            <a:r>
              <a:rPr lang="fa-IR" sz="2000" b="1" dirty="0">
                <a:cs typeface="B Nazanin" panose="00000400000000000000" pitchFamily="2" charset="-78"/>
              </a:rPr>
              <a:t> آموزش</a:t>
            </a: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949037" y="5862791"/>
            <a:ext cx="10735642" cy="445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اطلاعات و دانش مدل‌ زبانی محدود به </a:t>
            </a:r>
            <a:r>
              <a:rPr lang="fa-IR" sz="2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648470" y="2306639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پاسخ مدل زبانی با ضمیمه شدن دانش و اطلاعات مربوطه به ورودی مدل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648470" y="3541713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116624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b="1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Arrow: Right 41">
            <a:extLst>
              <a:ext uri="{FF2B5EF4-FFF2-40B4-BE49-F238E27FC236}">
                <a16:creationId xmlns:a16="http://schemas.microsoft.com/office/drawing/2014/main" id="{FC722032-AB4E-9523-B558-4043A13FEE56}"/>
              </a:ext>
            </a:extLst>
          </p:cNvPr>
          <p:cNvSpPr/>
          <p:nvPr/>
        </p:nvSpPr>
        <p:spPr>
          <a:xfrm>
            <a:off x="6556980" y="2087662"/>
            <a:ext cx="721650" cy="441000"/>
          </a:xfrm>
          <a:prstGeom prst="rightArrow">
            <a:avLst>
              <a:gd name="adj1" fmla="val 50000"/>
              <a:gd name="adj2" fmla="val 56283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4C018E-445C-BBD5-46C0-7C13A31E8215}"/>
              </a:ext>
            </a:extLst>
          </p:cNvPr>
          <p:cNvSpPr/>
          <p:nvPr/>
        </p:nvSpPr>
        <p:spPr>
          <a:xfrm>
            <a:off x="10015240" y="1547323"/>
            <a:ext cx="1539189" cy="1443317"/>
          </a:xfrm>
          <a:prstGeom prst="ellipse">
            <a:avLst/>
          </a:prstGeom>
          <a:solidFill>
            <a:srgbClr val="E3B5F5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600" b="1" dirty="0">
                <a:solidFill>
                  <a:schemeClr val="tx1"/>
                </a:solidFill>
                <a:cs typeface="B Nazanin" panose="00000400000000000000" pitchFamily="2" charset="-78"/>
              </a:rPr>
              <a:t>پاسخ</a:t>
            </a:r>
          </a:p>
        </p:txBody>
      </p:sp>
      <p:sp>
        <p:nvSpPr>
          <p:cNvPr id="7" name="Rectangle: Top Corners Snipped 6">
            <a:extLst>
              <a:ext uri="{FF2B5EF4-FFF2-40B4-BE49-F238E27FC236}">
                <a16:creationId xmlns:a16="http://schemas.microsoft.com/office/drawing/2014/main" id="{6C7FD831-AF60-FFC2-5B6E-982A9415CFDF}"/>
              </a:ext>
            </a:extLst>
          </p:cNvPr>
          <p:cNvSpPr/>
          <p:nvPr/>
        </p:nvSpPr>
        <p:spPr>
          <a:xfrm>
            <a:off x="4574952" y="4485459"/>
            <a:ext cx="2010742" cy="1296411"/>
          </a:xfrm>
          <a:prstGeom prst="snip2SameRect">
            <a:avLst/>
          </a:prstGeom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cs typeface="B Nazanin" panose="00000400000000000000" pitchFamily="2" charset="-78"/>
              </a:rPr>
              <a:t>پایگاه داده برداری</a:t>
            </a:r>
          </a:p>
          <a:p>
            <a:pPr algn="ctr"/>
            <a:endParaRPr lang="fa-IR" b="1" dirty="0">
              <a:cs typeface="B Nazanin" panose="00000400000000000000" pitchFamily="2" charset="-78"/>
            </a:endParaRPr>
          </a:p>
          <a:p>
            <a:pPr algn="ctr"/>
            <a:r>
              <a:rPr lang="en-US" dirty="0"/>
              <a:t>Vector Database</a:t>
            </a:r>
            <a:endParaRPr lang="fa-IR" dirty="0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1FC2D48-6718-497F-AA64-B0CBCFDDAB23}"/>
              </a:ext>
            </a:extLst>
          </p:cNvPr>
          <p:cNvSpPr/>
          <p:nvPr/>
        </p:nvSpPr>
        <p:spPr>
          <a:xfrm rot="3328977">
            <a:off x="809669" y="3747921"/>
            <a:ext cx="1650910" cy="310376"/>
          </a:xfrm>
          <a:prstGeom prst="rightArrow">
            <a:avLst>
              <a:gd name="adj1" fmla="val 50000"/>
              <a:gd name="adj2" fmla="val 91926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227C395-9A62-0269-D519-C715B5C3AFE2}"/>
              </a:ext>
            </a:extLst>
          </p:cNvPr>
          <p:cNvSpPr/>
          <p:nvPr/>
        </p:nvSpPr>
        <p:spPr>
          <a:xfrm>
            <a:off x="976625" y="4596689"/>
            <a:ext cx="2216879" cy="1180831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cs typeface="B Nazanin" panose="00000400000000000000" pitchFamily="2" charset="-78"/>
              </a:rPr>
              <a:t>مدل مبدل معنا به بردار </a:t>
            </a:r>
            <a:endParaRPr lang="en-US" b="1" dirty="0">
              <a:cs typeface="B Nazanin" panose="00000400000000000000" pitchFamily="2" charset="-78"/>
            </a:endParaRPr>
          </a:p>
          <a:p>
            <a:pPr algn="ctr"/>
            <a:endParaRPr lang="en-US" dirty="0"/>
          </a:p>
          <a:p>
            <a:pPr algn="ctr"/>
            <a:r>
              <a:rPr lang="en-US" dirty="0"/>
              <a:t>Embedding model</a:t>
            </a:r>
            <a:endParaRPr lang="fa-IR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C538AB-8859-E96F-61C4-C95ABE1E7F37}"/>
              </a:ext>
            </a:extLst>
          </p:cNvPr>
          <p:cNvGrpSpPr/>
          <p:nvPr/>
        </p:nvGrpSpPr>
        <p:grpSpPr>
          <a:xfrm>
            <a:off x="4872173" y="1504257"/>
            <a:ext cx="1777862" cy="1738320"/>
            <a:chOff x="5554862" y="2758085"/>
            <a:chExt cx="1586831" cy="1350815"/>
          </a:xfr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72FDC58-394B-674D-35EA-88F52172055C}"/>
                </a:ext>
              </a:extLst>
            </p:cNvPr>
            <p:cNvSpPr/>
            <p:nvPr/>
          </p:nvSpPr>
          <p:spPr>
            <a:xfrm>
              <a:off x="5771104" y="2758085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  <a:shade val="30000"/>
                    <a:satMod val="115000"/>
                  </a:schemeClr>
                </a:gs>
                <a:gs pos="50000">
                  <a:schemeClr val="accent1">
                    <a:lumMod val="60000"/>
                    <a:lumOff val="40000"/>
                    <a:shade val="67500"/>
                    <a:satMod val="115000"/>
                  </a:schemeClr>
                </a:gs>
                <a:gs pos="100000">
                  <a:schemeClr val="accent1">
                    <a:lumMod val="60000"/>
                    <a:lumOff val="40000"/>
                    <a:shade val="100000"/>
                    <a:satMod val="115000"/>
                  </a:schemeClr>
                </a:gs>
              </a:gsLst>
              <a:lin ang="81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468D31C-E7A4-2243-153E-2D9831D1AD59}"/>
                </a:ext>
              </a:extLst>
            </p:cNvPr>
            <p:cNvSpPr/>
            <p:nvPr/>
          </p:nvSpPr>
          <p:spPr>
            <a:xfrm>
              <a:off x="5667837" y="2871363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0E21A20-FC60-B3F4-E52D-434BC2487277}"/>
                </a:ext>
              </a:extLst>
            </p:cNvPr>
            <p:cNvSpPr/>
            <p:nvPr/>
          </p:nvSpPr>
          <p:spPr>
            <a:xfrm>
              <a:off x="5554862" y="2985133"/>
              <a:ext cx="1370589" cy="1123767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مضامین مرتبط دریافت شده</a:t>
              </a:r>
            </a:p>
            <a:p>
              <a:pPr algn="ctr"/>
              <a:endParaRPr lang="fa-IR" dirty="0"/>
            </a:p>
            <a:p>
              <a:pPr algn="ctr"/>
              <a:r>
                <a:rPr lang="en-US" dirty="0"/>
                <a:t>Retrieved contexts</a:t>
              </a:r>
              <a:endParaRPr lang="fa-IR" dirty="0"/>
            </a:p>
          </p:txBody>
        </p:sp>
      </p:grpSp>
      <p:sp>
        <p:nvSpPr>
          <p:cNvPr id="39" name="Arrow: Curved Down 38">
            <a:extLst>
              <a:ext uri="{FF2B5EF4-FFF2-40B4-BE49-F238E27FC236}">
                <a16:creationId xmlns:a16="http://schemas.microsoft.com/office/drawing/2014/main" id="{3F63B1EB-BD85-DE5A-0E9B-DD512A4DDE05}"/>
              </a:ext>
            </a:extLst>
          </p:cNvPr>
          <p:cNvSpPr/>
          <p:nvPr/>
        </p:nvSpPr>
        <p:spPr>
          <a:xfrm rot="20762065">
            <a:off x="829974" y="740928"/>
            <a:ext cx="7740934" cy="1459870"/>
          </a:xfrm>
          <a:prstGeom prst="curvedDownArrow">
            <a:avLst>
              <a:gd name="adj1" fmla="val 15597"/>
              <a:gd name="adj2" fmla="val 37953"/>
              <a:gd name="adj3" fmla="val 20984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489D919-6574-5CE1-D5FE-EFB31CEF32CE}"/>
              </a:ext>
            </a:extLst>
          </p:cNvPr>
          <p:cNvSpPr/>
          <p:nvPr/>
        </p:nvSpPr>
        <p:spPr>
          <a:xfrm>
            <a:off x="479930" y="2382572"/>
            <a:ext cx="1456817" cy="106517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chemeClr val="tx1"/>
                </a:solidFill>
                <a:cs typeface="B Nazanin" panose="00000400000000000000" pitchFamily="2" charset="-78"/>
              </a:rPr>
              <a:t>سوال کاربر</a:t>
            </a:r>
          </a:p>
          <a:p>
            <a:pPr algn="ctr"/>
            <a:endParaRPr lang="fa-IR" dirty="0">
              <a:solidFill>
                <a:schemeClr val="tx1"/>
              </a:solidFill>
              <a:cs typeface="B Nazanin" panose="00000400000000000000" pitchFamily="2" charset="-78"/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User query</a:t>
            </a:r>
            <a:endParaRPr lang="fa-IR" dirty="0">
              <a:solidFill>
                <a:schemeClr val="tx1"/>
              </a:solidFill>
            </a:endParaRP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9692C625-027B-5A93-F37C-56583E07D0A4}"/>
              </a:ext>
            </a:extLst>
          </p:cNvPr>
          <p:cNvSpPr/>
          <p:nvPr/>
        </p:nvSpPr>
        <p:spPr>
          <a:xfrm>
            <a:off x="3193504" y="5012248"/>
            <a:ext cx="1310576" cy="388648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7F6738F-0F6E-43E3-A844-8DC6AF9A11CB}"/>
              </a:ext>
            </a:extLst>
          </p:cNvPr>
          <p:cNvSpPr/>
          <p:nvPr/>
        </p:nvSpPr>
        <p:spPr>
          <a:xfrm rot="16200000">
            <a:off x="5013222" y="3671856"/>
            <a:ext cx="1238619" cy="388586"/>
          </a:xfrm>
          <a:prstGeom prst="rightArrow">
            <a:avLst>
              <a:gd name="adj1" fmla="val 50000"/>
              <a:gd name="adj2" fmla="val 69015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596350C9-1CF9-467F-8D67-1091778C3DB8}"/>
              </a:ext>
            </a:extLst>
          </p:cNvPr>
          <p:cNvSpPr/>
          <p:nvPr/>
        </p:nvSpPr>
        <p:spPr>
          <a:xfrm>
            <a:off x="8882941" y="2087743"/>
            <a:ext cx="1067717" cy="4410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09E4A1-ED33-FD79-E2E3-AE34A3445717}"/>
              </a:ext>
            </a:extLst>
          </p:cNvPr>
          <p:cNvSpPr txBox="1"/>
          <p:nvPr/>
        </p:nvSpPr>
        <p:spPr>
          <a:xfrm>
            <a:off x="9421091" y="421735"/>
            <a:ext cx="2290619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>
                <a:cs typeface="B Nazanin" panose="00000400000000000000" pitchFamily="2" charset="-78"/>
              </a:rPr>
              <a:t>نحوه کار </a:t>
            </a:r>
            <a:r>
              <a:rPr lang="en-US" sz="2800" b="1" dirty="0">
                <a:cs typeface="B Nazanin" panose="00000400000000000000" pitchFamily="2" charset="-78"/>
              </a:rPr>
              <a:t>RAG</a:t>
            </a:r>
            <a:endParaRPr lang="fa-IR" sz="2800" b="1" dirty="0">
              <a:cs typeface="B Nazanin" panose="00000400000000000000" pitchFamily="2" charset="-78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4646134-CB8A-FED7-FCE1-29FDDD2E9240}"/>
              </a:ext>
            </a:extLst>
          </p:cNvPr>
          <p:cNvGrpSpPr/>
          <p:nvPr/>
        </p:nvGrpSpPr>
        <p:grpSpPr>
          <a:xfrm>
            <a:off x="6713547" y="4411114"/>
            <a:ext cx="1525364" cy="1810796"/>
            <a:chOff x="6576755" y="4518907"/>
            <a:chExt cx="1525364" cy="18107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0D65672-829E-6F4C-1C0B-1207D7BCB32D}"/>
                </a:ext>
              </a:extLst>
            </p:cNvPr>
            <p:cNvSpPr/>
            <p:nvPr/>
          </p:nvSpPr>
          <p:spPr>
            <a:xfrm>
              <a:off x="6594765" y="4518907"/>
              <a:ext cx="1507354" cy="1810796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6F095A3-1F94-5F80-670B-5E2080780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761587"/>
              <a:ext cx="534462" cy="53446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2AEFF4C-2378-419B-1E81-744AA8F88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4572637"/>
              <a:ext cx="534462" cy="53446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94978B0-70E1-8FED-EEC3-361FB049A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167112"/>
              <a:ext cx="534462" cy="53446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DFE2187-33F8-92B3-D040-464685DB4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5760845"/>
              <a:ext cx="534462" cy="53446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AAC07A1-91A3-F15C-E503-DBBCFE1CD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4572637"/>
              <a:ext cx="534462" cy="53446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E413569-2C8A-4325-3BB2-41141CA467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7628" y="5184975"/>
              <a:ext cx="534462" cy="534462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5C053C7-6A68-E274-9C10-D25BA05E5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761587"/>
              <a:ext cx="534462" cy="53446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F65AD56-881D-646C-EFFF-DF22FE5CC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4572637"/>
              <a:ext cx="534462" cy="534462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1E1418-CA47-BE84-01D4-710ECB042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167112"/>
              <a:ext cx="534462" cy="534462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86480C9-DA08-387F-5832-00FC56507BE4}"/>
              </a:ext>
            </a:extLst>
          </p:cNvPr>
          <p:cNvSpPr txBox="1"/>
          <p:nvPr/>
        </p:nvSpPr>
        <p:spPr>
          <a:xfrm>
            <a:off x="6688267" y="3841131"/>
            <a:ext cx="1591397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fa-IR" sz="1600" b="1" dirty="0">
                <a:cs typeface="B Nazanin" panose="00000400000000000000" pitchFamily="2" charset="-78"/>
              </a:rPr>
              <a:t>جستجوی شباهت</a:t>
            </a:r>
          </a:p>
          <a:p>
            <a:pPr algn="ctr"/>
            <a:r>
              <a:rPr lang="en-US" sz="1600" b="1" dirty="0">
                <a:cs typeface="B Nazanin" panose="00000400000000000000" pitchFamily="2" charset="-78"/>
              </a:rPr>
              <a:t>Similarity search</a:t>
            </a:r>
            <a:endParaRPr lang="fa-IR" sz="1600" b="1" dirty="0">
              <a:cs typeface="B Nazanin" panose="00000400000000000000" pitchFamily="2" charset="-7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925E3A-474B-CDE3-D34D-59906CF6A744}"/>
              </a:ext>
            </a:extLst>
          </p:cNvPr>
          <p:cNvSpPr txBox="1"/>
          <p:nvPr/>
        </p:nvSpPr>
        <p:spPr>
          <a:xfrm>
            <a:off x="267083" y="5840457"/>
            <a:ext cx="3635961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1600" b="1" dirty="0">
                <a:cs typeface="B Nazanin" panose="00000400000000000000" pitchFamily="2" charset="-78"/>
              </a:rPr>
              <a:t>تبدیل سوال به بردار معنایی (</a:t>
            </a:r>
            <a:r>
              <a:rPr lang="en-US" sz="1600" b="1" dirty="0">
                <a:cs typeface="B Nazanin" panose="00000400000000000000" pitchFamily="2" charset="-78"/>
              </a:rPr>
              <a:t>Semantic vector</a:t>
            </a:r>
            <a:r>
              <a:rPr lang="fa-IR" sz="1600" b="1" dirty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algn="ctr" rtl="1"/>
            <a:r>
              <a:rPr lang="en-US" sz="1600" b="1" dirty="0">
                <a:cs typeface="B Nazanin" panose="00000400000000000000" pitchFamily="2" charset="-78"/>
              </a:rPr>
              <a:t>[0.71  0.23  …  0.06  0.94]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1D0E8F-DE88-5521-CA7F-F1275D7487DF}"/>
              </a:ext>
            </a:extLst>
          </p:cNvPr>
          <p:cNvGrpSpPr/>
          <p:nvPr/>
        </p:nvGrpSpPr>
        <p:grpSpPr>
          <a:xfrm>
            <a:off x="7308764" y="1351365"/>
            <a:ext cx="2106598" cy="1913593"/>
            <a:chOff x="7308764" y="1351365"/>
            <a:chExt cx="2106598" cy="1913593"/>
          </a:xfrm>
        </p:grpSpPr>
        <p:sp>
          <p:nvSpPr>
            <p:cNvPr id="35" name="Diamond 34">
              <a:extLst>
                <a:ext uri="{FF2B5EF4-FFF2-40B4-BE49-F238E27FC236}">
                  <a16:creationId xmlns:a16="http://schemas.microsoft.com/office/drawing/2014/main" id="{E9705E75-6B1D-8AD9-14D9-757D6948F738}"/>
                </a:ext>
              </a:extLst>
            </p:cNvPr>
            <p:cNvSpPr/>
            <p:nvPr/>
          </p:nvSpPr>
          <p:spPr>
            <a:xfrm>
              <a:off x="7308764" y="1351365"/>
              <a:ext cx="2106598" cy="1913593"/>
            </a:xfrm>
            <a:prstGeom prst="diamond">
              <a:avLst/>
            </a:prstGeom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 prst="coolSlant"/>
            </a:sp3d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0CE78CC-DA96-F4F1-1B7D-8BB9369183D2}"/>
                </a:ext>
              </a:extLst>
            </p:cNvPr>
            <p:cNvSpPr txBox="1"/>
            <p:nvPr/>
          </p:nvSpPr>
          <p:spPr>
            <a:xfrm>
              <a:off x="7592468" y="2026004"/>
              <a:ext cx="1539190" cy="646331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ctr"/>
              <a:r>
                <a:rPr lang="fa-IR" b="1" dirty="0">
                  <a:solidFill>
                    <a:schemeClr val="tx1"/>
                  </a:solidFill>
                  <a:cs typeface="B Nazanin" panose="00000400000000000000" pitchFamily="2" charset="-78"/>
                </a:rPr>
                <a:t>مدل زبانی بزرگ</a:t>
              </a:r>
            </a:p>
            <a:p>
              <a:pPr algn="ctr"/>
              <a:r>
                <a:rPr lang="en-US" b="1" dirty="0">
                  <a:solidFill>
                    <a:schemeClr val="tx1"/>
                  </a:solidFill>
                  <a:cs typeface="+mj-cs"/>
                </a:rPr>
                <a:t>(LLM)</a:t>
              </a:r>
              <a:endParaRPr lang="fa-IR" b="1" dirty="0">
                <a:solidFill>
                  <a:schemeClr val="tx1"/>
                </a:solidFill>
                <a:cs typeface="+mj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7135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6702" y="57370"/>
            <a:ext cx="11558591" cy="750588"/>
          </a:xfrm>
        </p:spPr>
        <p:txBody>
          <a:bodyPr>
            <a:normAutofit/>
          </a:bodyPr>
          <a:lstStyle/>
          <a:p>
            <a:pPr algn="r" rtl="1"/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مقایسه راهکارهای ایجاد دانش جدید در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  <a:endParaRPr lang="fa-IR" sz="3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4047727"/>
              </p:ext>
            </p:extLst>
          </p:nvPr>
        </p:nvGraphicFramePr>
        <p:xfrm>
          <a:off x="241479" y="858983"/>
          <a:ext cx="11709039" cy="5710522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559846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749727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240630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3158836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51249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800" b="1" kern="12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463503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تقویت ورودی مدل ‌زبانی با اطلاعات</a:t>
                      </a:r>
                      <a:r>
                        <a:rPr lang="en-US" sz="16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مرتبط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41877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1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محاسباتی</a:t>
                      </a: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fa-IR" sz="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تهیه مجموعه داده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افزودن منابع دانشی و اطلاعات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430307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0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فرآیندی بسیار پرهزینه و تخصصی‌ است.</a:t>
                      </a: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افزودن هر بار اطلاعات به مدل با این روش، علاوه بر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زمان‌بر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بودن، نیاز به تخصص دارد.</a:t>
                      </a: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افزودن سریع و آسان منابع دانشی و اطلاعات توسط مدیر و کاربران</a:t>
                      </a:r>
                    </a:p>
                    <a:p>
                      <a:pPr marL="0" indent="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1858960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2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مناسب برای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بر روی زبانی که تا به حال کار نشده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مدلی بهتر نسبت به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متن‌باز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موجود، با از بین بردن نقاط ضعف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آن‌ها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توسعه علمی و تحقیقاتی حوزه پردازش زبان طبیعی/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بومی‌سازی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دانش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و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(مثل متخصص ترجمه،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خلاصه‌نویسی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نگارش آکادمیک،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شعرسرایی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برنامه‌نویسی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و ...)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ربات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پرسش و پاسخ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فرازمینه‌ای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     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Open-domain Q&amp;A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دستیار تحقیقاتی</a:t>
                      </a:r>
                      <a:endParaRPr lang="fa-IR" sz="12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مدیریت دانش سازمانی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جستجوی اسناد</a:t>
                      </a:r>
                      <a:r>
                        <a:rPr lang="en-US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 منابع اطلاعاتی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2F3F76-9ABE-3C93-BEA7-0365DAF2DB01}"/>
              </a:ext>
            </a:extLst>
          </p:cNvPr>
          <p:cNvSpPr txBox="1"/>
          <p:nvPr/>
        </p:nvSpPr>
        <p:spPr>
          <a:xfrm>
            <a:off x="3209636" y="2162916"/>
            <a:ext cx="1671783" cy="2462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-US" sz="1000" b="1" kern="1200" dirty="0">
                <a:solidFill>
                  <a:schemeClr val="dk1"/>
                </a:solidFill>
                <a:latin typeface="+mn-lt"/>
                <a:ea typeface="+mn-ea"/>
                <a:cs typeface="+mj-cs"/>
              </a:rPr>
              <a:t>8 * 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N_model</a:t>
            </a:r>
            <a:r>
              <a:rPr lang="en-US" sz="1000" b="1" dirty="0" err="1">
                <a:solidFill>
                  <a:schemeClr val="dk1"/>
                </a:solidFill>
                <a:cs typeface="+mj-cs"/>
              </a:rPr>
              <a:t>_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parameters</a:t>
            </a:r>
            <a:endParaRPr lang="fa-IR" sz="1000" dirty="0">
              <a:cs typeface="+mj-cs"/>
            </a:endParaRP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21DAF1BF-507C-6713-3752-E36BBE3B9EDB}"/>
              </a:ext>
            </a:extLst>
          </p:cNvPr>
          <p:cNvCxnSpPr>
            <a:cxnSpLocks/>
          </p:cNvCxnSpPr>
          <p:nvPr/>
        </p:nvCxnSpPr>
        <p:spPr>
          <a:xfrm rot="10800000" flipV="1">
            <a:off x="4835243" y="2221375"/>
            <a:ext cx="267855" cy="6924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479D0-88FE-F28A-E61A-8E58FB181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dirty="0"/>
              <a:t>چرا </a:t>
            </a:r>
            <a:r>
              <a:rPr lang="en-US" dirty="0"/>
              <a:t>RAG</a:t>
            </a:r>
            <a:r>
              <a:rPr lang="fa-IR" dirty="0"/>
              <a:t>؟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F4A23D-98D7-EBD0-0C6E-FBABC69569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608139"/>
          </a:xfrm>
        </p:spPr>
        <p:txBody>
          <a:bodyPr>
            <a:normAutofit/>
          </a:bodyPr>
          <a:lstStyle/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مدل‌های</a:t>
            </a:r>
            <a:r>
              <a:rPr lang="fa-IR" sz="2000" b="1" dirty="0">
                <a:cs typeface="B Nazanin" panose="00000400000000000000" pitchFamily="2" charset="-78"/>
              </a:rPr>
              <a:t> زبانی موجود به خوبی درک زبانی، </a:t>
            </a:r>
            <a:r>
              <a:rPr lang="fa-IR" sz="2000" b="1" dirty="0" err="1">
                <a:cs typeface="B Nazanin" panose="00000400000000000000" pitchFamily="2" charset="-78"/>
              </a:rPr>
              <a:t>دانش‌های</a:t>
            </a:r>
            <a:r>
              <a:rPr lang="fa-IR" sz="2000" b="1" dirty="0">
                <a:cs typeface="B Nazanin" panose="00000400000000000000" pitchFamily="2" charset="-78"/>
              </a:rPr>
              <a:t> پایه و استدلال منطقی را </a:t>
            </a:r>
            <a:r>
              <a:rPr lang="fa-IR" sz="2000" b="1" dirty="0" err="1">
                <a:cs typeface="B Nazanin" panose="00000400000000000000" pitchFamily="2" charset="-78"/>
              </a:rPr>
              <a:t>فراگرفته‌اند</a:t>
            </a:r>
            <a:r>
              <a:rPr lang="fa-IR" sz="2000" b="1" dirty="0">
                <a:cs typeface="B Nazanin" panose="00000400000000000000" pitchFamily="2" charset="-78"/>
              </a:rPr>
              <a:t> و آموزش یک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جدید صرفا برای فراگیری دانش و اطلاعات خاص، توجیه عملیاتی ندارد.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عملکرد مطلوب: کیفیت </a:t>
            </a:r>
            <a:r>
              <a:rPr lang="fa-IR" sz="2000" b="1" dirty="0" err="1">
                <a:cs typeface="B Nazanin" panose="00000400000000000000" pitchFamily="2" charset="-78"/>
              </a:rPr>
              <a:t>پاسخ‌دهی</a:t>
            </a:r>
            <a:r>
              <a:rPr lang="fa-IR" sz="2000" b="1" dirty="0">
                <a:cs typeface="B Nazanin" panose="00000400000000000000" pitchFamily="2" charset="-78"/>
              </a:rPr>
              <a:t> </a:t>
            </a:r>
            <a:r>
              <a:rPr lang="en-US" sz="2000" b="1" dirty="0">
                <a:cs typeface="B Nazanin" panose="00000400000000000000" pitchFamily="2" charset="-78"/>
              </a:rPr>
              <a:t>RAG</a:t>
            </a:r>
            <a:r>
              <a:rPr lang="fa-IR" sz="2000" b="1" dirty="0">
                <a:cs typeface="B Nazanin" panose="00000400000000000000" pitchFamily="2" charset="-78"/>
              </a:rPr>
              <a:t> در صورت در اختیار داشتن اطلاعات مورد نیاز، تفاوت قابل توجهی با مدل آموزش دیده بر آن داده ها ندارد.</a:t>
            </a: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به‌روز</a:t>
            </a:r>
            <a:r>
              <a:rPr lang="fa-IR" sz="2000" b="1" dirty="0">
                <a:cs typeface="B Nazanin" panose="00000400000000000000" pitchFamily="2" charset="-78"/>
              </a:rPr>
              <a:t> رسانی سریع منابع اطلاعات و دانش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کنترل بالای </a:t>
            </a:r>
            <a:r>
              <a:rPr lang="fa-IR" sz="2000" b="1" dirty="0" err="1">
                <a:cs typeface="B Nazanin" panose="00000400000000000000" pitchFamily="2" charset="-78"/>
              </a:rPr>
              <a:t>توسعه‌دهنده</a:t>
            </a:r>
            <a:r>
              <a:rPr lang="fa-IR" sz="2000" b="1" dirty="0">
                <a:cs typeface="B Nazanin" panose="00000400000000000000" pitchFamily="2" charset="-78"/>
              </a:rPr>
              <a:t> و مدیر بر جریان اطلاعات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هزینه اقتصادی و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پایین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8137893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AB6C1-B27D-8A14-DA33-11A17B57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D92D2-C91B-9937-1162-C9FA09274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b="1" dirty="0">
                <a:cs typeface="B Nazanin" panose="00000400000000000000" pitchFamily="2" charset="-78"/>
              </a:rPr>
              <a:t>چرا </a:t>
            </a:r>
            <a:r>
              <a:rPr lang="en-US" b="1" dirty="0"/>
              <a:t>RAG</a:t>
            </a:r>
            <a:r>
              <a:rPr lang="fa-IR" b="1" dirty="0">
                <a:cs typeface="B Nazanin" panose="00000400000000000000" pitchFamily="2" charset="-78"/>
              </a:rPr>
              <a:t>؟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D505F06-E5C9-19CF-09EF-31F4B01C67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82372534"/>
              </p:ext>
            </p:extLst>
          </p:nvPr>
        </p:nvGraphicFramePr>
        <p:xfrm>
          <a:off x="4904509" y="1690688"/>
          <a:ext cx="2022763" cy="19581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6F48053-AED1-D9DB-FA80-0FB8CA66158E}"/>
              </a:ext>
            </a:extLst>
          </p:cNvPr>
          <p:cNvSpPr txBox="1">
            <a:spLocks/>
          </p:cNvSpPr>
          <p:nvPr/>
        </p:nvSpPr>
        <p:spPr>
          <a:xfrm>
            <a:off x="1028700" y="1690688"/>
            <a:ext cx="10515600" cy="46081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بهره‌مندی</a:t>
            </a:r>
            <a:r>
              <a:rPr lang="fa-IR" sz="2000" b="1" dirty="0">
                <a:cs typeface="B Nazanin" panose="00000400000000000000" pitchFamily="2" charset="-78"/>
              </a:rPr>
              <a:t> از قابلیت ‌های یک مدل زبانی پیشرفته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93327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A9D63-0D5C-6DEC-CA13-74CC6717A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dirty="0"/>
              <a:t>موارد استفاده </a:t>
            </a:r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D5725-6D96-2B6B-C5B1-FBACB654A1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33019295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EE280-61D4-C51E-550B-D6416CEC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4000" b="1" dirty="0">
                <a:cs typeface="B Nazanin" panose="00000400000000000000" pitchFamily="2" charset="-78"/>
              </a:rPr>
              <a:t>نحوه عملکرد </a:t>
            </a:r>
            <a:r>
              <a:rPr lang="en-US" sz="4000" b="1" dirty="0"/>
              <a:t>RAG</a:t>
            </a:r>
            <a:endParaRPr lang="fa-IR" sz="4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A5400-804E-F8B5-03A3-429E51912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156347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2620-32EF-ED06-86F4-F45D4D2DE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09014-3E9C-3A54-C1CE-4FC924A4F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22629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99FBF-A5B5-58B6-5DBF-49008626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63A0-3C26-B4A0-17C9-9E6666A0B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1449570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1041</TotalTime>
  <Words>974</Words>
  <Application>Microsoft Office PowerPoint</Application>
  <PresentationFormat>Widescreen</PresentationFormat>
  <Paragraphs>128</Paragraphs>
  <Slides>15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RAG</vt:lpstr>
      <vt:lpstr>Contents</vt:lpstr>
      <vt:lpstr>RAG </vt:lpstr>
      <vt:lpstr>ضعف دانشی مدل‌های زبانی</vt:lpstr>
      <vt:lpstr>راه‌های افزودن دانش و اطلاعات جدید به مدل‌های زبانی</vt:lpstr>
      <vt:lpstr>PowerPoint Presentation</vt:lpstr>
      <vt:lpstr>مقایسه راهکارهای ایجاد دانش جدید در مدل‌های زبانی</vt:lpstr>
      <vt:lpstr>چرا RAG؟</vt:lpstr>
      <vt:lpstr>چرا RAG؟</vt:lpstr>
      <vt:lpstr>موارد استفاده RAG</vt:lpstr>
      <vt:lpstr>نحوه عملکرد RAG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224</cp:revision>
  <dcterms:created xsi:type="dcterms:W3CDTF">2024-02-19T06:46:45Z</dcterms:created>
  <dcterms:modified xsi:type="dcterms:W3CDTF">2024-02-21T08:06:19Z</dcterms:modified>
</cp:coreProperties>
</file>