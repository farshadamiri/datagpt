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6" r:id="rId4"/>
    <p:sldId id="258" r:id="rId5"/>
    <p:sldId id="260" r:id="rId6"/>
    <p:sldId id="269" r:id="rId7"/>
    <p:sldId id="261" r:id="rId8"/>
    <p:sldId id="267" r:id="rId9"/>
    <p:sldId id="268" r:id="rId10"/>
    <p:sldId id="262" r:id="rId11"/>
    <p:sldId id="263" r:id="rId12"/>
    <p:sldId id="264" r:id="rId13"/>
    <p:sldId id="265" r:id="rId14"/>
    <p:sldId id="259" r:id="rId15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1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B5F5"/>
    <a:srgbClr val="DFAAF4"/>
    <a:srgbClr val="944402"/>
    <a:srgbClr val="008EC0"/>
    <a:srgbClr val="33CAFF"/>
    <a:srgbClr val="6D91D1"/>
    <a:srgbClr val="A2B9E2"/>
    <a:srgbClr val="4674C6"/>
    <a:srgbClr val="3A67B8"/>
    <a:srgbClr val="3055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9370" y="-123655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 err="1">
                <a:cs typeface="B Nazanin" panose="00000400000000000000" pitchFamily="2" charset="-78"/>
              </a:rPr>
              <a:t>Halluincation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198022" y="1529981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574952" y="4485459"/>
            <a:ext cx="2010742" cy="1296411"/>
          </a:xfrm>
          <a:prstGeom prst="snip2SameRect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sz="2000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sz="2000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3328977">
            <a:off x="809669" y="3747921"/>
            <a:ext cx="1650910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976625" y="4596689"/>
            <a:ext cx="2216879" cy="1180831"/>
          </a:xfrm>
          <a:prstGeom prst="round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5" name="Diamond 34">
            <a:extLst>
              <a:ext uri="{FF2B5EF4-FFF2-40B4-BE49-F238E27FC236}">
                <a16:creationId xmlns:a16="http://schemas.microsoft.com/office/drawing/2014/main" id="{E9705E75-6B1D-8AD9-14D9-757D6948F738}"/>
              </a:ext>
            </a:extLst>
          </p:cNvPr>
          <p:cNvSpPr/>
          <p:nvPr/>
        </p:nvSpPr>
        <p:spPr>
          <a:xfrm>
            <a:off x="7308764" y="1351365"/>
            <a:ext cx="2142202" cy="1913593"/>
          </a:xfrm>
          <a:prstGeom prst="diamond">
            <a:avLst/>
          </a:prstGeom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coolSlant"/>
          </a:sp3d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sz="2000" b="1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fa-IR" sz="2000" b="1" dirty="0">
                <a:solidFill>
                  <a:schemeClr val="tx1"/>
                </a:solidFill>
                <a:cs typeface="B Nazanin" panose="00000400000000000000" pitchFamily="2" charset="-78"/>
              </a:rPr>
              <a:t>مدل زبانی بزرگ</a:t>
            </a:r>
          </a:p>
          <a:p>
            <a:pPr algn="ctr"/>
            <a:r>
              <a:rPr lang="en-US" b="1" dirty="0">
                <a:solidFill>
                  <a:schemeClr val="tx1"/>
                </a:solidFill>
                <a:cs typeface="+mj-cs"/>
              </a:rPr>
              <a:t>(LLM)</a:t>
            </a:r>
            <a:endParaRPr lang="fa-IR" b="1" dirty="0">
              <a:solidFill>
                <a:schemeClr val="tx1"/>
              </a:solidFill>
              <a:cs typeface="+mj-cs"/>
            </a:endParaRPr>
          </a:p>
          <a:p>
            <a:pPr algn="ctr"/>
            <a:endParaRPr lang="fa-IR" sz="20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29974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000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sz="20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User query</a:t>
            </a:r>
            <a:endParaRPr lang="fa-IR" sz="2000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224690" y="5012248"/>
            <a:ext cx="1279390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85405" y="3655090"/>
            <a:ext cx="1168142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659472" y="2087662"/>
            <a:ext cx="619158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9467238" y="2087662"/>
            <a:ext cx="678908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9421091" y="421735"/>
            <a:ext cx="2290619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cs typeface="B Nazanin" panose="00000400000000000000" pitchFamily="2" charset="-78"/>
              </a:rPr>
              <a:t>نحوه کار </a:t>
            </a:r>
            <a:r>
              <a:rPr lang="en-US" sz="2800" b="1" dirty="0">
                <a:cs typeface="B Nazanin" panose="00000400000000000000" pitchFamily="2" charset="-78"/>
              </a:rPr>
              <a:t>RAG</a:t>
            </a:r>
            <a:endParaRPr lang="fa-IR" sz="2800" b="1" dirty="0"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713547" y="4411114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100440" y="3825148"/>
            <a:ext cx="276958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cs typeface="B Nazanin" panose="00000400000000000000" pitchFamily="2" charset="-78"/>
              </a:rPr>
              <a:t>جستجوی شباهت معنایی</a:t>
            </a:r>
          </a:p>
          <a:p>
            <a:pPr algn="ctr"/>
            <a:r>
              <a:rPr lang="en-US" sz="1600" b="1" dirty="0">
                <a:cs typeface="B Nazanin" panose="00000400000000000000" pitchFamily="2" charset="-78"/>
              </a:rPr>
              <a:t>Semantic similarity search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267083" y="5840457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cs typeface="B Nazanin" panose="00000400000000000000" pitchFamily="2" charset="-78"/>
              </a:rPr>
              <a:t>[0.71  0.23  …  0.06  0.94]</a:t>
            </a: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6181437"/>
              </p:ext>
            </p:extLst>
          </p:nvPr>
        </p:nvGraphicFramePr>
        <p:xfrm>
          <a:off x="241479" y="858983"/>
          <a:ext cx="11709039" cy="571052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497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40630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1249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3503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1877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3030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دانشی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5896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شعر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824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فراگیری دانش و اطلاعات خاص، توجیه عملیاتی ندارد.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عملکرد مطلوب: کیفیت </a:t>
            </a:r>
            <a:r>
              <a:rPr lang="fa-IR" sz="2000" b="1" dirty="0" err="1">
                <a:cs typeface="B Nazanin" panose="00000400000000000000" pitchFamily="2" charset="-78"/>
              </a:rPr>
              <a:t>پاسخ‌دهی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en-US" sz="2000" b="1" dirty="0">
                <a:cs typeface="B Nazanin" panose="00000400000000000000" pitchFamily="2" charset="-78"/>
              </a:rPr>
              <a:t>RAG</a:t>
            </a:r>
            <a:r>
              <a:rPr lang="fa-IR" sz="2000" b="1" dirty="0">
                <a:cs typeface="B Nazanin" panose="00000400000000000000" pitchFamily="2" charset="-78"/>
              </a:rPr>
              <a:t> در صورت در اختیار داشتن اطلاعات مورد نیاز، تفاوت قابل توجهی با مدل آموزش دیده بر آن داده ها ندارد.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به‌روز</a:t>
            </a:r>
            <a:r>
              <a:rPr lang="fa-IR" sz="2000" b="1" dirty="0">
                <a:cs typeface="B Nazanin" panose="00000400000000000000" pitchFamily="2" charset="-78"/>
              </a:rPr>
              <a:t> رسانی سریع منابع اطلاعات و دانش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</a:t>
            </a:r>
            <a:r>
              <a:rPr lang="fa-IR" sz="2000" b="1" dirty="0" err="1">
                <a:cs typeface="B Nazanin" panose="00000400000000000000" pitchFamily="2" charset="-78"/>
              </a:rPr>
              <a:t>توسعه‌دهنده</a:t>
            </a:r>
            <a:r>
              <a:rPr lang="fa-IR" sz="2000" b="1" dirty="0">
                <a:cs typeface="B Nazanin" panose="00000400000000000000" pitchFamily="2" charset="-78"/>
              </a:rPr>
              <a:t> و مدیر بر جریان اطلاعات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پایین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987</TotalTime>
  <Words>956</Words>
  <Application>Microsoft Office PowerPoint</Application>
  <PresentationFormat>Widescreen</PresentationFormat>
  <Paragraphs>122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PowerPoint Presentation</vt:lpstr>
      <vt:lpstr>مقایسه راهکارهای ایجاد دانش جدید در مدل‌های زبانی</vt:lpstr>
      <vt:lpstr>چرا RAG؟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206</cp:revision>
  <dcterms:created xsi:type="dcterms:W3CDTF">2024-02-19T06:46:45Z</dcterms:created>
  <dcterms:modified xsi:type="dcterms:W3CDTF">2024-02-21T07:11:58Z</dcterms:modified>
</cp:coreProperties>
</file>