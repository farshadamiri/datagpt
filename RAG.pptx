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66" r:id="rId3"/>
    <p:sldId id="258" r:id="rId4"/>
    <p:sldId id="260" r:id="rId5"/>
    <p:sldId id="271" r:id="rId6"/>
    <p:sldId id="269" r:id="rId7"/>
    <p:sldId id="272" r:id="rId8"/>
    <p:sldId id="261" r:id="rId9"/>
    <p:sldId id="270" r:id="rId10"/>
    <p:sldId id="263" r:id="rId11"/>
    <p:sldId id="264" r:id="rId12"/>
    <p:sldId id="265" r:id="rId13"/>
    <p:sldId id="259" r:id="rId14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2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F9E4"/>
    <a:srgbClr val="C2FADD"/>
    <a:srgbClr val="A6EEF0"/>
    <a:srgbClr val="A4D0E6"/>
    <a:srgbClr val="9CBDD4"/>
    <a:srgbClr val="B7D8A0"/>
    <a:srgbClr val="C9E2B8"/>
    <a:srgbClr val="A8D08C"/>
    <a:srgbClr val="9DB0DF"/>
    <a:srgbClr val="B3C0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1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3024F7-A729-4F93-B845-004F91386FBD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pPr rtl="1"/>
          <a:endParaRPr lang="fa-IR"/>
        </a:p>
      </dgm:t>
    </dgm:pt>
    <dgm:pt modelId="{A5010BC2-76BB-49B6-8597-C761ECAC1772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درک زبانی قوی</a:t>
          </a:r>
          <a:endParaRPr lang="fa-IR" sz="2000" dirty="0">
            <a:cs typeface="B Nazanin" panose="00000400000000000000" pitchFamily="2" charset="-78"/>
          </a:endParaRPr>
        </a:p>
      </dgm:t>
    </dgm:pt>
    <dgm:pt modelId="{37ABEE5F-A67C-47E0-8941-7E6F22037044}" type="par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0DE24500-9EED-4915-B752-26BB93CD87A8}" type="sib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FD7784B0-2A99-42F6-A10A-83EB0DC73BE5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 err="1">
              <a:cs typeface="B Nazanin" panose="00000400000000000000" pitchFamily="2" charset="-78"/>
            </a:rPr>
            <a:t>دانش‌های</a:t>
          </a:r>
          <a:r>
            <a:rPr lang="fa-IR" sz="2000" b="1" dirty="0">
              <a:cs typeface="B Nazanin" panose="00000400000000000000" pitchFamily="2" charset="-78"/>
            </a:rPr>
            <a:t> پایه</a:t>
          </a:r>
          <a:endParaRPr lang="fa-IR" sz="2000" dirty="0">
            <a:cs typeface="B Nazanin" panose="00000400000000000000" pitchFamily="2" charset="-78"/>
          </a:endParaRPr>
        </a:p>
      </dgm:t>
    </dgm:pt>
    <dgm:pt modelId="{7750B9D0-E9EB-4945-A5DD-38B6C271B362}" type="par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8FB5A77B-8F2F-410E-BCF3-6707659D0E62}" type="sib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F97E06E0-D2ED-46AC-B66F-A247C305E866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استدلال منطقی</a:t>
          </a:r>
          <a:endParaRPr lang="fa-IR" sz="2000" dirty="0">
            <a:cs typeface="B Nazanin" panose="00000400000000000000" pitchFamily="2" charset="-78"/>
          </a:endParaRPr>
        </a:p>
      </dgm:t>
    </dgm:pt>
    <dgm:pt modelId="{11013EF0-1DEB-416B-8CE8-9EC82E46518B}" type="par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C17DE5C5-8921-430D-9956-183998995338}" type="sib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B61DC9FB-7626-4D39-9363-433259384063}" type="pres">
      <dgm:prSet presAssocID="{6C3024F7-A729-4F93-B845-004F91386FBD}" presName="linear" presStyleCnt="0">
        <dgm:presLayoutVars>
          <dgm:animLvl val="lvl"/>
          <dgm:resizeHandles val="exact"/>
        </dgm:presLayoutVars>
      </dgm:prSet>
      <dgm:spPr/>
    </dgm:pt>
    <dgm:pt modelId="{4705860B-CF4C-4332-80F6-CB6B998C1578}" type="pres">
      <dgm:prSet presAssocID="{A5010BC2-76BB-49B6-8597-C761ECAC1772}" presName="parentText" presStyleLbl="node1" presStyleIdx="0" presStyleCnt="3" custLinFactNeighborY="0">
        <dgm:presLayoutVars>
          <dgm:chMax val="0"/>
          <dgm:bulletEnabled val="1"/>
        </dgm:presLayoutVars>
      </dgm:prSet>
      <dgm:spPr/>
    </dgm:pt>
    <dgm:pt modelId="{F609EB0D-73A0-4A16-A10A-0EAF13DAEA24}" type="pres">
      <dgm:prSet presAssocID="{0DE24500-9EED-4915-B752-26BB93CD87A8}" presName="spacer" presStyleCnt="0"/>
      <dgm:spPr/>
    </dgm:pt>
    <dgm:pt modelId="{C57268A3-E864-4C73-8DE7-94B3BCF7AFEA}" type="pres">
      <dgm:prSet presAssocID="{FD7784B0-2A99-42F6-A10A-83EB0DC73BE5}" presName="parentText" presStyleLbl="node1" presStyleIdx="1" presStyleCnt="3" custLinFactY="95846" custLinFactNeighborY="100000">
        <dgm:presLayoutVars>
          <dgm:chMax val="0"/>
          <dgm:bulletEnabled val="1"/>
        </dgm:presLayoutVars>
      </dgm:prSet>
      <dgm:spPr/>
    </dgm:pt>
    <dgm:pt modelId="{31A1DC5D-E581-45EC-9A62-2DB7A089B493}" type="pres">
      <dgm:prSet presAssocID="{8FB5A77B-8F2F-410E-BCF3-6707659D0E62}" presName="spacer" presStyleCnt="0"/>
      <dgm:spPr/>
    </dgm:pt>
    <dgm:pt modelId="{842763DB-A544-47BF-A6F6-9BAB67F6C350}" type="pres">
      <dgm:prSet presAssocID="{F97E06E0-D2ED-46AC-B66F-A247C305E866}" presName="parentText" presStyleLbl="node1" presStyleIdx="2" presStyleCnt="3" custLinFactY="-100000" custLinFactNeighborY="-115754">
        <dgm:presLayoutVars>
          <dgm:chMax val="0"/>
          <dgm:bulletEnabled val="1"/>
        </dgm:presLayoutVars>
      </dgm:prSet>
      <dgm:spPr/>
    </dgm:pt>
  </dgm:ptLst>
  <dgm:cxnLst>
    <dgm:cxn modelId="{28DAC406-83EA-4CDB-BEF1-141981261C2A}" srcId="{6C3024F7-A729-4F93-B845-004F91386FBD}" destId="{FD7784B0-2A99-42F6-A10A-83EB0DC73BE5}" srcOrd="1" destOrd="0" parTransId="{7750B9D0-E9EB-4945-A5DD-38B6C271B362}" sibTransId="{8FB5A77B-8F2F-410E-BCF3-6707659D0E62}"/>
    <dgm:cxn modelId="{59EAE66C-5A32-402A-843F-503A36D1B914}" type="presOf" srcId="{F97E06E0-D2ED-46AC-B66F-A247C305E866}" destId="{842763DB-A544-47BF-A6F6-9BAB67F6C350}" srcOrd="0" destOrd="0" presId="urn:microsoft.com/office/officeart/2005/8/layout/vList2"/>
    <dgm:cxn modelId="{54B3144F-E044-46DB-AE80-DA0C4B5AF6CD}" type="presOf" srcId="{A5010BC2-76BB-49B6-8597-C761ECAC1772}" destId="{4705860B-CF4C-4332-80F6-CB6B998C1578}" srcOrd="0" destOrd="0" presId="urn:microsoft.com/office/officeart/2005/8/layout/vList2"/>
    <dgm:cxn modelId="{60705B94-45EC-4D08-8E8A-3FC644CAD19B}" type="presOf" srcId="{FD7784B0-2A99-42F6-A10A-83EB0DC73BE5}" destId="{C57268A3-E864-4C73-8DE7-94B3BCF7AFEA}" srcOrd="0" destOrd="0" presId="urn:microsoft.com/office/officeart/2005/8/layout/vList2"/>
    <dgm:cxn modelId="{4E6E859C-FD5E-46D1-B0A8-DF8EB312FDA7}" type="presOf" srcId="{6C3024F7-A729-4F93-B845-004F91386FBD}" destId="{B61DC9FB-7626-4D39-9363-433259384063}" srcOrd="0" destOrd="0" presId="urn:microsoft.com/office/officeart/2005/8/layout/vList2"/>
    <dgm:cxn modelId="{FC4256CC-E590-41FD-B031-26CCB70FBBCE}" srcId="{6C3024F7-A729-4F93-B845-004F91386FBD}" destId="{A5010BC2-76BB-49B6-8597-C761ECAC1772}" srcOrd="0" destOrd="0" parTransId="{37ABEE5F-A67C-47E0-8941-7E6F22037044}" sibTransId="{0DE24500-9EED-4915-B752-26BB93CD87A8}"/>
    <dgm:cxn modelId="{4B7CE9F5-1584-4EFD-8B26-B8F860164884}" srcId="{6C3024F7-A729-4F93-B845-004F91386FBD}" destId="{F97E06E0-D2ED-46AC-B66F-A247C305E866}" srcOrd="2" destOrd="0" parTransId="{11013EF0-1DEB-416B-8CE8-9EC82E46518B}" sibTransId="{C17DE5C5-8921-430D-9956-183998995338}"/>
    <dgm:cxn modelId="{6C8479B2-FD04-438A-AD16-CAFC01A7069E}" type="presParOf" srcId="{B61DC9FB-7626-4D39-9363-433259384063}" destId="{4705860B-CF4C-4332-80F6-CB6B998C1578}" srcOrd="0" destOrd="0" presId="urn:microsoft.com/office/officeart/2005/8/layout/vList2"/>
    <dgm:cxn modelId="{40D356D4-6752-4DEF-B2F5-744711551A31}" type="presParOf" srcId="{B61DC9FB-7626-4D39-9363-433259384063}" destId="{F609EB0D-73A0-4A16-A10A-0EAF13DAEA24}" srcOrd="1" destOrd="0" presId="urn:microsoft.com/office/officeart/2005/8/layout/vList2"/>
    <dgm:cxn modelId="{3803C583-EAF7-456E-91F2-D9AD4CD8A157}" type="presParOf" srcId="{B61DC9FB-7626-4D39-9363-433259384063}" destId="{C57268A3-E864-4C73-8DE7-94B3BCF7AFEA}" srcOrd="2" destOrd="0" presId="urn:microsoft.com/office/officeart/2005/8/layout/vList2"/>
    <dgm:cxn modelId="{E12BBAF7-286C-48A5-B407-33DD8026DCFC}" type="presParOf" srcId="{B61DC9FB-7626-4D39-9363-433259384063}" destId="{31A1DC5D-E581-45EC-9A62-2DB7A089B493}" srcOrd="3" destOrd="0" presId="urn:microsoft.com/office/officeart/2005/8/layout/vList2"/>
    <dgm:cxn modelId="{0BCF3CA0-4B1C-4CEF-868E-C4696B55FC24}" type="presParOf" srcId="{B61DC9FB-7626-4D39-9363-433259384063}" destId="{842763DB-A544-47BF-A6F6-9BAB67F6C35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24D429-76D5-4657-8910-CB36DADD6EB9}" type="doc">
      <dgm:prSet loTypeId="urn:microsoft.com/office/officeart/2005/8/layout/vList2" loCatId="list" qsTypeId="urn:microsoft.com/office/officeart/2005/8/quickstyle/simple3" qsCatId="simple" csTypeId="urn:microsoft.com/office/officeart/2005/8/colors/colorful1" csCatId="colorful"/>
      <dgm:spPr/>
      <dgm:t>
        <a:bodyPr/>
        <a:lstStyle/>
        <a:p>
          <a:pPr rtl="1"/>
          <a:endParaRPr lang="fa-IR"/>
        </a:p>
      </dgm:t>
    </dgm:pt>
    <dgm:pt modelId="{4C3DB20C-00DC-4078-8BEC-22DC1430293C}">
      <dgm:prSet custT="1"/>
      <dgm:spPr/>
      <dgm:t>
        <a:bodyPr/>
        <a:lstStyle/>
        <a:p>
          <a:pPr algn="ctr" rtl="1"/>
          <a:r>
            <a:rPr lang="fa-IR" sz="2400" b="1" dirty="0">
              <a:cs typeface="B Nazanin" panose="00000400000000000000" pitchFamily="2" charset="-78"/>
            </a:rPr>
            <a:t>منابع دانش و اطلاعات دلخواه</a:t>
          </a:r>
          <a:endParaRPr lang="fa-IR" sz="2400" dirty="0">
            <a:cs typeface="B Nazanin" panose="00000400000000000000" pitchFamily="2" charset="-78"/>
          </a:endParaRPr>
        </a:p>
      </dgm:t>
    </dgm:pt>
    <dgm:pt modelId="{0876256F-FD7F-4A30-A3BF-AF5DE44AAFBF}" type="par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6A9A95F4-3A4B-478E-ACCE-E83B320D3B79}" type="sib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7D0CD919-E9B5-4E80-AEC9-298E51DF8380}" type="pres">
      <dgm:prSet presAssocID="{8524D429-76D5-4657-8910-CB36DADD6EB9}" presName="linear" presStyleCnt="0">
        <dgm:presLayoutVars>
          <dgm:animLvl val="lvl"/>
          <dgm:resizeHandles val="exact"/>
        </dgm:presLayoutVars>
      </dgm:prSet>
      <dgm:spPr/>
    </dgm:pt>
    <dgm:pt modelId="{1E414AF4-5DA0-4285-83B3-A4DF1F559D0E}" type="pres">
      <dgm:prSet presAssocID="{4C3DB20C-00DC-4078-8BEC-22DC1430293C}" presName="parentText" presStyleLbl="node1" presStyleIdx="0" presStyleCnt="1" custLinFactNeighborX="-13408" custLinFactNeighborY="-2794">
        <dgm:presLayoutVars>
          <dgm:chMax val="0"/>
          <dgm:bulletEnabled val="1"/>
        </dgm:presLayoutVars>
      </dgm:prSet>
      <dgm:spPr/>
    </dgm:pt>
  </dgm:ptLst>
  <dgm:cxnLst>
    <dgm:cxn modelId="{5B6CAF17-A827-4EA3-96BB-9D39890D92C8}" type="presOf" srcId="{4C3DB20C-00DC-4078-8BEC-22DC1430293C}" destId="{1E414AF4-5DA0-4285-83B3-A4DF1F559D0E}" srcOrd="0" destOrd="0" presId="urn:microsoft.com/office/officeart/2005/8/layout/vList2"/>
    <dgm:cxn modelId="{D84B1F27-3596-4759-9BD7-C19C3936F540}" type="presOf" srcId="{8524D429-76D5-4657-8910-CB36DADD6EB9}" destId="{7D0CD919-E9B5-4E80-AEC9-298E51DF8380}" srcOrd="0" destOrd="0" presId="urn:microsoft.com/office/officeart/2005/8/layout/vList2"/>
    <dgm:cxn modelId="{46F38E6A-7356-45AC-9661-E03A92BCB6A8}" srcId="{8524D429-76D5-4657-8910-CB36DADD6EB9}" destId="{4C3DB20C-00DC-4078-8BEC-22DC1430293C}" srcOrd="0" destOrd="0" parTransId="{0876256F-FD7F-4A30-A3BF-AF5DE44AAFBF}" sibTransId="{6A9A95F4-3A4B-478E-ACCE-E83B320D3B79}"/>
    <dgm:cxn modelId="{D98B1E6F-4F33-44C6-A011-55DCB95B4916}" type="presParOf" srcId="{7D0CD919-E9B5-4E80-AEC9-298E51DF8380}" destId="{1E414AF4-5DA0-4285-83B3-A4DF1F559D0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05860B-CF4C-4332-80F6-CB6B998C1578}">
      <dsp:nvSpPr>
        <dsp:cNvPr id="0" name=""/>
        <dsp:cNvSpPr/>
      </dsp:nvSpPr>
      <dsp:spPr>
        <a:xfrm>
          <a:off x="0" y="4871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درک زبانی قوی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33857"/>
        <a:ext cx="1741383" cy="535803"/>
      </dsp:txXfrm>
    </dsp:sp>
    <dsp:sp modelId="{C57268A3-E864-4C73-8DE7-94B3BCF7AFEA}">
      <dsp:nvSpPr>
        <dsp:cNvPr id="0" name=""/>
        <dsp:cNvSpPr/>
      </dsp:nvSpPr>
      <dsp:spPr>
        <a:xfrm>
          <a:off x="0" y="1334796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 err="1">
              <a:cs typeface="B Nazanin" panose="00000400000000000000" pitchFamily="2" charset="-78"/>
            </a:rPr>
            <a:t>دانش‌های</a:t>
          </a:r>
          <a:r>
            <a:rPr lang="fa-IR" sz="2000" b="1" kern="1200" dirty="0">
              <a:cs typeface="B Nazanin" panose="00000400000000000000" pitchFamily="2" charset="-78"/>
            </a:rPr>
            <a:t> پایه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1363782"/>
        <a:ext cx="1741383" cy="535803"/>
      </dsp:txXfrm>
    </dsp:sp>
    <dsp:sp modelId="{842763DB-A544-47BF-A6F6-9BAB67F6C350}">
      <dsp:nvSpPr>
        <dsp:cNvPr id="0" name=""/>
        <dsp:cNvSpPr/>
      </dsp:nvSpPr>
      <dsp:spPr>
        <a:xfrm>
          <a:off x="0" y="669008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استدلال منطقی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697994"/>
        <a:ext cx="1741383" cy="535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414AF4-5DA0-4285-83B3-A4DF1F559D0E}">
      <dsp:nvSpPr>
        <dsp:cNvPr id="0" name=""/>
        <dsp:cNvSpPr/>
      </dsp:nvSpPr>
      <dsp:spPr>
        <a:xfrm>
          <a:off x="0" y="0"/>
          <a:ext cx="3406487" cy="461373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400" b="1" kern="1200" dirty="0">
              <a:cs typeface="B Nazanin" panose="00000400000000000000" pitchFamily="2" charset="-78"/>
            </a:rPr>
            <a:t>منابع دانش و اطلاعات دلخواه</a:t>
          </a:r>
          <a:endParaRPr lang="fa-IR" sz="2400" kern="1200" dirty="0">
            <a:cs typeface="B Nazanin" panose="00000400000000000000" pitchFamily="2" charset="-78"/>
          </a:endParaRPr>
        </a:p>
      </dsp:txBody>
      <dsp:txXfrm>
        <a:off x="22522" y="22522"/>
        <a:ext cx="3361443" cy="416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3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5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33753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8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9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0198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19097"/>
            <a:ext cx="2998510" cy="628743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916" y="-206782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>
                <a:cs typeface="B Nazanin" panose="00000400000000000000" pitchFamily="2" charset="-78"/>
              </a:rPr>
              <a:t>Hallucination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4288537-A1B0-D053-A817-5EA8797368FE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9781310" y="3886852"/>
            <a:ext cx="748145" cy="12371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9E9A7102-1A0E-E3BD-3B2D-94280552065E}"/>
              </a:ext>
            </a:extLst>
          </p:cNvPr>
          <p:cNvCxnSpPr>
            <a:cxnSpLocks/>
          </p:cNvCxnSpPr>
          <p:nvPr/>
        </p:nvCxnSpPr>
        <p:spPr>
          <a:xfrm flipV="1">
            <a:off x="9781307" y="3617576"/>
            <a:ext cx="748148" cy="554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A0E16EF-6470-7552-B7FC-A5FF39DE62D2}"/>
              </a:ext>
            </a:extLst>
          </p:cNvPr>
          <p:cNvCxnSpPr>
            <a:cxnSpLocks/>
          </p:cNvCxnSpPr>
          <p:nvPr/>
        </p:nvCxnSpPr>
        <p:spPr>
          <a:xfrm>
            <a:off x="9772068" y="3210200"/>
            <a:ext cx="757387" cy="598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54C23380-6D00-480B-4D6F-BD70A4226D82}"/>
              </a:ext>
            </a:extLst>
          </p:cNvPr>
          <p:cNvCxnSpPr>
            <a:cxnSpLocks/>
          </p:cNvCxnSpPr>
          <p:nvPr/>
        </p:nvCxnSpPr>
        <p:spPr>
          <a:xfrm>
            <a:off x="9762836" y="2752515"/>
            <a:ext cx="766619" cy="218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B9A8838-1FB7-91A6-1575-61287B311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0484" y="251365"/>
            <a:ext cx="10515600" cy="879760"/>
          </a:xfrm>
        </p:spPr>
        <p:txBody>
          <a:bodyPr>
            <a:normAutofit/>
          </a:bodyPr>
          <a:lstStyle/>
          <a:p>
            <a:pPr algn="r"/>
            <a:r>
              <a:rPr lang="fa-IR" sz="32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نحوه افزوده شدن یک مدرک به پایگاه داده برداری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76D35FE-31C0-7F20-5FF2-9E6A72A51BFA}"/>
              </a:ext>
            </a:extLst>
          </p:cNvPr>
          <p:cNvGrpSpPr/>
          <p:nvPr/>
        </p:nvGrpSpPr>
        <p:grpSpPr>
          <a:xfrm>
            <a:off x="170282" y="2617640"/>
            <a:ext cx="4082436" cy="3370666"/>
            <a:chOff x="1099548" y="2263724"/>
            <a:chExt cx="4082436" cy="3370666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999C0B94-12D4-5693-E2EB-6ACC41AA56DA}"/>
                </a:ext>
              </a:extLst>
            </p:cNvPr>
            <p:cNvGrpSpPr/>
            <p:nvPr/>
          </p:nvGrpSpPr>
          <p:grpSpPr>
            <a:xfrm>
              <a:off x="1099548" y="2263724"/>
              <a:ext cx="3629469" cy="3370666"/>
              <a:chOff x="1275040" y="2263724"/>
              <a:chExt cx="3481309" cy="3370666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D8B0A84-65F9-4E3C-2541-24A1C1BF5F67}"/>
                  </a:ext>
                </a:extLst>
              </p:cNvPr>
              <p:cNvGrpSpPr/>
              <p:nvPr/>
            </p:nvGrpSpPr>
            <p:grpSpPr>
              <a:xfrm>
                <a:off x="1275040" y="2263724"/>
                <a:ext cx="3481309" cy="3370666"/>
                <a:chOff x="1819985" y="1755724"/>
                <a:chExt cx="3481309" cy="3370666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DF50FA88-43A9-B9D1-694A-0437344F58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041236"/>
                  <a:ext cx="1607131" cy="118601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5AE6DC54-F24D-BC66-5668-25725BD5F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408142"/>
                  <a:ext cx="1593692" cy="81910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Arrow Connector 29">
                  <a:extLst>
                    <a:ext uri="{FF2B5EF4-FFF2-40B4-BE49-F238E27FC236}">
                      <a16:creationId xmlns:a16="http://schemas.microsoft.com/office/drawing/2014/main" id="{46B88ACD-334E-F01D-D4C0-7413D5754B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9008" y="3290500"/>
                  <a:ext cx="1560952" cy="91204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1F07367B-B0EE-5466-27A9-3C44681A4F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755660"/>
                  <a:ext cx="1607131" cy="47158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DC25095D-FD1D-25BF-BE8F-ABCCDFBD0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566" y="3241263"/>
                  <a:ext cx="1707687" cy="268555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B237CBAB-C665-C702-3046-8975FCC1D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45122" y="3140364"/>
                  <a:ext cx="1607131" cy="100899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FBB08D44-9631-85E9-B3F7-6721842F79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5122" y="3255280"/>
                  <a:ext cx="1563460" cy="587047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0136540F-01CF-8287-502D-463495BDEF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19985" y="2801840"/>
                  <a:ext cx="819104" cy="819104"/>
                </a:xfrm>
                <a:prstGeom prst="rect">
                  <a:avLst/>
                </a:prstGeom>
              </p:spPr>
            </p:pic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0975F05-7064-D0D3-EE94-9559F1AF0FDC}"/>
                    </a:ext>
                  </a:extLst>
                </p:cNvPr>
                <p:cNvSpPr txBox="1"/>
                <p:nvPr/>
              </p:nvSpPr>
              <p:spPr>
                <a:xfrm>
                  <a:off x="4045149" y="1755724"/>
                  <a:ext cx="1256145" cy="3370666"/>
                </a:xfrm>
                <a:prstGeom prst="rect">
                  <a:avLst/>
                </a:prstGeom>
                <a:noFill/>
              </p:spPr>
              <p:txBody>
                <a:bodyPr wrap="square" rtlCol="1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1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2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3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N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endParaRPr lang="fa-IR" sz="1600" b="1" dirty="0"/>
                </a:p>
              </p:txBody>
            </p: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7CFBC88-EAA2-C3F4-17B1-0906DB0458C1}"/>
                  </a:ext>
                </a:extLst>
              </p:cNvPr>
              <p:cNvSpPr txBox="1"/>
              <p:nvPr/>
            </p:nvSpPr>
            <p:spPr>
              <a:xfrm>
                <a:off x="1303171" y="4174669"/>
                <a:ext cx="743102" cy="1123384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ctr" rtl="1"/>
                <a:r>
                  <a:rPr lang="fa-IR" sz="1900" b="1" dirty="0">
                    <a:solidFill>
                      <a:srgbClr val="0070C0"/>
                    </a:solidFill>
                    <a:cs typeface="B Nazanin" panose="00000400000000000000" pitchFamily="2" charset="-78"/>
                  </a:rPr>
                  <a:t>مدرک 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.pdf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.docx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.txt</a:t>
                </a:r>
                <a:endParaRPr lang="fa-IR" sz="1600" b="1" dirty="0">
                  <a:cs typeface="B Nazanin" panose="00000400000000000000" pitchFamily="2" charset="-78"/>
                </a:endParaRPr>
              </a:p>
            </p:txBody>
          </p:sp>
        </p:grp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D4B78F9-52B8-148E-91E3-04CB1D3D7B86}"/>
                </a:ext>
              </a:extLst>
            </p:cNvPr>
            <p:cNvCxnSpPr>
              <a:cxnSpLocks/>
            </p:cNvCxnSpPr>
            <p:nvPr/>
          </p:nvCxnSpPr>
          <p:spPr>
            <a:xfrm>
              <a:off x="4634223" y="2512291"/>
              <a:ext cx="54776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63BF45E-4692-E5E0-42E4-C5FF807D14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45648" y="2874756"/>
              <a:ext cx="536336" cy="906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D86EA161-2815-D3BA-ACCD-0E05F29C7D64}"/>
                </a:ext>
              </a:extLst>
            </p:cNvPr>
            <p:cNvCxnSpPr>
              <a:cxnSpLocks/>
            </p:cNvCxnSpPr>
            <p:nvPr/>
          </p:nvCxnSpPr>
          <p:spPr>
            <a:xfrm>
              <a:off x="4636412" y="3263660"/>
              <a:ext cx="5455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4138572-937B-FC66-9AA2-4850E303B4C6}"/>
                </a:ext>
              </a:extLst>
            </p:cNvPr>
            <p:cNvCxnSpPr>
              <a:cxnSpLocks/>
            </p:cNvCxnSpPr>
            <p:nvPr/>
          </p:nvCxnSpPr>
          <p:spPr>
            <a:xfrm>
              <a:off x="4687212" y="4710545"/>
              <a:ext cx="4947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31210E5-00B8-B0E2-7F8F-2D414B7FB8D9}"/>
              </a:ext>
            </a:extLst>
          </p:cNvPr>
          <p:cNvGrpSpPr/>
          <p:nvPr/>
        </p:nvGrpSpPr>
        <p:grpSpPr>
          <a:xfrm>
            <a:off x="4330626" y="1690508"/>
            <a:ext cx="5450684" cy="3978204"/>
            <a:chOff x="5106480" y="1210272"/>
            <a:chExt cx="5450684" cy="3978204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B27AFBA-7D5A-EEB7-9AE7-7866C577AFAE}"/>
                </a:ext>
              </a:extLst>
            </p:cNvPr>
            <p:cNvSpPr/>
            <p:nvPr/>
          </p:nvSpPr>
          <p:spPr>
            <a:xfrm>
              <a:off x="5106480" y="1974702"/>
              <a:ext cx="2256103" cy="3213774"/>
            </a:xfrm>
            <a:prstGeom prst="roundRect">
              <a:avLst/>
            </a:prstGeom>
            <a:solidFill>
              <a:srgbClr val="CBF9E4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مدل مبدل متن به</a:t>
              </a:r>
            </a:p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 بردار معنایی</a:t>
              </a:r>
              <a:endParaRPr lang="en-US" b="1" dirty="0">
                <a:cs typeface="B Nazanin" panose="00000400000000000000" pitchFamily="2" charset="-78"/>
              </a:endParaRPr>
            </a:p>
            <a:p>
              <a:pPr algn="ctr"/>
              <a:endParaRPr lang="en-US" dirty="0"/>
            </a:p>
            <a:p>
              <a:pPr algn="ctr"/>
              <a:r>
                <a:rPr lang="en-US" b="1" dirty="0"/>
                <a:t>Embedding model</a:t>
              </a:r>
              <a:endParaRPr lang="fa-IR" b="1" dirty="0"/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447E53A9-02EA-4EA3-8DDF-0D1C07F6E4AA}"/>
                </a:ext>
              </a:extLst>
            </p:cNvPr>
            <p:cNvSpPr/>
            <p:nvPr/>
          </p:nvSpPr>
          <p:spPr>
            <a:xfrm>
              <a:off x="7629235" y="213328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[ 0.16   0.53   0.31   0.09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75F09960-2F6E-A11E-5F9B-15C891D071BD}"/>
                </a:ext>
              </a:extLst>
            </p:cNvPr>
            <p:cNvSpPr/>
            <p:nvPr/>
          </p:nvSpPr>
          <p:spPr>
            <a:xfrm>
              <a:off x="7629236" y="1210272"/>
              <a:ext cx="2927926" cy="687953"/>
            </a:xfrm>
            <a:prstGeom prst="roundRect">
              <a:avLst/>
            </a:prstGeom>
            <a:gradFill>
              <a:gsLst>
                <a:gs pos="0">
                  <a:srgbClr val="D4E8C6"/>
                </a:gs>
                <a:gs pos="100000">
                  <a:srgbClr val="B7D8A0"/>
                </a:gs>
                <a:gs pos="53000">
                  <a:srgbClr val="C9E2B8"/>
                </a:gs>
              </a:gsLst>
              <a:lin ang="5400000" scaled="0"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 err="1">
                  <a:solidFill>
                    <a:schemeClr val="tx1"/>
                  </a:solidFill>
                  <a:cs typeface="B Nazanin" panose="00000400000000000000" pitchFamily="2" charset="-78"/>
                </a:rPr>
                <a:t>بردارهای</a:t>
              </a:r>
              <a:r>
                <a:rPr lang="fa-IR" b="1" dirty="0">
                  <a:solidFill>
                    <a:schemeClr val="tx1"/>
                  </a:solidFill>
                  <a:cs typeface="B Nazanin" panose="00000400000000000000" pitchFamily="2" charset="-78"/>
                </a:rPr>
                <a:t> معنایی</a:t>
              </a:r>
              <a:endParaRPr lang="en-US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  <a:p>
              <a:pPr algn="ctr">
                <a:spcBef>
                  <a:spcPts val="600"/>
                </a:spcBef>
              </a:pPr>
              <a:r>
                <a:rPr lang="en-US" b="1" dirty="0" err="1">
                  <a:solidFill>
                    <a:schemeClr val="tx1"/>
                  </a:solidFill>
                  <a:cs typeface="B Nazanin" panose="00000400000000000000" pitchFamily="2" charset="-78"/>
                </a:rPr>
                <a:t>Semanic</a:t>
              </a:r>
              <a:r>
                <a:rPr lang="en-US" b="1" dirty="0">
                  <a:solidFill>
                    <a:schemeClr val="tx1"/>
                  </a:solidFill>
                  <a:cs typeface="B Nazanin" panose="00000400000000000000" pitchFamily="2" charset="-78"/>
                </a:rPr>
                <a:t> vectors</a:t>
              </a:r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EF4B7B96-FB7B-99EE-85D8-04E6E701AEF3}"/>
                </a:ext>
              </a:extLst>
            </p:cNvPr>
            <p:cNvSpPr/>
            <p:nvPr/>
          </p:nvSpPr>
          <p:spPr>
            <a:xfrm>
              <a:off x="7629233" y="2581738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[ 0.71   0.42   0.25   0.23 …  0.79]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5330C6A4-02B5-B8BC-9D7B-B8EABA2CB8AD}"/>
                </a:ext>
              </a:extLst>
            </p:cNvPr>
            <p:cNvSpPr/>
            <p:nvPr/>
          </p:nvSpPr>
          <p:spPr>
            <a:xfrm>
              <a:off x="7629234" y="304865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[ 0.21   0.68   0.26   0.09 …  0.65]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2C9F8B45-FC8F-96A9-C8B4-3EA7CCD71651}"/>
                </a:ext>
              </a:extLst>
            </p:cNvPr>
            <p:cNvSpPr/>
            <p:nvPr/>
          </p:nvSpPr>
          <p:spPr>
            <a:xfrm>
              <a:off x="7629235" y="4495544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[ 0.39   0.13   0.48   0.77 …  0.37]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583DA30-D8C9-31CB-9F64-38A514A9334F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4643770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0E4B0A73-9908-5D28-8EC3-6EE22290BD33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299987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86D93FE1-EEC4-F8AA-1D86-0E37053A8040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748436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FC785F07-4337-5555-1CAB-3C1319BC2567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3217855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98" name="Picture 97">
            <a:extLst>
              <a:ext uri="{FF2B5EF4-FFF2-40B4-BE49-F238E27FC236}">
                <a16:creationId xmlns:a16="http://schemas.microsoft.com/office/drawing/2014/main" id="{B71544E2-6F04-B2C8-0865-FB8C0A36EF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042" y="2673931"/>
            <a:ext cx="1629042" cy="1629042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AE43193-D860-EB50-5C75-7B4458DB5A5C}"/>
              </a:ext>
            </a:extLst>
          </p:cNvPr>
          <p:cNvSpPr txBox="1"/>
          <p:nvPr/>
        </p:nvSpPr>
        <p:spPr>
          <a:xfrm>
            <a:off x="10244907" y="4246800"/>
            <a:ext cx="1776811" cy="7232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>
              <a:spcBef>
                <a:spcPts val="600"/>
              </a:spcBef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7C6082F-7D99-AB2F-F417-63931E4EDCD4}"/>
              </a:ext>
            </a:extLst>
          </p:cNvPr>
          <p:cNvSpPr txBox="1"/>
          <p:nvPr/>
        </p:nvSpPr>
        <p:spPr>
          <a:xfrm>
            <a:off x="8432813" y="5668712"/>
            <a:ext cx="3513271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ذخیره سازی متن به همراه بردار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معنایی‌اش</a:t>
            </a:r>
            <a:endParaRPr lang="fa-IR" b="1" dirty="0">
              <a:solidFill>
                <a:schemeClr val="accent6">
                  <a:lumMod val="50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در پایگاه داده برداری </a:t>
            </a:r>
          </a:p>
        </p:txBody>
      </p:sp>
      <p:cxnSp>
        <p:nvCxnSpPr>
          <p:cNvPr id="116" name="Connector: Curved 115">
            <a:extLst>
              <a:ext uri="{FF2B5EF4-FFF2-40B4-BE49-F238E27FC236}">
                <a16:creationId xmlns:a16="http://schemas.microsoft.com/office/drawing/2014/main" id="{1773F58E-B6AE-5894-0053-96507427CC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911366" y="4836049"/>
            <a:ext cx="1004066" cy="73087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2217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101143" y="5012248"/>
            <a:ext cx="1920944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556980" y="2087662"/>
            <a:ext cx="721650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015240" y="1547323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4243803">
            <a:off x="837567" y="3675643"/>
            <a:ext cx="1580167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fa-IR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479931" y="4596689"/>
            <a:ext cx="2713574" cy="1180831"/>
          </a:xfrm>
          <a:prstGeom prst="roundRect">
            <a:avLst/>
          </a:prstGeom>
          <a:gradFill>
            <a:gsLst>
              <a:gs pos="0">
                <a:schemeClr val="accent1">
                  <a:lumMod val="110000"/>
                  <a:satMod val="105000"/>
                  <a:tint val="67000"/>
                </a:schemeClr>
              </a:gs>
              <a:gs pos="50000">
                <a:srgbClr val="B3C0E3"/>
              </a:gs>
              <a:gs pos="100000">
                <a:srgbClr val="9DB0DF"/>
              </a:gs>
            </a:gsLst>
          </a:gra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cs typeface="B Nazanin" panose="00000400000000000000" pitchFamily="2" charset="-78"/>
              </a:rPr>
              <a:t>مدل مبدل متن به بردار معنایی</a:t>
            </a:r>
            <a:endParaRPr lang="en-US" b="1" dirty="0">
              <a:cs typeface="B Nazanin" panose="00000400000000000000" pitchFamily="2" charset="-78"/>
            </a:endParaRPr>
          </a:p>
          <a:p>
            <a:pPr algn="ctr"/>
            <a:endParaRPr lang="en-US" dirty="0"/>
          </a:p>
          <a:p>
            <a:pPr algn="ctr"/>
            <a:r>
              <a:rPr lang="en-US" b="1" dirty="0"/>
              <a:t>Embedding model</a:t>
            </a:r>
            <a:endParaRPr lang="fa-IR" b="1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1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1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b="1" dirty="0"/>
                <a:t>Retrieved contexts</a:t>
              </a:r>
              <a:endParaRPr lang="fa-IR" b="1" dirty="0"/>
            </a:p>
          </p:txBody>
        </p:sp>
      </p:grp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11502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chemeClr val="tx1"/>
                </a:solidFill>
                <a:cs typeface="B Nazanin" panose="00000400000000000000" pitchFamily="2" charset="-78"/>
              </a:rPr>
              <a:t>سوال کاربر</a:t>
            </a:r>
          </a:p>
          <a:p>
            <a:pPr algn="ctr"/>
            <a:endParaRPr lang="fa-IR" dirty="0">
              <a:solidFill>
                <a:schemeClr val="tx1"/>
              </a:solidFill>
              <a:cs typeface="B Nazanin" panose="00000400000000000000" pitchFamily="2" charset="-78"/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User query</a:t>
            </a:r>
            <a:endParaRPr lang="fa-IR" b="1" dirty="0">
              <a:solidFill>
                <a:schemeClr val="tx1"/>
              </a:solidFill>
            </a:endParaRP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13222" y="3671856"/>
            <a:ext cx="1238619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8882941" y="2087743"/>
            <a:ext cx="1067717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7948541" y="333281"/>
            <a:ext cx="3851565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 err="1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RAG</a:t>
            </a:r>
            <a:endParaRPr lang="fa-IR" sz="2800" b="1" dirty="0">
              <a:solidFill>
                <a:schemeClr val="accent5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331036" y="4175948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331036" y="3646771"/>
            <a:ext cx="159139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cs typeface="B Nazanin" panose="00000400000000000000" pitchFamily="2" charset="-78"/>
              </a:rPr>
              <a:t>جستجوی شباهت</a:t>
            </a:r>
          </a:p>
          <a:p>
            <a:pPr algn="ctr"/>
            <a:r>
              <a:rPr lang="en-US" sz="1600" b="1" dirty="0">
                <a:cs typeface="B Nazanin" panose="00000400000000000000" pitchFamily="2" charset="-78"/>
              </a:rPr>
              <a:t>Similarity search</a:t>
            </a:r>
            <a:endParaRPr lang="fa-IR" sz="1600" b="1" dirty="0"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749747" y="5845997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cs typeface="B Nazanin" panose="00000400000000000000" pitchFamily="2" charset="-78"/>
              </a:rPr>
              <a:t>[0.71  0.23  …  0.06  0.94]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1D0E8F-DE88-5521-CA7F-F1275D7487DF}"/>
              </a:ext>
            </a:extLst>
          </p:cNvPr>
          <p:cNvGrpSpPr/>
          <p:nvPr/>
        </p:nvGrpSpPr>
        <p:grpSpPr>
          <a:xfrm>
            <a:off x="7308764" y="1351365"/>
            <a:ext cx="2106598" cy="1913593"/>
            <a:chOff x="7308764" y="1351365"/>
            <a:chExt cx="2106598" cy="1913593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E9705E75-6B1D-8AD9-14D9-757D6948F738}"/>
                </a:ext>
              </a:extLst>
            </p:cNvPr>
            <p:cNvSpPr/>
            <p:nvPr/>
          </p:nvSpPr>
          <p:spPr>
            <a:xfrm>
              <a:off x="7308764" y="1351365"/>
              <a:ext cx="2106598" cy="1913593"/>
            </a:xfrm>
            <a:prstGeom prst="diamond">
              <a:avLst/>
            </a:prstGeom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oolSlant"/>
            </a:sp3d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0CE78CC-DA96-F4F1-1B7D-8BB9369183D2}"/>
                </a:ext>
              </a:extLst>
            </p:cNvPr>
            <p:cNvSpPr txBox="1"/>
            <p:nvPr/>
          </p:nvSpPr>
          <p:spPr>
            <a:xfrm>
              <a:off x="7592468" y="2026004"/>
              <a:ext cx="1539190" cy="646331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fa-IR" b="1" dirty="0">
                  <a:solidFill>
                    <a:schemeClr val="tx1"/>
                  </a:solidFill>
                  <a:cs typeface="B Nazanin" panose="00000400000000000000" pitchFamily="2" charset="-78"/>
                </a:rPr>
                <a:t>مدل زبانی بزرگ</a:t>
              </a:r>
            </a:p>
            <a:p>
              <a:pPr algn="ctr"/>
              <a:r>
                <a:rPr lang="en-US" b="1" dirty="0">
                  <a:solidFill>
                    <a:schemeClr val="tx1"/>
                  </a:solidFill>
                  <a:cs typeface="+mj-cs"/>
                </a:rPr>
                <a:t>(LLM)</a:t>
              </a:r>
              <a:endParaRPr lang="fa-IR" b="1" dirty="0">
                <a:solidFill>
                  <a:schemeClr val="tx1"/>
                </a:solidFill>
                <a:cs typeface="+mj-cs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1AC17729-C00B-69F4-0A02-2227AEE13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210" y="4432709"/>
            <a:ext cx="1629042" cy="1629042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FDD27A9-B517-22E9-70D7-969CCC686F6F}"/>
              </a:ext>
            </a:extLst>
          </p:cNvPr>
          <p:cNvSpPr txBox="1"/>
          <p:nvPr/>
        </p:nvSpPr>
        <p:spPr>
          <a:xfrm>
            <a:off x="4759352" y="6016740"/>
            <a:ext cx="1742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24BA2-EFED-7EF0-FD56-1DDC45D4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sz="4400" b="1" dirty="0" err="1">
                <a:cs typeface="B Nazanin" panose="00000400000000000000" pitchFamily="2" charset="-78"/>
              </a:rPr>
              <a:t>شِمای</a:t>
            </a:r>
            <a:r>
              <a:rPr lang="fa-IR" sz="4400" b="1" dirty="0">
                <a:cs typeface="B Nazanin" panose="00000400000000000000" pitchFamily="2" charset="-78"/>
              </a:rPr>
              <a:t> کلی فرآیند </a:t>
            </a:r>
            <a:r>
              <a:rPr lang="en-US" sz="4400" b="1" dirty="0">
                <a:cs typeface="B Nazanin" panose="00000400000000000000" pitchFamily="2" charset="-78"/>
              </a:rPr>
              <a:t>Fine-tuning</a:t>
            </a:r>
            <a:br>
              <a:rPr lang="fa-IR" sz="4400" b="1" dirty="0">
                <a:cs typeface="B Nazanin" panose="00000400000000000000" pitchFamily="2" charset="-78"/>
              </a:rPr>
            </a:b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6C3D-0A3A-5130-3BAE-C3F6242B4F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8961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538" y="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8487191"/>
              </p:ext>
            </p:extLst>
          </p:nvPr>
        </p:nvGraphicFramePr>
        <p:xfrm>
          <a:off x="73890" y="661983"/>
          <a:ext cx="12044214" cy="6060280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471046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732787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273083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567298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499252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8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51529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6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38212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1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دانشی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277498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افزودن سریع و آسان منابع علمی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2313145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شعرسرایی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برنامه‌نویسی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گزارش تحلیلی بر پایه اطلاعات از منابع مختلف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435932" y="1970557"/>
            <a:ext cx="1671783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5070771" y="2030667"/>
            <a:ext cx="267855" cy="6924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B6C1-B27D-8A14-DA33-11A17B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92D2-C91B-9937-1162-C9FA09274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104" y="389602"/>
            <a:ext cx="10515600" cy="1325563"/>
          </a:xfrm>
        </p:spPr>
        <p:txBody>
          <a:bodyPr/>
          <a:lstStyle/>
          <a:p>
            <a:pPr algn="r" rtl="1"/>
            <a:r>
              <a:rPr lang="fa-IR" b="1" dirty="0">
                <a:cs typeface="B Nazanin" panose="00000400000000000000" pitchFamily="2" charset="-78"/>
              </a:rPr>
              <a:t>چرا </a:t>
            </a:r>
            <a:r>
              <a:rPr lang="en-US" sz="3600" b="1" dirty="0">
                <a:latin typeface="Arial Black" panose="020B0A04020102020204" pitchFamily="34" charset="0"/>
              </a:rPr>
              <a:t>RAG</a:t>
            </a:r>
            <a:r>
              <a:rPr lang="fa-IR" sz="3600" b="1" dirty="0">
                <a:latin typeface="Arial Black" panose="020B0A04020102020204" pitchFamily="34" charset="0"/>
              </a:rPr>
              <a:t> </a:t>
            </a:r>
            <a:r>
              <a:rPr lang="fa-IR" b="1" dirty="0">
                <a:latin typeface="Arial Black" panose="020B0A04020102020204" pitchFamily="34" charset="0"/>
                <a:cs typeface="B Roya" panose="00000400000000000000" pitchFamily="2" charset="-78"/>
              </a:rPr>
              <a:t>؟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05F06-E5C9-19CF-09EF-31F4B01C6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66548578"/>
              </p:ext>
            </p:extLst>
          </p:nvPr>
        </p:nvGraphicFramePr>
        <p:xfrm>
          <a:off x="5445417" y="1598324"/>
          <a:ext cx="1799355" cy="19581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F48053-AED1-D9DB-FA80-0FB8CA66158E}"/>
              </a:ext>
            </a:extLst>
          </p:cNvPr>
          <p:cNvSpPr txBox="1">
            <a:spLocks/>
          </p:cNvSpPr>
          <p:nvPr/>
        </p:nvSpPr>
        <p:spPr>
          <a:xfrm>
            <a:off x="1231900" y="1690688"/>
            <a:ext cx="10515600" cy="460813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cs typeface="B Nazanin" panose="00000400000000000000" pitchFamily="2" charset="-78"/>
              </a:rPr>
              <a:t> از قابلیت ‌های یک مدل زبانی پیشرفته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سرعت بالا در افزودن مدارک و منابع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کیفیت پاسخ بالا</a:t>
            </a: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دسترسی کاربران توسط مدیر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(و اقتصادی) پایین</a:t>
            </a:r>
          </a:p>
          <a:p>
            <a:pPr algn="r" rtl="1"/>
            <a:endParaRPr lang="fa-IR" sz="1400" dirty="0"/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  <p:sp>
        <p:nvSpPr>
          <p:cNvPr id="10" name="Cross 9">
            <a:extLst>
              <a:ext uri="{FF2B5EF4-FFF2-40B4-BE49-F238E27FC236}">
                <a16:creationId xmlns:a16="http://schemas.microsoft.com/office/drawing/2014/main" id="{30213B54-C08B-4026-F33C-AF8DD197F837}"/>
              </a:ext>
            </a:extLst>
          </p:cNvPr>
          <p:cNvSpPr/>
          <p:nvPr/>
        </p:nvSpPr>
        <p:spPr>
          <a:xfrm>
            <a:off x="4104122" y="2143611"/>
            <a:ext cx="1088160" cy="1083762"/>
          </a:xfrm>
          <a:prstGeom prst="plus">
            <a:avLst>
              <a:gd name="adj" fmla="val 42774"/>
            </a:avLst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86ADEB2C-C55B-CFE0-2879-37C99269FD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4846956"/>
              </p:ext>
            </p:extLst>
          </p:nvPr>
        </p:nvGraphicFramePr>
        <p:xfrm>
          <a:off x="444500" y="2454660"/>
          <a:ext cx="3406487" cy="461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93327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2620-32EF-ED06-86F4-F45D4D2D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9014-3E9C-3A54-C1CE-4FC924A4F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6294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99FBF-A5B5-58B6-5DBF-49008626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63A0-3C26-B4A0-17C9-9E6666A0B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44957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1191</TotalTime>
  <Words>992</Words>
  <Application>Microsoft Office PowerPoint</Application>
  <PresentationFormat>Widescreen</PresentationFormat>
  <Paragraphs>160</Paragraphs>
  <Slides>13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نحوه افزوده شدن یک مدرک به پایگاه داده برداری</vt:lpstr>
      <vt:lpstr>PowerPoint Presentation</vt:lpstr>
      <vt:lpstr>شِمای کلی فرآیند Fine-tuning </vt:lpstr>
      <vt:lpstr>مقایسه راهکارهای ایجاد دانش جدید در مدل‌های زبانی</vt:lpstr>
      <vt:lpstr>چرا RAG ؟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294</cp:revision>
  <dcterms:created xsi:type="dcterms:W3CDTF">2024-02-19T06:46:45Z</dcterms:created>
  <dcterms:modified xsi:type="dcterms:W3CDTF">2024-02-21T10:35:46Z</dcterms:modified>
</cp:coreProperties>
</file>