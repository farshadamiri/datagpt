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7" r:id="rId2"/>
    <p:sldId id="266" r:id="rId3"/>
    <p:sldId id="258" r:id="rId4"/>
    <p:sldId id="260" r:id="rId5"/>
    <p:sldId id="271" r:id="rId6"/>
    <p:sldId id="269" r:id="rId7"/>
    <p:sldId id="272" r:id="rId8"/>
    <p:sldId id="261" r:id="rId9"/>
    <p:sldId id="270" r:id="rId10"/>
    <p:sldId id="263" r:id="rId11"/>
    <p:sldId id="264" r:id="rId12"/>
    <p:sldId id="265" r:id="rId13"/>
    <p:sldId id="259" r:id="rId14"/>
  </p:sldIdLst>
  <p:sldSz cx="12192000" cy="6858000"/>
  <p:notesSz cx="6858000" cy="9144000"/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arshad Amiri" initials="FA" lastIdx="2" clrIdx="0">
    <p:extLst>
      <p:ext uri="{19B8F6BF-5375-455C-9EA6-DF929625EA0E}">
        <p15:presenceInfo xmlns:p15="http://schemas.microsoft.com/office/powerpoint/2012/main" userId="eb0f5e6ffa9f274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0730"/>
    <a:srgbClr val="2A2A2A"/>
    <a:srgbClr val="2C451B"/>
    <a:srgbClr val="2E471D"/>
    <a:srgbClr val="567FCA"/>
    <a:srgbClr val="CBF9E4"/>
    <a:srgbClr val="C2FADD"/>
    <a:srgbClr val="A6EEF0"/>
    <a:srgbClr val="A4D0E6"/>
    <a:srgbClr val="9CBD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54" autoAdjust="0"/>
  </p:normalViewPr>
  <p:slideViewPr>
    <p:cSldViewPr snapToGrid="0">
      <p:cViewPr varScale="1">
        <p:scale>
          <a:sx n="104" d="100"/>
          <a:sy n="104" d="100"/>
        </p:scale>
        <p:origin x="83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C3024F7-A729-4F93-B845-004F91386FBD}" type="doc">
      <dgm:prSet loTypeId="urn:microsoft.com/office/officeart/2005/8/layout/vList2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pPr rtl="1"/>
          <a:endParaRPr lang="fa-IR"/>
        </a:p>
      </dgm:t>
    </dgm:pt>
    <dgm:pt modelId="{A5010BC2-76BB-49B6-8597-C761ECAC1772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درک زبانی قوی</a:t>
          </a:r>
          <a:endParaRPr lang="fa-IR" sz="2000" dirty="0">
            <a:cs typeface="B Nazanin" panose="00000400000000000000" pitchFamily="2" charset="-78"/>
          </a:endParaRPr>
        </a:p>
      </dgm:t>
    </dgm:pt>
    <dgm:pt modelId="{37ABEE5F-A67C-47E0-8941-7E6F22037044}" type="par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0DE24500-9EED-4915-B752-26BB93CD87A8}" type="sibTrans" cxnId="{FC4256CC-E590-41FD-B031-26CCB70FBBCE}">
      <dgm:prSet/>
      <dgm:spPr/>
      <dgm:t>
        <a:bodyPr/>
        <a:lstStyle/>
        <a:p>
          <a:pPr rtl="1"/>
          <a:endParaRPr lang="fa-IR"/>
        </a:p>
      </dgm:t>
    </dgm:pt>
    <dgm:pt modelId="{FD7784B0-2A99-42F6-A10A-83EB0DC73BE5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 err="1">
              <a:cs typeface="B Nazanin" panose="00000400000000000000" pitchFamily="2" charset="-78"/>
            </a:rPr>
            <a:t>دانش‌های</a:t>
          </a:r>
          <a:r>
            <a:rPr lang="fa-IR" sz="2000" b="1" dirty="0">
              <a:cs typeface="B Nazanin" panose="00000400000000000000" pitchFamily="2" charset="-78"/>
            </a:rPr>
            <a:t> پایه</a:t>
          </a:r>
          <a:endParaRPr lang="fa-IR" sz="2000" dirty="0">
            <a:cs typeface="B Nazanin" panose="00000400000000000000" pitchFamily="2" charset="-78"/>
          </a:endParaRPr>
        </a:p>
      </dgm:t>
    </dgm:pt>
    <dgm:pt modelId="{7750B9D0-E9EB-4945-A5DD-38B6C271B362}" type="par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8FB5A77B-8F2F-410E-BCF3-6707659D0E62}" type="sibTrans" cxnId="{28DAC406-83EA-4CDB-BEF1-141981261C2A}">
      <dgm:prSet/>
      <dgm:spPr/>
      <dgm:t>
        <a:bodyPr/>
        <a:lstStyle/>
        <a:p>
          <a:pPr rtl="1"/>
          <a:endParaRPr lang="fa-IR"/>
        </a:p>
      </dgm:t>
    </dgm:pt>
    <dgm:pt modelId="{F97E06E0-D2ED-46AC-B66F-A247C305E866}">
      <dgm:prSet custT="1"/>
      <dgm:spPr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</dgm:spPr>
      <dgm:t>
        <a:bodyPr/>
        <a:lstStyle/>
        <a:p>
          <a:pPr algn="ctr" rtl="1"/>
          <a:r>
            <a:rPr lang="fa-IR" sz="2000" b="1" dirty="0">
              <a:cs typeface="B Nazanin" panose="00000400000000000000" pitchFamily="2" charset="-78"/>
            </a:rPr>
            <a:t>استدلال منطقی</a:t>
          </a:r>
          <a:endParaRPr lang="fa-IR" sz="2000" dirty="0">
            <a:cs typeface="B Nazanin" panose="00000400000000000000" pitchFamily="2" charset="-78"/>
          </a:endParaRPr>
        </a:p>
      </dgm:t>
    </dgm:pt>
    <dgm:pt modelId="{11013EF0-1DEB-416B-8CE8-9EC82E46518B}" type="par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C17DE5C5-8921-430D-9956-183998995338}" type="sibTrans" cxnId="{4B7CE9F5-1584-4EFD-8B26-B8F860164884}">
      <dgm:prSet/>
      <dgm:spPr/>
      <dgm:t>
        <a:bodyPr/>
        <a:lstStyle/>
        <a:p>
          <a:pPr rtl="1"/>
          <a:endParaRPr lang="fa-IR"/>
        </a:p>
      </dgm:t>
    </dgm:pt>
    <dgm:pt modelId="{B61DC9FB-7626-4D39-9363-433259384063}" type="pres">
      <dgm:prSet presAssocID="{6C3024F7-A729-4F93-B845-004F91386FBD}" presName="linear" presStyleCnt="0">
        <dgm:presLayoutVars>
          <dgm:animLvl val="lvl"/>
          <dgm:resizeHandles val="exact"/>
        </dgm:presLayoutVars>
      </dgm:prSet>
      <dgm:spPr/>
    </dgm:pt>
    <dgm:pt modelId="{4705860B-CF4C-4332-80F6-CB6B998C1578}" type="pres">
      <dgm:prSet presAssocID="{A5010BC2-76BB-49B6-8597-C761ECAC1772}" presName="parentText" presStyleLbl="node1" presStyleIdx="0" presStyleCnt="3" custLinFactNeighborY="0">
        <dgm:presLayoutVars>
          <dgm:chMax val="0"/>
          <dgm:bulletEnabled val="1"/>
        </dgm:presLayoutVars>
      </dgm:prSet>
      <dgm:spPr/>
    </dgm:pt>
    <dgm:pt modelId="{F609EB0D-73A0-4A16-A10A-0EAF13DAEA24}" type="pres">
      <dgm:prSet presAssocID="{0DE24500-9EED-4915-B752-26BB93CD87A8}" presName="spacer" presStyleCnt="0"/>
      <dgm:spPr/>
    </dgm:pt>
    <dgm:pt modelId="{C57268A3-E864-4C73-8DE7-94B3BCF7AFEA}" type="pres">
      <dgm:prSet presAssocID="{FD7784B0-2A99-42F6-A10A-83EB0DC73BE5}" presName="parentText" presStyleLbl="node1" presStyleIdx="1" presStyleCnt="3" custLinFactY="95846" custLinFactNeighborY="100000">
        <dgm:presLayoutVars>
          <dgm:chMax val="0"/>
          <dgm:bulletEnabled val="1"/>
        </dgm:presLayoutVars>
      </dgm:prSet>
      <dgm:spPr/>
    </dgm:pt>
    <dgm:pt modelId="{31A1DC5D-E581-45EC-9A62-2DB7A089B493}" type="pres">
      <dgm:prSet presAssocID="{8FB5A77B-8F2F-410E-BCF3-6707659D0E62}" presName="spacer" presStyleCnt="0"/>
      <dgm:spPr/>
    </dgm:pt>
    <dgm:pt modelId="{842763DB-A544-47BF-A6F6-9BAB67F6C350}" type="pres">
      <dgm:prSet presAssocID="{F97E06E0-D2ED-46AC-B66F-A247C305E866}" presName="parentText" presStyleLbl="node1" presStyleIdx="2" presStyleCnt="3" custLinFactY="-100000" custLinFactNeighborY="-115754">
        <dgm:presLayoutVars>
          <dgm:chMax val="0"/>
          <dgm:bulletEnabled val="1"/>
        </dgm:presLayoutVars>
      </dgm:prSet>
      <dgm:spPr/>
    </dgm:pt>
  </dgm:ptLst>
  <dgm:cxnLst>
    <dgm:cxn modelId="{28DAC406-83EA-4CDB-BEF1-141981261C2A}" srcId="{6C3024F7-A729-4F93-B845-004F91386FBD}" destId="{FD7784B0-2A99-42F6-A10A-83EB0DC73BE5}" srcOrd="1" destOrd="0" parTransId="{7750B9D0-E9EB-4945-A5DD-38B6C271B362}" sibTransId="{8FB5A77B-8F2F-410E-BCF3-6707659D0E62}"/>
    <dgm:cxn modelId="{59EAE66C-5A32-402A-843F-503A36D1B914}" type="presOf" srcId="{F97E06E0-D2ED-46AC-B66F-A247C305E866}" destId="{842763DB-A544-47BF-A6F6-9BAB67F6C350}" srcOrd="0" destOrd="0" presId="urn:microsoft.com/office/officeart/2005/8/layout/vList2"/>
    <dgm:cxn modelId="{54B3144F-E044-46DB-AE80-DA0C4B5AF6CD}" type="presOf" srcId="{A5010BC2-76BB-49B6-8597-C761ECAC1772}" destId="{4705860B-CF4C-4332-80F6-CB6B998C1578}" srcOrd="0" destOrd="0" presId="urn:microsoft.com/office/officeart/2005/8/layout/vList2"/>
    <dgm:cxn modelId="{60705B94-45EC-4D08-8E8A-3FC644CAD19B}" type="presOf" srcId="{FD7784B0-2A99-42F6-A10A-83EB0DC73BE5}" destId="{C57268A3-E864-4C73-8DE7-94B3BCF7AFEA}" srcOrd="0" destOrd="0" presId="urn:microsoft.com/office/officeart/2005/8/layout/vList2"/>
    <dgm:cxn modelId="{4E6E859C-FD5E-46D1-B0A8-DF8EB312FDA7}" type="presOf" srcId="{6C3024F7-A729-4F93-B845-004F91386FBD}" destId="{B61DC9FB-7626-4D39-9363-433259384063}" srcOrd="0" destOrd="0" presId="urn:microsoft.com/office/officeart/2005/8/layout/vList2"/>
    <dgm:cxn modelId="{FC4256CC-E590-41FD-B031-26CCB70FBBCE}" srcId="{6C3024F7-A729-4F93-B845-004F91386FBD}" destId="{A5010BC2-76BB-49B6-8597-C761ECAC1772}" srcOrd="0" destOrd="0" parTransId="{37ABEE5F-A67C-47E0-8941-7E6F22037044}" sibTransId="{0DE24500-9EED-4915-B752-26BB93CD87A8}"/>
    <dgm:cxn modelId="{4B7CE9F5-1584-4EFD-8B26-B8F860164884}" srcId="{6C3024F7-A729-4F93-B845-004F91386FBD}" destId="{F97E06E0-D2ED-46AC-B66F-A247C305E866}" srcOrd="2" destOrd="0" parTransId="{11013EF0-1DEB-416B-8CE8-9EC82E46518B}" sibTransId="{C17DE5C5-8921-430D-9956-183998995338}"/>
    <dgm:cxn modelId="{6C8479B2-FD04-438A-AD16-CAFC01A7069E}" type="presParOf" srcId="{B61DC9FB-7626-4D39-9363-433259384063}" destId="{4705860B-CF4C-4332-80F6-CB6B998C1578}" srcOrd="0" destOrd="0" presId="urn:microsoft.com/office/officeart/2005/8/layout/vList2"/>
    <dgm:cxn modelId="{40D356D4-6752-4DEF-B2F5-744711551A31}" type="presParOf" srcId="{B61DC9FB-7626-4D39-9363-433259384063}" destId="{F609EB0D-73A0-4A16-A10A-0EAF13DAEA24}" srcOrd="1" destOrd="0" presId="urn:microsoft.com/office/officeart/2005/8/layout/vList2"/>
    <dgm:cxn modelId="{3803C583-EAF7-456E-91F2-D9AD4CD8A157}" type="presParOf" srcId="{B61DC9FB-7626-4D39-9363-433259384063}" destId="{C57268A3-E864-4C73-8DE7-94B3BCF7AFEA}" srcOrd="2" destOrd="0" presId="urn:microsoft.com/office/officeart/2005/8/layout/vList2"/>
    <dgm:cxn modelId="{E12BBAF7-286C-48A5-B407-33DD8026DCFC}" type="presParOf" srcId="{B61DC9FB-7626-4D39-9363-433259384063}" destId="{31A1DC5D-E581-45EC-9A62-2DB7A089B493}" srcOrd="3" destOrd="0" presId="urn:microsoft.com/office/officeart/2005/8/layout/vList2"/>
    <dgm:cxn modelId="{0BCF3CA0-4B1C-4CEF-868E-C4696B55FC24}" type="presParOf" srcId="{B61DC9FB-7626-4D39-9363-433259384063}" destId="{842763DB-A544-47BF-A6F6-9BAB67F6C350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524D429-76D5-4657-8910-CB36DADD6EB9}" type="doc">
      <dgm:prSet loTypeId="urn:microsoft.com/office/officeart/2005/8/layout/vList2" loCatId="list" qsTypeId="urn:microsoft.com/office/officeart/2005/8/quickstyle/simple3" qsCatId="simple" csTypeId="urn:microsoft.com/office/officeart/2005/8/colors/colorful1" csCatId="colorful"/>
      <dgm:spPr/>
      <dgm:t>
        <a:bodyPr/>
        <a:lstStyle/>
        <a:p>
          <a:pPr rtl="1"/>
          <a:endParaRPr lang="fa-IR"/>
        </a:p>
      </dgm:t>
    </dgm:pt>
    <dgm:pt modelId="{4C3DB20C-00DC-4078-8BEC-22DC1430293C}">
      <dgm:prSet custT="1"/>
      <dgm:spPr/>
      <dgm:t>
        <a:bodyPr/>
        <a:lstStyle/>
        <a:p>
          <a:pPr algn="ctr" rtl="1"/>
          <a:r>
            <a:rPr lang="fa-IR" sz="2400" b="1" dirty="0">
              <a:cs typeface="B Nazanin" panose="00000400000000000000" pitchFamily="2" charset="-78"/>
            </a:rPr>
            <a:t>منابع دانش و اطلاعات دلخواه</a:t>
          </a:r>
          <a:endParaRPr lang="fa-IR" sz="2400" dirty="0">
            <a:cs typeface="B Nazanin" panose="00000400000000000000" pitchFamily="2" charset="-78"/>
          </a:endParaRPr>
        </a:p>
      </dgm:t>
    </dgm:pt>
    <dgm:pt modelId="{0876256F-FD7F-4A30-A3BF-AF5DE44AAFBF}" type="par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6A9A95F4-3A4B-478E-ACCE-E83B320D3B79}" type="sibTrans" cxnId="{46F38E6A-7356-45AC-9661-E03A92BCB6A8}">
      <dgm:prSet/>
      <dgm:spPr/>
      <dgm:t>
        <a:bodyPr/>
        <a:lstStyle/>
        <a:p>
          <a:pPr rtl="1"/>
          <a:endParaRPr lang="fa-IR"/>
        </a:p>
      </dgm:t>
    </dgm:pt>
    <dgm:pt modelId="{7D0CD919-E9B5-4E80-AEC9-298E51DF8380}" type="pres">
      <dgm:prSet presAssocID="{8524D429-76D5-4657-8910-CB36DADD6EB9}" presName="linear" presStyleCnt="0">
        <dgm:presLayoutVars>
          <dgm:animLvl val="lvl"/>
          <dgm:resizeHandles val="exact"/>
        </dgm:presLayoutVars>
      </dgm:prSet>
      <dgm:spPr/>
    </dgm:pt>
    <dgm:pt modelId="{1E414AF4-5DA0-4285-83B3-A4DF1F559D0E}" type="pres">
      <dgm:prSet presAssocID="{4C3DB20C-00DC-4078-8BEC-22DC1430293C}" presName="parentText" presStyleLbl="node1" presStyleIdx="0" presStyleCnt="1" custLinFactNeighborX="-13408" custLinFactNeighborY="-2794">
        <dgm:presLayoutVars>
          <dgm:chMax val="0"/>
          <dgm:bulletEnabled val="1"/>
        </dgm:presLayoutVars>
      </dgm:prSet>
      <dgm:spPr/>
    </dgm:pt>
  </dgm:ptLst>
  <dgm:cxnLst>
    <dgm:cxn modelId="{5B6CAF17-A827-4EA3-96BB-9D39890D92C8}" type="presOf" srcId="{4C3DB20C-00DC-4078-8BEC-22DC1430293C}" destId="{1E414AF4-5DA0-4285-83B3-A4DF1F559D0E}" srcOrd="0" destOrd="0" presId="urn:microsoft.com/office/officeart/2005/8/layout/vList2"/>
    <dgm:cxn modelId="{D84B1F27-3596-4759-9BD7-C19C3936F540}" type="presOf" srcId="{8524D429-76D5-4657-8910-CB36DADD6EB9}" destId="{7D0CD919-E9B5-4E80-AEC9-298E51DF8380}" srcOrd="0" destOrd="0" presId="urn:microsoft.com/office/officeart/2005/8/layout/vList2"/>
    <dgm:cxn modelId="{46F38E6A-7356-45AC-9661-E03A92BCB6A8}" srcId="{8524D429-76D5-4657-8910-CB36DADD6EB9}" destId="{4C3DB20C-00DC-4078-8BEC-22DC1430293C}" srcOrd="0" destOrd="0" parTransId="{0876256F-FD7F-4A30-A3BF-AF5DE44AAFBF}" sibTransId="{6A9A95F4-3A4B-478E-ACCE-E83B320D3B79}"/>
    <dgm:cxn modelId="{D98B1E6F-4F33-44C6-A011-55DCB95B4916}" type="presParOf" srcId="{7D0CD919-E9B5-4E80-AEC9-298E51DF8380}" destId="{1E414AF4-5DA0-4285-83B3-A4DF1F559D0E}" srcOrd="0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05860B-CF4C-4332-80F6-CB6B998C1578}">
      <dsp:nvSpPr>
        <dsp:cNvPr id="0" name=""/>
        <dsp:cNvSpPr/>
      </dsp:nvSpPr>
      <dsp:spPr>
        <a:xfrm>
          <a:off x="0" y="4871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درک زبانی قوی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33857"/>
        <a:ext cx="1741383" cy="535803"/>
      </dsp:txXfrm>
    </dsp:sp>
    <dsp:sp modelId="{C57268A3-E864-4C73-8DE7-94B3BCF7AFEA}">
      <dsp:nvSpPr>
        <dsp:cNvPr id="0" name=""/>
        <dsp:cNvSpPr/>
      </dsp:nvSpPr>
      <dsp:spPr>
        <a:xfrm>
          <a:off x="0" y="1334796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 err="1">
              <a:cs typeface="B Nazanin" panose="00000400000000000000" pitchFamily="2" charset="-78"/>
            </a:rPr>
            <a:t>دانش‌های</a:t>
          </a:r>
          <a:r>
            <a:rPr lang="fa-IR" sz="2000" b="1" kern="1200" dirty="0">
              <a:cs typeface="B Nazanin" panose="00000400000000000000" pitchFamily="2" charset="-78"/>
            </a:rPr>
            <a:t> پایه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1363782"/>
        <a:ext cx="1741383" cy="535803"/>
      </dsp:txXfrm>
    </dsp:sp>
    <dsp:sp modelId="{842763DB-A544-47BF-A6F6-9BAB67F6C350}">
      <dsp:nvSpPr>
        <dsp:cNvPr id="0" name=""/>
        <dsp:cNvSpPr/>
      </dsp:nvSpPr>
      <dsp:spPr>
        <a:xfrm>
          <a:off x="0" y="669008"/>
          <a:ext cx="1799355" cy="593775"/>
        </a:xfrm>
        <a:prstGeom prst="roundRect">
          <a:avLst/>
        </a:prstGeom>
        <a:gradFill flip="none"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1"/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000" b="1" kern="1200" dirty="0">
              <a:cs typeface="B Nazanin" panose="00000400000000000000" pitchFamily="2" charset="-78"/>
            </a:rPr>
            <a:t>استدلال منطقی</a:t>
          </a:r>
          <a:endParaRPr lang="fa-IR" sz="2000" kern="1200" dirty="0">
            <a:cs typeface="B Nazanin" panose="00000400000000000000" pitchFamily="2" charset="-78"/>
          </a:endParaRPr>
        </a:p>
      </dsp:txBody>
      <dsp:txXfrm>
        <a:off x="28986" y="697994"/>
        <a:ext cx="1741383" cy="5358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414AF4-5DA0-4285-83B3-A4DF1F559D0E}">
      <dsp:nvSpPr>
        <dsp:cNvPr id="0" name=""/>
        <dsp:cNvSpPr/>
      </dsp:nvSpPr>
      <dsp:spPr>
        <a:xfrm>
          <a:off x="0" y="0"/>
          <a:ext cx="3406487" cy="461373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 rtl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a-IR" sz="2400" b="1" kern="1200" dirty="0">
              <a:cs typeface="B Nazanin" panose="00000400000000000000" pitchFamily="2" charset="-78"/>
            </a:rPr>
            <a:t>منابع دانش و اطلاعات دلخواه</a:t>
          </a:r>
          <a:endParaRPr lang="fa-IR" sz="2400" kern="1200" dirty="0">
            <a:cs typeface="B Nazanin" panose="00000400000000000000" pitchFamily="2" charset="-78"/>
          </a:endParaRPr>
        </a:p>
      </dsp:txBody>
      <dsp:txXfrm>
        <a:off x="22522" y="22522"/>
        <a:ext cx="3361443" cy="4163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DD9737E2-E5A7-4798-8CE4-635A842BA6E2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B1A1FC86-6D43-4743-9C66-42764E3FFE4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500205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3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844886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5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337530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6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515031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8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741010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9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00198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13938-4976-24CD-F90C-D3E146438B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16D2E1-43E0-987F-C4F4-880714D67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4C64D-5A88-4CA9-B636-D37129CC2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F92EE-958A-50FD-B81F-E37434260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EB7106-FD28-066C-5510-9E64453AD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881589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7D1C7-8924-C1BA-E20F-62F1D8FEB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F3782-809F-AAF0-EAB1-313ECDFE4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9339D-ADAA-9759-7433-30A2E247F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16A51-5D36-906E-BE5F-715240E51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65860-E179-EC0C-9FB3-7777BD5CD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77867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C7D58-0CE7-6452-8C6C-EAC557818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750E2-73F9-25F7-C6DA-024647928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FE724-FCBB-1AE4-0878-9B53E27EF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978AE-BF63-632C-DCE3-1530A27D1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C0F81-4C69-FB77-4C5B-5A69A1666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387666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F1D77-48FB-7697-B1F3-A7F1D13B0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63923-4E23-B652-BA3C-38693CAA28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F2212-B9BD-EAA9-EAC4-BDF5E97706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DCF94C-3F8D-4474-E729-412461C8B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409B8C-514D-1B39-C315-B6CEDDBF1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0E4F90-A5B4-6080-C12C-4E808CC51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090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E6C78-725E-27FF-E59E-947A59C7A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84E93-6478-09F5-14B4-6767EBE83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B394E6-41A3-3ED8-009C-263711A16C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D6F9E1-762A-2F95-214D-154810708D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F4461-3166-F452-9762-D69D2CE37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7343EA-72BE-E1D0-7912-30EAF520E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023CF1-B335-63CB-32B1-281E4CE72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7CC68C-E7B9-0CC6-8628-2CFA8F49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50533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AE8CD-1C38-339E-41C3-19D30FC3A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1FEF66-B4F0-BB24-A289-1F3854848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CF6D9-493C-F54D-554B-A896871D0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66CAB-B030-06CB-6092-E1B0046C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56239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0E4C18-2FC1-779A-8D12-37D24A038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4EB49F-81B1-1B73-0331-947EC62D8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A849C-3E7B-A729-B938-41EF74264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066529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1AC6-EC61-5F28-8100-A8AF01211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A571A-AA73-5C56-FF31-5498C44C1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4069D-974F-8B6C-F60E-5FE6E2598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9D25D-13EE-2F11-4377-CD2A8A8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A2C81C-D31A-DB8F-91DB-C83AC87A2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2C808F-5C7D-47B4-AF9B-7999C1B3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373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CAF56-A5A3-93A9-6138-067BFFF6D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37155-F742-B129-C8FA-6ED6BA29F4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62B19B-30BD-BF45-2B2B-3A1543D8F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647895-D0D1-70F1-F759-BA82C0113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DAD41-85D5-D496-5726-87C6213D6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3DECD-65D2-899F-FA95-613FB1FB6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9433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8D2F8-D2C1-840A-E33C-7FE4F6E1D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BBABA-CFF5-BA1E-7861-3CEB47D36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1309F-7A5D-D5DB-83F5-F97FF085D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0CF26-A395-1400-0DDC-4818D072A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6BB89-B781-657F-20F3-0DAF26ED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770755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E593B8-C9DD-F4DC-1A64-7159AB58C6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F4B49E-896E-9E72-4EFB-558DE1CDA1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DCA8E-D95B-20A6-0334-5847F435F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028C-FFA0-2761-2966-8420C01ED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05D64-7820-EE49-4BD4-0F33551BD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0403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884129-C70C-FAF5-CE25-6AD67DCF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BC981-64C7-C3B4-38B4-1795901DB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87F53-ED57-3491-8CD7-C8C0D4BBE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9F0CB5-BAA6-4AB1-867C-C29921453313}" type="datetimeFigureOut">
              <a:rPr lang="fa-IR" smtClean="0"/>
              <a:t>12/08/1445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EB97B-F077-ACC0-68B6-F6E3FD5536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2FB9F-3BC2-31CB-ADCA-9520CB8F44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2416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8F0C2-4F12-0338-F2F0-9E31DFDC5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859" y="274872"/>
            <a:ext cx="11300012" cy="940687"/>
          </a:xfrm>
        </p:spPr>
        <p:txBody>
          <a:bodyPr/>
          <a:lstStyle/>
          <a:p>
            <a:r>
              <a:rPr lang="en-US" dirty="0"/>
              <a:t>Contents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0F0E7-CED6-6FF2-BED0-E1DD5333E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559"/>
            <a:ext cx="10515600" cy="5239030"/>
          </a:xfrm>
        </p:spPr>
        <p:txBody>
          <a:bodyPr>
            <a:normAutofit fontScale="92500" lnSpcReduction="20000"/>
          </a:bodyPr>
          <a:lstStyle/>
          <a:p>
            <a:pPr algn="r" rtl="1"/>
            <a:r>
              <a:rPr lang="fa-IR" sz="2000" dirty="0">
                <a:cs typeface="B Nazanin" panose="00000400000000000000" pitchFamily="2" charset="-78"/>
              </a:rPr>
              <a:t>مدل های زبانی دانش به خصوص ندارند ( ضعف آنها در عدم دسترسی به اطلاعات به روز و خاص ، ارائه اطلاعات منسوخ ، سردرگمی اصطلاحات: وقتی که مفاهیم عمومی که مدل بر آن آموزش دیده با موضوعات و مفاهیم تخصصی ما تفاوت دارند ، توهم: به علت نوع یادگیری در </a:t>
            </a:r>
            <a:r>
              <a:rPr lang="fa-IR" sz="2000" dirty="0" err="1">
                <a:cs typeface="B Nazanin" panose="00000400000000000000" pitchFamily="2" charset="-78"/>
              </a:rPr>
              <a:t>مواردی</a:t>
            </a:r>
            <a:r>
              <a:rPr lang="fa-IR" sz="2000" dirty="0">
                <a:cs typeface="B Nazanin" panose="00000400000000000000" pitchFamily="2" charset="-78"/>
              </a:rPr>
              <a:t> که نمیدانند هم با قطعیت نظر میدهند ، ضرورت استفاده مدل زبانی از دانش سفارشی افزوده 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مزیت استفاده از </a:t>
            </a:r>
            <a:r>
              <a:rPr lang="en-US" sz="2000" dirty="0">
                <a:cs typeface="B Nazanin" panose="00000400000000000000" pitchFamily="2" charset="-78"/>
              </a:rPr>
              <a:t>retrieval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generation</a:t>
            </a:r>
            <a:r>
              <a:rPr lang="fa-IR" sz="2000" dirty="0">
                <a:cs typeface="B Nazanin" panose="00000400000000000000" pitchFamily="2" charset="-78"/>
              </a:rPr>
              <a:t> با </a:t>
            </a:r>
            <a:r>
              <a:rPr lang="fa-IR" sz="2000" dirty="0" err="1">
                <a:cs typeface="B Nazanin" panose="00000400000000000000" pitchFamily="2" charset="-78"/>
              </a:rPr>
              <a:t>دیتابیس</a:t>
            </a:r>
            <a:r>
              <a:rPr lang="fa-IR" sz="2000" dirty="0">
                <a:cs typeface="B Nazanin" panose="00000400000000000000" pitchFamily="2" charset="-78"/>
              </a:rPr>
              <a:t> های برداری ، سنجشگر شباهت معنایی و  مدل های زبانی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نحوه کار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اهمیت مهندسی</a:t>
            </a:r>
            <a:r>
              <a:rPr lang="en-US" sz="2000" dirty="0">
                <a:cs typeface="B Nazanin" panose="00000400000000000000" pitchFamily="2" charset="-78"/>
              </a:rPr>
              <a:t>Prompt 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مزایای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: ارائه پاسخ های به روز و دقیق ، کاهش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نادرست یا </a:t>
            </a:r>
            <a:r>
              <a:rPr lang="fa-IR" sz="2000" dirty="0" err="1">
                <a:cs typeface="B Nazanin" panose="00000400000000000000" pitchFamily="2" charset="-78"/>
              </a:rPr>
              <a:t>توهم‌ها</a:t>
            </a:r>
            <a:r>
              <a:rPr lang="fa-IR" sz="2000" dirty="0">
                <a:cs typeface="B Nazanin" panose="00000400000000000000" pitchFamily="2" charset="-78"/>
              </a:rPr>
              <a:t> ، ارائه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مربوط به یک دامنه دانشی خاص ، سریع و مقرون به صرفه بودن (در مقایسه با فرآیند </a:t>
            </a:r>
            <a:r>
              <a:rPr lang="fa-IR" sz="2000" dirty="0" err="1">
                <a:cs typeface="B Nazanin" panose="00000400000000000000" pitchFamily="2" charset="-78"/>
              </a:rPr>
              <a:t>چستجو</a:t>
            </a:r>
            <a:r>
              <a:rPr lang="fa-IR" sz="2000" dirty="0">
                <a:cs typeface="B Nazanin" panose="00000400000000000000" pitchFamily="2" charset="-78"/>
              </a:rPr>
              <a:t> و پیدا کردن جواب و نگارش تحلیل توسط انسان) ، به روز رسانی سریع داده ها، کنترل توسعه دهنده (مثلا در برنامه ما اطلاعاتی که کمتر از 25 درصد </a:t>
            </a:r>
            <a:r>
              <a:rPr lang="fa-IR" sz="2000" dirty="0" err="1">
                <a:cs typeface="B Nazanin" panose="00000400000000000000" pitchFamily="2" charset="-78"/>
              </a:rPr>
              <a:t>شباهات</a:t>
            </a:r>
            <a:r>
              <a:rPr lang="fa-IR" sz="2000" dirty="0">
                <a:cs typeface="B Nazanin" panose="00000400000000000000" pitchFamily="2" charset="-78"/>
              </a:rPr>
              <a:t> معنایی با سوال کاربر دارند </a:t>
            </a:r>
            <a:r>
              <a:rPr lang="fa-IR" sz="2000" dirty="0" err="1">
                <a:cs typeface="B Nazanin" panose="00000400000000000000" pitchFamily="2" charset="-78"/>
              </a:rPr>
              <a:t>پرامپت</a:t>
            </a:r>
            <a:r>
              <a:rPr lang="fa-IR" sz="2000" dirty="0">
                <a:cs typeface="B Nazanin" panose="00000400000000000000" pitchFamily="2" charset="-78"/>
              </a:rPr>
              <a:t> مدل نمیشوند)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ارائه مثال از اینکه برنامه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چگونه میتواند اطلاعات مرتبط را از یک پایگاه عظیم اطلاعاتی شناسایی و استخراج کند و از یک مدل زبانی برای ارائه پاسخ و تحلیل استفاده کند.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موارد استفاده: پرسش و پاسخ – مدیریت دانش سازمانی – جستجوی اسناد – </a:t>
            </a:r>
            <a:r>
              <a:rPr lang="fa-IR" sz="2000" dirty="0" err="1">
                <a:cs typeface="B Nazanin" panose="00000400000000000000" pitchFamily="2" charset="-78"/>
              </a:rPr>
              <a:t>ربات</a:t>
            </a:r>
            <a:r>
              <a:rPr lang="fa-IR" sz="2000" dirty="0">
                <a:cs typeface="B Nazanin" panose="00000400000000000000" pitchFamily="2" charset="-78"/>
              </a:rPr>
              <a:t> های پرسش و پاسخ (کمک دادن کاربران به جای </a:t>
            </a:r>
            <a:r>
              <a:rPr lang="fa-IR" sz="2000" dirty="0" err="1">
                <a:cs typeface="B Nazanin" panose="00000400000000000000" pitchFamily="2" charset="-78"/>
              </a:rPr>
              <a:t>اپراتور</a:t>
            </a:r>
            <a:r>
              <a:rPr lang="fa-IR" sz="2000" dirty="0">
                <a:cs typeface="B Nazanin" panose="00000400000000000000" pitchFamily="2" charset="-78"/>
              </a:rPr>
              <a:t>) ، تحلیل داده ، نگارش گزارش ، سیستم </a:t>
            </a:r>
            <a:r>
              <a:rPr lang="en-US" sz="2000" dirty="0">
                <a:cs typeface="B Nazanin" panose="00000400000000000000" pitchFamily="2" charset="-78"/>
              </a:rPr>
              <a:t>FAQ</a:t>
            </a:r>
            <a:r>
              <a:rPr lang="fa-IR" sz="2000" dirty="0">
                <a:cs typeface="B Nazanin" panose="00000400000000000000" pitchFamily="2" charset="-78"/>
              </a:rPr>
              <a:t> ، </a:t>
            </a:r>
            <a:r>
              <a:rPr lang="en-US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Open-Domain QA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(کنار هم گذاشتن اطلاعات از منابع </a:t>
            </a:r>
            <a:r>
              <a:rPr lang="fa-IR" sz="1400" b="1" i="0" dirty="0" err="1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مختف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و ارائه تحلیل) </a:t>
            </a:r>
            <a:r>
              <a:rPr lang="fa-IR" sz="1400" b="1" dirty="0">
                <a:solidFill>
                  <a:srgbClr val="050A12"/>
                </a:solidFill>
                <a:latin typeface="Poppins" panose="00000500000000000000" pitchFamily="2" charset="0"/>
              </a:rPr>
              <a:t>، گزارش خبری (گزارش بر پایه اطلاعات از منابع مختلف) ، دستیار تحلیلی و تحقیقاتی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تقویت مدل زبانی با دانش و اطلاعات دیگر :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مقایسه مزایا و معایب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و شرایط استفاده از هر کدام (مثلا کنترل میزان دسترسی کاربران)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چالش ها و مشکلات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(مشکلات </a:t>
            </a:r>
            <a:r>
              <a:rPr lang="en-US" sz="2000" dirty="0">
                <a:cs typeface="B Nazanin" panose="00000400000000000000" pitchFamily="2" charset="-78"/>
              </a:rPr>
              <a:t>query</a:t>
            </a:r>
            <a:r>
              <a:rPr lang="fa-IR" sz="2000" dirty="0">
                <a:cs typeface="B Nazanin" panose="00000400000000000000" pitchFamily="2" charset="-78"/>
              </a:rPr>
              <a:t> های پیچیده ، دقت در پایگاه دانشی بزرگ ، پشتیبانی چند زبانی)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ظرفیت های پیش رو: راهکارهای تقویت فرآیند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نظیر </a:t>
            </a:r>
            <a:r>
              <a:rPr lang="en-US" sz="2000" dirty="0">
                <a:cs typeface="B Nazanin" panose="00000400000000000000" pitchFamily="2" charset="-78"/>
              </a:rPr>
              <a:t>Fusion</a:t>
            </a:r>
            <a:r>
              <a:rPr lang="fa-IR" sz="2000" dirty="0">
                <a:cs typeface="B Nazanin" panose="00000400000000000000" pitchFamily="2" charset="-78"/>
              </a:rPr>
              <a:t> (ارائه اطلاعات پیش زمینه ای از مدل متخصص دیگر به مدل اصلی) ، بهبود سوال ، </a:t>
            </a:r>
            <a:r>
              <a:rPr lang="fa-IR" sz="2000" dirty="0" err="1">
                <a:cs typeface="B Nazanin" panose="00000400000000000000" pitchFamily="2" charset="-78"/>
              </a:rPr>
              <a:t>چندبخشی</a:t>
            </a:r>
            <a:r>
              <a:rPr lang="fa-IR" sz="2000" dirty="0">
                <a:cs typeface="B Nazanin" panose="00000400000000000000" pitchFamily="2" charset="-78"/>
              </a:rPr>
              <a:t> کردن سوال ، </a:t>
            </a: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fa-IR" sz="20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0188499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95DC2-4FC5-DBCA-97F0-E1A25B00D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19097"/>
            <a:ext cx="2998510" cy="628743"/>
          </a:xfrm>
          <a:noFill/>
        </p:spPr>
        <p:txBody>
          <a:bodyPr>
            <a:noAutofit/>
          </a:bodyPr>
          <a:lstStyle/>
          <a:p>
            <a:r>
              <a:rPr lang="en-US" sz="8800" dirty="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</a:gradFill>
                <a:effectLst>
                  <a:reflection stA="70000" endPos="12000" dir="5400000" sy="-100000" algn="bl" rotWithShape="0"/>
                </a:effectLst>
                <a:latin typeface="Arial Black" panose="020B0A04020102020204" pitchFamily="34" charset="0"/>
              </a:rPr>
              <a:t>RAG</a:t>
            </a:r>
            <a:r>
              <a:rPr lang="en-US" sz="8000" dirty="0"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  <a:tileRect/>
                </a:gradFill>
                <a:latin typeface="Arial Black" panose="020B0A04020102020204" pitchFamily="34" charset="0"/>
              </a:rPr>
              <a:t> </a:t>
            </a:r>
            <a:endParaRPr lang="fa-IR" sz="8000" dirty="0"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60000"/>
                    </a:schemeClr>
                  </a:gs>
                </a:gsLst>
                <a:lin ang="10800000" scaled="1"/>
                <a:tileRect/>
              </a:gradFill>
              <a:latin typeface="Arial Black" panose="020B0A040201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1CE3807-789B-EE42-3807-0BB2285F5845}"/>
              </a:ext>
            </a:extLst>
          </p:cNvPr>
          <p:cNvSpPr txBox="1">
            <a:spLocks/>
          </p:cNvSpPr>
          <p:nvPr/>
        </p:nvSpPr>
        <p:spPr>
          <a:xfrm>
            <a:off x="2697018" y="3697326"/>
            <a:ext cx="8843077" cy="617632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تقویت مدل زبانی بزرگ (</a:t>
            </a:r>
            <a:r>
              <a:rPr lang="en-US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latin typeface="+mn-lt"/>
              </a:rPr>
              <a:t>LLM</a:t>
            </a:r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) با دانش و اطلاعات افزوده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D785DD-B2D4-4E5A-BC6F-27AD1E999C63}"/>
              </a:ext>
            </a:extLst>
          </p:cNvPr>
          <p:cNvSpPr txBox="1"/>
          <p:nvPr/>
        </p:nvSpPr>
        <p:spPr>
          <a:xfrm>
            <a:off x="5605251" y="189056"/>
            <a:ext cx="1075765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1600" b="1" dirty="0" err="1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بسمه</a:t>
            </a:r>
            <a:r>
              <a:rPr lang="fa-IR" sz="1600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 </a:t>
            </a:r>
            <a:r>
              <a:rPr lang="fa-IR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تعالی</a:t>
            </a:r>
            <a:endParaRPr lang="fa-IR" sz="1600" b="1" dirty="0">
              <a:ln w="6350" cmpd="sng">
                <a:noFill/>
                <a:prstDash val="solid"/>
                <a:round/>
              </a:ln>
              <a:gradFill flip="none" rotWithShape="1">
                <a:gsLst>
                  <a:gs pos="0">
                    <a:srgbClr val="002060"/>
                  </a:gs>
                  <a:gs pos="48000">
                    <a:schemeClr val="accent1">
                      <a:lumMod val="75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cs typeface="B Nazanin" panose="00000400000000000000" pitchFamily="2" charset="-78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39AD3B7-2442-918C-A431-4C6037C71AF3}"/>
              </a:ext>
            </a:extLst>
          </p:cNvPr>
          <p:cNvSpPr txBox="1">
            <a:spLocks/>
          </p:cNvSpPr>
          <p:nvPr/>
        </p:nvSpPr>
        <p:spPr>
          <a:xfrm>
            <a:off x="885334" y="2332587"/>
            <a:ext cx="10515600" cy="44431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800" b="1" dirty="0">
                <a:solidFill>
                  <a:srgbClr val="4B4F58"/>
                </a:solidFill>
                <a:latin typeface="lists-font"/>
              </a:rPr>
              <a:t>Retrieval-Augmented Generation</a:t>
            </a:r>
            <a:endParaRPr lang="fa-IR" sz="3800" b="1" dirty="0">
              <a:latin typeface="Arial Black" panose="020B0A040201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7A88DB-9AC8-D0B3-D9B6-D1393842B9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7916" y="-206782"/>
            <a:ext cx="3612630" cy="355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898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7552-E2A9-701A-91DB-CE3F94F03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ضعف دانشی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6581D-A476-6160-3058-B12CE4146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675638"/>
          </a:xfrm>
        </p:spPr>
        <p:txBody>
          <a:bodyPr>
            <a:normAutofit lnSpcReduction="10000"/>
          </a:bodyPr>
          <a:lstStyle/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نداشتن دانش و اطلاعات به روز (احتمال ارائه اطلاعات منسوخ)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پرهزینه بودن یادگیری اطلاعات و دانش جدید (مثل اطلاعات سازمانی)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توهم (</a:t>
            </a:r>
            <a:r>
              <a:rPr lang="en-US" sz="2000" b="1" dirty="0">
                <a:cs typeface="B Nazanin" panose="00000400000000000000" pitchFamily="2" charset="-78"/>
              </a:rPr>
              <a:t>Hallucination</a:t>
            </a:r>
            <a:r>
              <a:rPr lang="fa-IR" sz="2000" b="1" dirty="0">
                <a:cs typeface="B Nazanin" panose="00000400000000000000" pitchFamily="2" charset="-78"/>
              </a:rPr>
              <a:t>): احتمال ارائه پاسخ نادرست </a:t>
            </a:r>
            <a:r>
              <a:rPr lang="fa-IR" sz="2000" b="1" dirty="0" err="1">
                <a:cs typeface="B Nazanin" panose="00000400000000000000" pitchFamily="2" charset="-78"/>
              </a:rPr>
              <a:t>علی‌رغم</a:t>
            </a:r>
            <a:r>
              <a:rPr lang="fa-IR" sz="2000" b="1" dirty="0">
                <a:cs typeface="B Nazanin" panose="00000400000000000000" pitchFamily="2" charset="-78"/>
              </a:rPr>
              <a:t> قاطعیت در بیان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سردرگمی اصطلاحات: امکان </a:t>
            </a:r>
            <a:r>
              <a:rPr lang="fa-IR" sz="2000" b="1" dirty="0" err="1">
                <a:cs typeface="B Nazanin" panose="00000400000000000000" pitchFamily="2" charset="-78"/>
              </a:rPr>
              <a:t>ناهمگونی</a:t>
            </a:r>
            <a:r>
              <a:rPr lang="fa-IR" sz="2000" b="1" dirty="0">
                <a:cs typeface="B Nazanin" panose="00000400000000000000" pitchFamily="2" charset="-78"/>
              </a:rPr>
              <a:t> کلمات و اصطلاحات </a:t>
            </a:r>
            <a:r>
              <a:rPr lang="fa-IR" sz="2000" b="1" dirty="0" err="1">
                <a:cs typeface="B Nazanin" panose="00000400000000000000" pitchFamily="2" charset="-78"/>
              </a:rPr>
              <a:t>مدل‌زبانی</a:t>
            </a:r>
            <a:r>
              <a:rPr lang="fa-IR" sz="2000" b="1" dirty="0">
                <a:cs typeface="B Nazanin" panose="00000400000000000000" pitchFamily="2" charset="-78"/>
              </a:rPr>
              <a:t> و کاربر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پیروی از </a:t>
            </a:r>
            <a:r>
              <a:rPr lang="fa-IR" sz="2000" b="1" dirty="0" err="1">
                <a:cs typeface="B Nazanin" panose="00000400000000000000" pitchFamily="2" charset="-78"/>
              </a:rPr>
              <a:t>جهت‌گیری</a:t>
            </a:r>
            <a:r>
              <a:rPr lang="fa-IR" sz="2000" b="1" dirty="0">
                <a:cs typeface="B Nazanin" panose="00000400000000000000" pitchFamily="2" charset="-78"/>
              </a:rPr>
              <a:t>‎ (</a:t>
            </a:r>
            <a:r>
              <a:rPr lang="en-US" sz="2000" b="1" dirty="0">
                <a:cs typeface="B Nazanin" panose="00000400000000000000" pitchFamily="2" charset="-78"/>
              </a:rPr>
              <a:t>Bias</a:t>
            </a:r>
            <a:r>
              <a:rPr lang="fa-IR" sz="2000" b="1" dirty="0">
                <a:cs typeface="B Nazanin" panose="00000400000000000000" pitchFamily="2" charset="-78"/>
              </a:rPr>
              <a:t>) و ادبیات </a:t>
            </a:r>
            <a:r>
              <a:rPr lang="fa-IR" sz="2000" b="1" dirty="0" err="1">
                <a:cs typeface="B Nazanin" panose="00000400000000000000" pitchFamily="2" charset="-78"/>
              </a:rPr>
              <a:t>داده‌های</a:t>
            </a:r>
            <a:r>
              <a:rPr lang="fa-IR" sz="2000" b="1" dirty="0">
                <a:cs typeface="B Nazanin" panose="00000400000000000000" pitchFamily="2" charset="-78"/>
              </a:rPr>
              <a:t> آموزش</a:t>
            </a: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D1F31F-B8E5-F8C4-73E4-478608A1A773}"/>
              </a:ext>
            </a:extLst>
          </p:cNvPr>
          <p:cNvSpPr txBox="1">
            <a:spLocks/>
          </p:cNvSpPr>
          <p:nvPr/>
        </p:nvSpPr>
        <p:spPr>
          <a:xfrm>
            <a:off x="949037" y="5862791"/>
            <a:ext cx="10735642" cy="4456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اطلاعات و دانش مدل‌ زبانی محدود به </a:t>
            </a:r>
            <a:r>
              <a:rPr lang="fa-IR" sz="2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داده‌هایی</a:t>
            </a: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است که روی آن آموزش دیده است. </a:t>
            </a:r>
          </a:p>
        </p:txBody>
      </p:sp>
    </p:spTree>
    <p:extLst>
      <p:ext uri="{BB962C8B-B14F-4D97-AF65-F5344CB8AC3E}">
        <p14:creationId xmlns:p14="http://schemas.microsoft.com/office/powerpoint/2010/main" val="3857308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9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9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animClr clrSpc="rgb" dir="cw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  <p:set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9C65C-9AB1-3C1D-EBDE-657B9D948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راه‌های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افزودن دانش و اطلاعات جدید به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B0DC6-9E86-838A-281B-D80913953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67951"/>
          </a:xfrm>
        </p:spPr>
        <p:txBody>
          <a:bodyPr/>
          <a:lstStyle/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آموزش دادن یک مدل زبانی از ابتدا بر روی کل </a:t>
            </a:r>
            <a:r>
              <a:rPr lang="fa-IR" sz="2400" b="1" dirty="0" err="1">
                <a:cs typeface="B Nazanin" panose="00000400000000000000" pitchFamily="2" charset="-78"/>
              </a:rPr>
              <a:t>داده‌های</a:t>
            </a:r>
            <a:r>
              <a:rPr lang="fa-IR" sz="2400" b="1" dirty="0">
                <a:cs typeface="B Nazanin" panose="00000400000000000000" pitchFamily="2" charset="-78"/>
              </a:rPr>
              <a:t> مورد نظر</a:t>
            </a:r>
          </a:p>
          <a:p>
            <a:pPr algn="r" rtl="1"/>
            <a:endParaRPr lang="fa-IR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1E06A-8F9E-AC76-BC2F-4F3C74C8F3B0}"/>
              </a:ext>
            </a:extLst>
          </p:cNvPr>
          <p:cNvSpPr txBox="1">
            <a:spLocks/>
          </p:cNvSpPr>
          <p:nvPr/>
        </p:nvSpPr>
        <p:spPr>
          <a:xfrm>
            <a:off x="9648470" y="2306639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Pre-training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1A89D6-D8EC-D6EB-E031-72C9AA7284D5}"/>
              </a:ext>
            </a:extLst>
          </p:cNvPr>
          <p:cNvSpPr txBox="1">
            <a:spLocks/>
          </p:cNvSpPr>
          <p:nvPr/>
        </p:nvSpPr>
        <p:spPr>
          <a:xfrm>
            <a:off x="936811" y="3009527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تنظیم مجدد یک مدل آموزش دیده بر روی داده های جدید</a:t>
            </a:r>
          </a:p>
          <a:p>
            <a:pPr algn="r" rtl="1"/>
            <a:endParaRPr lang="fa-IR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3972AEA-2CC9-FECB-AB72-5145623F3272}"/>
              </a:ext>
            </a:extLst>
          </p:cNvPr>
          <p:cNvSpPr txBox="1">
            <a:spLocks/>
          </p:cNvSpPr>
          <p:nvPr/>
        </p:nvSpPr>
        <p:spPr>
          <a:xfrm>
            <a:off x="936811" y="4211545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تقویت پاسخ مدل زبانی با ضمیمه شدن دانش و اطلاعات مربوطه به ورودی مدل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18F708B-4116-A8D0-BE04-F2300237C74E}"/>
              </a:ext>
            </a:extLst>
          </p:cNvPr>
          <p:cNvSpPr txBox="1">
            <a:spLocks/>
          </p:cNvSpPr>
          <p:nvPr/>
        </p:nvSpPr>
        <p:spPr>
          <a:xfrm>
            <a:off x="9648470" y="3541713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dirty="0">
                <a:solidFill>
                  <a:srgbClr val="4B4F58"/>
                </a:solidFill>
                <a:latin typeface="lists-font"/>
              </a:rPr>
              <a:t>Fine-tuning</a:t>
            </a:r>
            <a:endParaRPr lang="fa-IR" sz="2000" b="1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B62F38-B838-6AE5-5198-2550871061F5}"/>
              </a:ext>
            </a:extLst>
          </p:cNvPr>
          <p:cNvSpPr txBox="1">
            <a:spLocks/>
          </p:cNvSpPr>
          <p:nvPr/>
        </p:nvSpPr>
        <p:spPr>
          <a:xfrm>
            <a:off x="2116624" y="4711980"/>
            <a:ext cx="9054352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1" i="0" dirty="0">
                <a:solidFill>
                  <a:srgbClr val="4B4F58"/>
                </a:solidFill>
                <a:effectLst/>
                <a:latin typeface="lists-font"/>
              </a:rPr>
              <a:t>Retrieval-Augmented Generation (RAG)</a:t>
            </a:r>
            <a:endParaRPr lang="fa-IR" sz="2000" b="1" dirty="0"/>
          </a:p>
        </p:txBody>
      </p:sp>
    </p:spTree>
    <p:extLst>
      <p:ext uri="{BB962C8B-B14F-4D97-AF65-F5344CB8AC3E}">
        <p14:creationId xmlns:p14="http://schemas.microsoft.com/office/powerpoint/2010/main" val="31819323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4288537-A1B0-D053-A817-5EA8797368FE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9781310" y="3886852"/>
            <a:ext cx="748145" cy="12371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9E9A7102-1A0E-E3BD-3B2D-94280552065E}"/>
              </a:ext>
            </a:extLst>
          </p:cNvPr>
          <p:cNvCxnSpPr>
            <a:cxnSpLocks/>
          </p:cNvCxnSpPr>
          <p:nvPr/>
        </p:nvCxnSpPr>
        <p:spPr>
          <a:xfrm flipV="1">
            <a:off x="9781307" y="3617576"/>
            <a:ext cx="748148" cy="554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4A0E16EF-6470-7552-B7FC-A5FF39DE62D2}"/>
              </a:ext>
            </a:extLst>
          </p:cNvPr>
          <p:cNvCxnSpPr>
            <a:cxnSpLocks/>
          </p:cNvCxnSpPr>
          <p:nvPr/>
        </p:nvCxnSpPr>
        <p:spPr>
          <a:xfrm>
            <a:off x="9772068" y="3210200"/>
            <a:ext cx="757387" cy="5985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54C23380-6D00-480B-4D6F-BD70A4226D82}"/>
              </a:ext>
            </a:extLst>
          </p:cNvPr>
          <p:cNvCxnSpPr>
            <a:cxnSpLocks/>
          </p:cNvCxnSpPr>
          <p:nvPr/>
        </p:nvCxnSpPr>
        <p:spPr>
          <a:xfrm>
            <a:off x="9762836" y="2752515"/>
            <a:ext cx="766619" cy="21863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9B9A8838-1FB7-91A6-1575-61287B311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0484" y="251365"/>
            <a:ext cx="10515600" cy="879760"/>
          </a:xfrm>
        </p:spPr>
        <p:txBody>
          <a:bodyPr>
            <a:normAutofit/>
          </a:bodyPr>
          <a:lstStyle/>
          <a:p>
            <a:pPr algn="r"/>
            <a:r>
              <a:rPr lang="fa-IR" sz="32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نحوه افزوده شدن یک مدرک به پایگاه داده برداری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C76D35FE-31C0-7F20-5FF2-9E6A72A51BFA}"/>
              </a:ext>
            </a:extLst>
          </p:cNvPr>
          <p:cNvGrpSpPr/>
          <p:nvPr/>
        </p:nvGrpSpPr>
        <p:grpSpPr>
          <a:xfrm>
            <a:off x="170282" y="2617640"/>
            <a:ext cx="4082436" cy="3370666"/>
            <a:chOff x="1099548" y="2263724"/>
            <a:chExt cx="4082436" cy="3370666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999C0B94-12D4-5693-E2EB-6ACC41AA56DA}"/>
                </a:ext>
              </a:extLst>
            </p:cNvPr>
            <p:cNvGrpSpPr/>
            <p:nvPr/>
          </p:nvGrpSpPr>
          <p:grpSpPr>
            <a:xfrm>
              <a:off x="1099548" y="2263724"/>
              <a:ext cx="3629469" cy="3370666"/>
              <a:chOff x="1275040" y="2263724"/>
              <a:chExt cx="3481309" cy="3370666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DD8B0A84-65F9-4E3C-2541-24A1C1BF5F67}"/>
                  </a:ext>
                </a:extLst>
              </p:cNvPr>
              <p:cNvGrpSpPr/>
              <p:nvPr/>
            </p:nvGrpSpPr>
            <p:grpSpPr>
              <a:xfrm>
                <a:off x="1275040" y="2263724"/>
                <a:ext cx="3481309" cy="3370666"/>
                <a:chOff x="1819985" y="1755724"/>
                <a:chExt cx="3481309" cy="3370666"/>
              </a:xfrm>
            </p:grpSpPr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DF50FA88-43A9-B9D1-694A-0437344F58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041236"/>
                  <a:ext cx="1607131" cy="118601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Arrow Connector 28">
                  <a:extLst>
                    <a:ext uri="{FF2B5EF4-FFF2-40B4-BE49-F238E27FC236}">
                      <a16:creationId xmlns:a16="http://schemas.microsoft.com/office/drawing/2014/main" id="{5AE6DC54-F24D-BC66-5668-25725BD5FF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408142"/>
                  <a:ext cx="1593692" cy="819104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Arrow Connector 29">
                  <a:extLst>
                    <a:ext uri="{FF2B5EF4-FFF2-40B4-BE49-F238E27FC236}">
                      <a16:creationId xmlns:a16="http://schemas.microsoft.com/office/drawing/2014/main" id="{46B88ACD-334E-F01D-D4C0-7413D5754B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19008" y="3290500"/>
                  <a:ext cx="1560952" cy="91204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Straight Arrow Connector 30">
                  <a:extLst>
                    <a:ext uri="{FF2B5EF4-FFF2-40B4-BE49-F238E27FC236}">
                      <a16:creationId xmlns:a16="http://schemas.microsoft.com/office/drawing/2014/main" id="{1F07367B-B0EE-5466-27A9-3C44681A4F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86268" y="2755660"/>
                  <a:ext cx="1607131" cy="471586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DC25095D-FD1D-25BF-BE8F-ABCCDFBD0F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344566" y="3241263"/>
                  <a:ext cx="1707687" cy="268555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Arrow Connector 41">
                  <a:extLst>
                    <a:ext uri="{FF2B5EF4-FFF2-40B4-BE49-F238E27FC236}">
                      <a16:creationId xmlns:a16="http://schemas.microsoft.com/office/drawing/2014/main" id="{B237CBAB-C665-C702-3046-8975FCC1D8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445122" y="3140364"/>
                  <a:ext cx="1607131" cy="100899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Arrow Connector 46">
                  <a:extLst>
                    <a:ext uri="{FF2B5EF4-FFF2-40B4-BE49-F238E27FC236}">
                      <a16:creationId xmlns:a16="http://schemas.microsoft.com/office/drawing/2014/main" id="{FBB08D44-9631-85E9-B3F7-6721842F79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445122" y="3255280"/>
                  <a:ext cx="1563460" cy="587047"/>
                </a:xfrm>
                <a:prstGeom prst="straightConnector1">
                  <a:avLst/>
                </a:prstGeom>
                <a:ln w="9525" cap="flat" cmpd="sng" algn="ctr">
                  <a:solidFill>
                    <a:schemeClr val="accent1"/>
                  </a:solidFill>
                  <a:prstDash val="dash"/>
                  <a:round/>
                  <a:headEnd type="none" w="med" len="med"/>
                  <a:tailEnd type="none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</p:cxnSp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0136540F-01CF-8287-502D-463495BDEF8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819985" y="2801840"/>
                  <a:ext cx="819104" cy="819104"/>
                </a:xfrm>
                <a:prstGeom prst="rect">
                  <a:avLst/>
                </a:prstGeom>
              </p:spPr>
            </p:pic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0975F05-7064-D0D3-EE94-9559F1AF0FDC}"/>
                    </a:ext>
                  </a:extLst>
                </p:cNvPr>
                <p:cNvSpPr txBox="1"/>
                <p:nvPr/>
              </p:nvSpPr>
              <p:spPr>
                <a:xfrm>
                  <a:off x="4045149" y="1755724"/>
                  <a:ext cx="1256145" cy="3370666"/>
                </a:xfrm>
                <a:prstGeom prst="rect">
                  <a:avLst/>
                </a:prstGeom>
                <a:noFill/>
              </p:spPr>
              <p:txBody>
                <a:bodyPr wrap="square" rtlCol="1">
                  <a:spAutoFit/>
                </a:bodyPr>
                <a:lstStyle/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1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2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3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.</a:t>
                  </a:r>
                </a:p>
                <a:p>
                  <a:pPr>
                    <a:lnSpc>
                      <a:spcPct val="150000"/>
                    </a:lnSpc>
                  </a:pPr>
                  <a:r>
                    <a:rPr lang="en-US" sz="1600" b="1" dirty="0"/>
                    <a:t>Text Chunk N</a:t>
                  </a:r>
                  <a:endParaRPr lang="fa-IR" sz="1600" b="1" dirty="0"/>
                </a:p>
                <a:p>
                  <a:pPr>
                    <a:lnSpc>
                      <a:spcPct val="150000"/>
                    </a:lnSpc>
                  </a:pPr>
                  <a:endParaRPr lang="fa-IR" sz="1600" b="1" dirty="0"/>
                </a:p>
              </p:txBody>
            </p:sp>
          </p:grp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7CFBC88-EAA2-C3F4-17B1-0906DB0458C1}"/>
                  </a:ext>
                </a:extLst>
              </p:cNvPr>
              <p:cNvSpPr txBox="1"/>
              <p:nvPr/>
            </p:nvSpPr>
            <p:spPr>
              <a:xfrm>
                <a:off x="1303171" y="4174669"/>
                <a:ext cx="743102" cy="1123384"/>
              </a:xfrm>
              <a:prstGeom prst="rect">
                <a:avLst/>
              </a:prstGeom>
              <a:noFill/>
            </p:spPr>
            <p:txBody>
              <a:bodyPr wrap="square" rtlCol="1">
                <a:spAutoFit/>
              </a:bodyPr>
              <a:lstStyle/>
              <a:p>
                <a:pPr algn="ctr" rtl="1"/>
                <a:r>
                  <a:rPr lang="fa-IR" sz="1900" b="1" dirty="0">
                    <a:solidFill>
                      <a:srgbClr val="0070C0"/>
                    </a:solidFill>
                    <a:cs typeface="B Nazanin" panose="00000400000000000000" pitchFamily="2" charset="-78"/>
                  </a:rPr>
                  <a:t>مدرک 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.pdf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.docx</a:t>
                </a:r>
              </a:p>
              <a:p>
                <a:pPr rtl="1"/>
                <a:r>
                  <a:rPr lang="en-US" sz="1600" b="1" dirty="0">
                    <a:cs typeface="B Nazanin" panose="00000400000000000000" pitchFamily="2" charset="-78"/>
                  </a:rPr>
                  <a:t>.txt</a:t>
                </a:r>
                <a:endParaRPr lang="fa-IR" sz="1600" b="1" dirty="0">
                  <a:cs typeface="B Nazanin" panose="00000400000000000000" pitchFamily="2" charset="-78"/>
                </a:endParaRPr>
              </a:p>
            </p:txBody>
          </p:sp>
        </p:grp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AD4B78F9-52B8-148E-91E3-04CB1D3D7B86}"/>
                </a:ext>
              </a:extLst>
            </p:cNvPr>
            <p:cNvCxnSpPr>
              <a:cxnSpLocks/>
            </p:cNvCxnSpPr>
            <p:nvPr/>
          </p:nvCxnSpPr>
          <p:spPr>
            <a:xfrm>
              <a:off x="4634223" y="2512291"/>
              <a:ext cx="54776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C63BF45E-4692-E5E0-42E4-C5FF807D14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45648" y="2874756"/>
              <a:ext cx="536336" cy="906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D86EA161-2815-D3BA-ACCD-0E05F29C7D64}"/>
                </a:ext>
              </a:extLst>
            </p:cNvPr>
            <p:cNvCxnSpPr>
              <a:cxnSpLocks/>
            </p:cNvCxnSpPr>
            <p:nvPr/>
          </p:nvCxnSpPr>
          <p:spPr>
            <a:xfrm>
              <a:off x="4636412" y="3263660"/>
              <a:ext cx="5455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E4138572-937B-FC66-9AA2-4850E303B4C6}"/>
                </a:ext>
              </a:extLst>
            </p:cNvPr>
            <p:cNvCxnSpPr>
              <a:cxnSpLocks/>
            </p:cNvCxnSpPr>
            <p:nvPr/>
          </p:nvCxnSpPr>
          <p:spPr>
            <a:xfrm>
              <a:off x="4687212" y="4710545"/>
              <a:ext cx="4947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831210E5-00B8-B0E2-7F8F-2D414B7FB8D9}"/>
              </a:ext>
            </a:extLst>
          </p:cNvPr>
          <p:cNvGrpSpPr/>
          <p:nvPr/>
        </p:nvGrpSpPr>
        <p:grpSpPr>
          <a:xfrm>
            <a:off x="4330626" y="1690508"/>
            <a:ext cx="5450684" cy="3978204"/>
            <a:chOff x="5106480" y="1210272"/>
            <a:chExt cx="5450684" cy="3978204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AB27AFBA-7D5A-EEB7-9AE7-7866C577AFAE}"/>
                </a:ext>
              </a:extLst>
            </p:cNvPr>
            <p:cNvSpPr/>
            <p:nvPr/>
          </p:nvSpPr>
          <p:spPr>
            <a:xfrm>
              <a:off x="5106480" y="1974702"/>
              <a:ext cx="2256103" cy="3213774"/>
            </a:xfrm>
            <a:prstGeom prst="roundRect">
              <a:avLst/>
            </a:prstGeom>
            <a:solidFill>
              <a:srgbClr val="CBF9E4"/>
            </a:solidFill>
            <a:ln>
              <a:noFill/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/>
            </a:sp3d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مدل مبدل متن به</a:t>
              </a:r>
            </a:p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 بردار معنایی</a:t>
              </a:r>
              <a:endParaRPr lang="en-US" b="1" dirty="0">
                <a:cs typeface="B Nazanin" panose="00000400000000000000" pitchFamily="2" charset="-78"/>
              </a:endParaRPr>
            </a:p>
            <a:p>
              <a:pPr algn="ctr"/>
              <a:endParaRPr lang="en-US" dirty="0"/>
            </a:p>
            <a:p>
              <a:pPr algn="ctr"/>
              <a:r>
                <a:rPr lang="en-US" b="1" dirty="0"/>
                <a:t>Embedding model</a:t>
              </a:r>
              <a:endParaRPr lang="fa-IR" b="1" dirty="0"/>
            </a:p>
          </p:txBody>
        </p:sp>
        <p:sp>
          <p:nvSpPr>
            <p:cNvPr id="64" name="Rectangle: Rounded Corners 63">
              <a:extLst>
                <a:ext uri="{FF2B5EF4-FFF2-40B4-BE49-F238E27FC236}">
                  <a16:creationId xmlns:a16="http://schemas.microsoft.com/office/drawing/2014/main" id="{447E53A9-02EA-4EA3-8DDF-0D1C07F6E4AA}"/>
                </a:ext>
              </a:extLst>
            </p:cNvPr>
            <p:cNvSpPr/>
            <p:nvPr/>
          </p:nvSpPr>
          <p:spPr>
            <a:xfrm>
              <a:off x="7629235" y="213328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[ 0.16   0.53   0.31   0.09 …  0.87]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75F09960-2F6E-A11E-5F9B-15C891D071BD}"/>
                </a:ext>
              </a:extLst>
            </p:cNvPr>
            <p:cNvSpPr/>
            <p:nvPr/>
          </p:nvSpPr>
          <p:spPr>
            <a:xfrm>
              <a:off x="7629236" y="1210272"/>
              <a:ext cx="2927926" cy="687953"/>
            </a:xfrm>
            <a:prstGeom prst="roundRect">
              <a:avLst/>
            </a:prstGeom>
            <a:gradFill>
              <a:gsLst>
                <a:gs pos="0">
                  <a:srgbClr val="D4E8C6"/>
                </a:gs>
                <a:gs pos="100000">
                  <a:srgbClr val="B7D8A0"/>
                </a:gs>
                <a:gs pos="53000">
                  <a:srgbClr val="C9E2B8"/>
                </a:gs>
              </a:gsLst>
              <a:lin ang="5400000" scaled="0"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 err="1">
                  <a:solidFill>
                    <a:srgbClr val="2E471D"/>
                  </a:solidFill>
                  <a:cs typeface="B Nazanin" panose="00000400000000000000" pitchFamily="2" charset="-78"/>
                </a:rPr>
                <a:t>بردارهای</a:t>
              </a:r>
              <a:r>
                <a:rPr lang="fa-IR" b="1" dirty="0">
                  <a:solidFill>
                    <a:srgbClr val="2E471D"/>
                  </a:solidFill>
                  <a:cs typeface="B Nazanin" panose="00000400000000000000" pitchFamily="2" charset="-78"/>
                </a:rPr>
                <a:t> معنایی</a:t>
              </a:r>
              <a:endParaRPr lang="en-US" b="1" dirty="0">
                <a:solidFill>
                  <a:srgbClr val="2E471D"/>
                </a:solidFill>
                <a:cs typeface="B Nazanin" panose="00000400000000000000" pitchFamily="2" charset="-78"/>
              </a:endParaRPr>
            </a:p>
            <a:p>
              <a:pPr algn="ctr">
                <a:spcBef>
                  <a:spcPts val="600"/>
                </a:spcBef>
              </a:pPr>
              <a:r>
                <a:rPr lang="en-US" b="1" dirty="0" err="1">
                  <a:solidFill>
                    <a:srgbClr val="2E471D"/>
                  </a:solidFill>
                  <a:cs typeface="B Nazanin" panose="00000400000000000000" pitchFamily="2" charset="-78"/>
                </a:rPr>
                <a:t>Semanic</a:t>
              </a:r>
              <a:r>
                <a:rPr lang="en-US" b="1" dirty="0">
                  <a:solidFill>
                    <a:srgbClr val="2E471D"/>
                  </a:solidFill>
                  <a:cs typeface="B Nazanin" panose="00000400000000000000" pitchFamily="2" charset="-78"/>
                </a:rPr>
                <a:t> vectors</a:t>
              </a:r>
              <a:endParaRPr lang="fa-IR" b="1" dirty="0">
                <a:solidFill>
                  <a:srgbClr val="2E471D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EF4B7B96-FB7B-99EE-85D8-04E6E701AEF3}"/>
                </a:ext>
              </a:extLst>
            </p:cNvPr>
            <p:cNvSpPr/>
            <p:nvPr/>
          </p:nvSpPr>
          <p:spPr>
            <a:xfrm>
              <a:off x="7629233" y="2581738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[ 0.71   0.42   0.25   0.23 …  0.79]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3" name="Rectangle: Rounded Corners 72">
              <a:extLst>
                <a:ext uri="{FF2B5EF4-FFF2-40B4-BE49-F238E27FC236}">
                  <a16:creationId xmlns:a16="http://schemas.microsoft.com/office/drawing/2014/main" id="{5330C6A4-02B5-B8BC-9D7B-B8EABA2CB8AD}"/>
                </a:ext>
              </a:extLst>
            </p:cNvPr>
            <p:cNvSpPr/>
            <p:nvPr/>
          </p:nvSpPr>
          <p:spPr>
            <a:xfrm>
              <a:off x="7629234" y="3048659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[ 0.21   0.68   0.26   0.09 …  0.65]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2C9F8B45-FC8F-96A9-C8B4-3EA7CCD71651}"/>
                </a:ext>
              </a:extLst>
            </p:cNvPr>
            <p:cNvSpPr/>
            <p:nvPr/>
          </p:nvSpPr>
          <p:spPr>
            <a:xfrm>
              <a:off x="7629235" y="4495544"/>
              <a:ext cx="2927929" cy="296452"/>
            </a:xfrm>
            <a:prstGeom prst="roundRect">
              <a:avLst/>
            </a:prstGeom>
            <a:gradFill flip="none" rotWithShape="1">
              <a:gsLst>
                <a:gs pos="0">
                  <a:schemeClr val="accent6">
                    <a:lumMod val="40000"/>
                    <a:lumOff val="60000"/>
                    <a:tint val="66000"/>
                    <a:satMod val="160000"/>
                  </a:schemeClr>
                </a:gs>
                <a:gs pos="50000">
                  <a:schemeClr val="accent6">
                    <a:lumMod val="40000"/>
                    <a:lumOff val="60000"/>
                    <a:tint val="44500"/>
                    <a:satMod val="160000"/>
                  </a:schemeClr>
                </a:gs>
                <a:gs pos="100000">
                  <a:schemeClr val="accent6">
                    <a:lumMod val="40000"/>
                    <a:lumOff val="60000"/>
                    <a:tint val="23500"/>
                    <a:satMod val="160000"/>
                  </a:schemeClr>
                </a:gs>
              </a:gsLst>
              <a:lin ang="18900000" scaled="1"/>
              <a:tileRect/>
            </a:gradFill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[ 0.39   0.13   0.48   0.77 …  0.37]</a:t>
              </a:r>
              <a:endParaRPr lang="fa-IR" sz="1600" dirty="0">
                <a:solidFill>
                  <a:schemeClr val="tx1"/>
                </a:solidFill>
              </a:endParaRPr>
            </a:p>
          </p:txBody>
        </p: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F583DA30-D8C9-31CB-9F64-38A514A9334F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4643770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0E4B0A73-9908-5D28-8EC3-6EE22290BD33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299987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86D93FE1-EEC4-F8AA-1D86-0E37053A8040}"/>
                </a:ext>
              </a:extLst>
            </p:cNvPr>
            <p:cNvCxnSpPr>
              <a:cxnSpLocks/>
            </p:cNvCxnSpPr>
            <p:nvPr/>
          </p:nvCxnSpPr>
          <p:spPr>
            <a:xfrm>
              <a:off x="7361621" y="2748436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FC785F07-4337-5555-1CAB-3C1319BC2567}"/>
                </a:ext>
              </a:extLst>
            </p:cNvPr>
            <p:cNvCxnSpPr>
              <a:cxnSpLocks/>
            </p:cNvCxnSpPr>
            <p:nvPr/>
          </p:nvCxnSpPr>
          <p:spPr>
            <a:xfrm>
              <a:off x="7362583" y="3217855"/>
              <a:ext cx="26761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98" name="Picture 97">
            <a:extLst>
              <a:ext uri="{FF2B5EF4-FFF2-40B4-BE49-F238E27FC236}">
                <a16:creationId xmlns:a16="http://schemas.microsoft.com/office/drawing/2014/main" id="{B71544E2-6F04-B2C8-0865-FB8C0A36EF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7042" y="2673931"/>
            <a:ext cx="1629042" cy="1629042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1AE43193-D860-EB50-5C75-7B4458DB5A5C}"/>
              </a:ext>
            </a:extLst>
          </p:cNvPr>
          <p:cNvSpPr txBox="1"/>
          <p:nvPr/>
        </p:nvSpPr>
        <p:spPr>
          <a:xfrm>
            <a:off x="10244907" y="4246800"/>
            <a:ext cx="1776811" cy="7232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>
              <a:spcBef>
                <a:spcPts val="600"/>
              </a:spcBef>
            </a:pPr>
            <a:r>
              <a:rPr lang="fa-IR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پایگاه داده برداری</a:t>
            </a:r>
          </a:p>
          <a:p>
            <a:pPr algn="ctr">
              <a:spcBef>
                <a:spcPts val="600"/>
              </a:spcBef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Vector Database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7C6082F-7D99-AB2F-F417-63931E4EDCD4}"/>
              </a:ext>
            </a:extLst>
          </p:cNvPr>
          <p:cNvSpPr txBox="1"/>
          <p:nvPr/>
        </p:nvSpPr>
        <p:spPr>
          <a:xfrm>
            <a:off x="8148156" y="5735837"/>
            <a:ext cx="3799611" cy="64633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ذخیره سازی </a:t>
            </a:r>
            <a:r>
              <a:rPr lang="fa-IR" b="1" dirty="0" err="1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تکه‌متن</a:t>
            </a:r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 به همراه بردار </a:t>
            </a:r>
            <a:r>
              <a:rPr lang="fa-IR" b="1" dirty="0" err="1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معنایی‌اش</a:t>
            </a:r>
            <a:endParaRPr lang="fa-IR" b="1" dirty="0">
              <a:solidFill>
                <a:schemeClr val="accent6">
                  <a:lumMod val="50000"/>
                </a:schemeClr>
              </a:solidFill>
              <a:cs typeface="B Nazanin" panose="00000400000000000000" pitchFamily="2" charset="-78"/>
            </a:endParaRPr>
          </a:p>
          <a:p>
            <a:pPr algn="r" rtl="1"/>
            <a:r>
              <a:rPr lang="fa-IR" b="1" dirty="0">
                <a:solidFill>
                  <a:schemeClr val="accent6">
                    <a:lumMod val="50000"/>
                  </a:schemeClr>
                </a:solidFill>
                <a:cs typeface="B Nazanin" panose="00000400000000000000" pitchFamily="2" charset="-78"/>
              </a:rPr>
              <a:t>در پایگاه داده برداری </a:t>
            </a:r>
          </a:p>
        </p:txBody>
      </p:sp>
      <p:cxnSp>
        <p:nvCxnSpPr>
          <p:cNvPr id="116" name="Connector: Curved 115">
            <a:extLst>
              <a:ext uri="{FF2B5EF4-FFF2-40B4-BE49-F238E27FC236}">
                <a16:creationId xmlns:a16="http://schemas.microsoft.com/office/drawing/2014/main" id="{1773F58E-B6AE-5894-0053-96507427CC04}"/>
              </a:ext>
            </a:extLst>
          </p:cNvPr>
          <p:cNvCxnSpPr>
            <a:cxnSpLocks/>
          </p:cNvCxnSpPr>
          <p:nvPr/>
        </p:nvCxnSpPr>
        <p:spPr>
          <a:xfrm rot="16200000" flipH="1">
            <a:off x="9911366" y="4836049"/>
            <a:ext cx="1004066" cy="73087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0" name="Connector: Curved 119">
            <a:extLst>
              <a:ext uri="{FF2B5EF4-FFF2-40B4-BE49-F238E27FC236}">
                <a16:creationId xmlns:a16="http://schemas.microsoft.com/office/drawing/2014/main" id="{489A0380-DB57-7ED7-20A0-8A52EC0645DC}"/>
              </a:ext>
            </a:extLst>
          </p:cNvPr>
          <p:cNvCxnSpPr>
            <a:cxnSpLocks/>
          </p:cNvCxnSpPr>
          <p:nvPr/>
        </p:nvCxnSpPr>
        <p:spPr>
          <a:xfrm rot="5400000">
            <a:off x="3125437" y="2474449"/>
            <a:ext cx="293056" cy="254034"/>
          </a:xfrm>
          <a:prstGeom prst="curvedConnector3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9BEF3BC7-5CA4-5B6C-0836-894076352570}"/>
              </a:ext>
            </a:extLst>
          </p:cNvPr>
          <p:cNvSpPr txBox="1"/>
          <p:nvPr/>
        </p:nvSpPr>
        <p:spPr>
          <a:xfrm>
            <a:off x="3027532" y="2136399"/>
            <a:ext cx="977800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b="1" dirty="0" err="1">
                <a:solidFill>
                  <a:srgbClr val="567FCA"/>
                </a:solidFill>
                <a:cs typeface="B Nazanin" panose="00000400000000000000" pitchFamily="2" charset="-78"/>
              </a:rPr>
              <a:t>تکه‌متن‌ها</a:t>
            </a:r>
            <a:endParaRPr lang="fa-IR" b="1" dirty="0">
              <a:solidFill>
                <a:srgbClr val="567FCA"/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902217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Arrow: Right 39">
            <a:extLst>
              <a:ext uri="{FF2B5EF4-FFF2-40B4-BE49-F238E27FC236}">
                <a16:creationId xmlns:a16="http://schemas.microsoft.com/office/drawing/2014/main" id="{9692C625-027B-5A93-F37C-56583E07D0A4}"/>
              </a:ext>
            </a:extLst>
          </p:cNvPr>
          <p:cNvSpPr/>
          <p:nvPr/>
        </p:nvSpPr>
        <p:spPr>
          <a:xfrm>
            <a:off x="3101143" y="5012248"/>
            <a:ext cx="1920944" cy="388648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C722032-AB4E-9523-B558-4043A13FEE56}"/>
              </a:ext>
            </a:extLst>
          </p:cNvPr>
          <p:cNvSpPr/>
          <p:nvPr/>
        </p:nvSpPr>
        <p:spPr>
          <a:xfrm>
            <a:off x="6556980" y="2087662"/>
            <a:ext cx="721650" cy="441000"/>
          </a:xfrm>
          <a:prstGeom prst="rightArrow">
            <a:avLst>
              <a:gd name="adj1" fmla="val 50000"/>
              <a:gd name="adj2" fmla="val 56283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14C018E-445C-BBD5-46C0-7C13A31E8215}"/>
              </a:ext>
            </a:extLst>
          </p:cNvPr>
          <p:cNvSpPr/>
          <p:nvPr/>
        </p:nvSpPr>
        <p:spPr>
          <a:xfrm>
            <a:off x="10015240" y="1547323"/>
            <a:ext cx="1539189" cy="1443317"/>
          </a:xfrm>
          <a:prstGeom prst="ellipse">
            <a:avLst/>
          </a:prstGeom>
          <a:solidFill>
            <a:srgbClr val="E3B5F5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600" b="1" dirty="0">
                <a:solidFill>
                  <a:schemeClr val="tx1"/>
                </a:solidFill>
                <a:cs typeface="B Nazanin" panose="00000400000000000000" pitchFamily="2" charset="-78"/>
              </a:rPr>
              <a:t>پاسخ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51FC2D48-6718-497F-AA64-B0CBCFDDAB23}"/>
              </a:ext>
            </a:extLst>
          </p:cNvPr>
          <p:cNvSpPr/>
          <p:nvPr/>
        </p:nvSpPr>
        <p:spPr>
          <a:xfrm rot="4243803">
            <a:off x="837567" y="3675643"/>
            <a:ext cx="1580167" cy="310376"/>
          </a:xfrm>
          <a:prstGeom prst="rightArrow">
            <a:avLst>
              <a:gd name="adj1" fmla="val 50000"/>
              <a:gd name="adj2" fmla="val 91926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endParaRPr lang="fa-IR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227C395-9A62-0269-D519-C715B5C3AFE2}"/>
              </a:ext>
            </a:extLst>
          </p:cNvPr>
          <p:cNvSpPr/>
          <p:nvPr/>
        </p:nvSpPr>
        <p:spPr>
          <a:xfrm>
            <a:off x="479931" y="4596689"/>
            <a:ext cx="2713574" cy="1180831"/>
          </a:xfrm>
          <a:prstGeom prst="roundRect">
            <a:avLst/>
          </a:prstGeom>
          <a:gradFill>
            <a:gsLst>
              <a:gs pos="0">
                <a:schemeClr val="accent1">
                  <a:lumMod val="110000"/>
                  <a:satMod val="105000"/>
                  <a:tint val="67000"/>
                </a:schemeClr>
              </a:gs>
              <a:gs pos="50000">
                <a:srgbClr val="B3C0E3"/>
              </a:gs>
              <a:gs pos="100000">
                <a:srgbClr val="9DB0DF"/>
              </a:gs>
            </a:gsLst>
          </a:gra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r>
              <a:rPr lang="fa-IR" b="1" dirty="0">
                <a:solidFill>
                  <a:srgbClr val="060730"/>
                </a:solidFill>
                <a:cs typeface="B Nazanin" panose="00000400000000000000" pitchFamily="2" charset="-78"/>
              </a:rPr>
              <a:t>مدل مبدل متن به بردار معنایی</a:t>
            </a:r>
            <a:endParaRPr lang="en-US" b="1" dirty="0">
              <a:solidFill>
                <a:srgbClr val="060730"/>
              </a:solidFill>
              <a:cs typeface="B Nazanin" panose="00000400000000000000" pitchFamily="2" charset="-78"/>
            </a:endParaRPr>
          </a:p>
          <a:p>
            <a:pPr algn="ctr"/>
            <a:endParaRPr lang="en-US" dirty="0">
              <a:solidFill>
                <a:srgbClr val="060730"/>
              </a:solidFill>
            </a:endParaRPr>
          </a:p>
          <a:p>
            <a:pPr algn="ctr"/>
            <a:r>
              <a:rPr lang="en-US" b="1" dirty="0">
                <a:solidFill>
                  <a:srgbClr val="060730"/>
                </a:solidFill>
              </a:rPr>
              <a:t>Embedding model</a:t>
            </a:r>
            <a:endParaRPr lang="fa-IR" b="1" dirty="0">
              <a:solidFill>
                <a:srgbClr val="060730"/>
              </a:solidFill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8C538AB-8859-E96F-61C4-C95ABE1E7F37}"/>
              </a:ext>
            </a:extLst>
          </p:cNvPr>
          <p:cNvGrpSpPr/>
          <p:nvPr/>
        </p:nvGrpSpPr>
        <p:grpSpPr>
          <a:xfrm>
            <a:off x="4872173" y="1504257"/>
            <a:ext cx="1777862" cy="1738320"/>
            <a:chOff x="5554862" y="2758085"/>
            <a:chExt cx="1586831" cy="1350815"/>
          </a:xfrm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72FDC58-394B-674D-35EA-88F52172055C}"/>
                </a:ext>
              </a:extLst>
            </p:cNvPr>
            <p:cNvSpPr/>
            <p:nvPr/>
          </p:nvSpPr>
          <p:spPr>
            <a:xfrm>
              <a:off x="5771104" y="2758085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0000"/>
                    <a:lumOff val="40000"/>
                    <a:shade val="30000"/>
                    <a:satMod val="115000"/>
                  </a:schemeClr>
                </a:gs>
                <a:gs pos="50000">
                  <a:schemeClr val="accent1">
                    <a:lumMod val="60000"/>
                    <a:lumOff val="40000"/>
                    <a:shade val="67500"/>
                    <a:satMod val="115000"/>
                  </a:schemeClr>
                </a:gs>
                <a:gs pos="100000">
                  <a:schemeClr val="accent1">
                    <a:lumMod val="60000"/>
                    <a:lumOff val="40000"/>
                    <a:shade val="100000"/>
                    <a:satMod val="115000"/>
                  </a:schemeClr>
                </a:gs>
              </a:gsLst>
              <a:lin ang="81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468D31C-E7A4-2243-153E-2D9831D1AD59}"/>
                </a:ext>
              </a:extLst>
            </p:cNvPr>
            <p:cNvSpPr/>
            <p:nvPr/>
          </p:nvSpPr>
          <p:spPr>
            <a:xfrm>
              <a:off x="5667837" y="2871363"/>
              <a:ext cx="1370589" cy="1029494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D0E21A20-FC60-B3F4-E52D-434BC2487277}"/>
                </a:ext>
              </a:extLst>
            </p:cNvPr>
            <p:cNvSpPr/>
            <p:nvPr/>
          </p:nvSpPr>
          <p:spPr>
            <a:xfrm>
              <a:off x="5554862" y="2985133"/>
              <a:ext cx="1370589" cy="1123767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67000"/>
                  </a:schemeClr>
                </a:gs>
                <a:gs pos="48000">
                  <a:schemeClr val="accent1">
                    <a:lumMod val="97000"/>
                    <a:lumOff val="3000"/>
                  </a:schemeClr>
                </a:gs>
                <a:gs pos="100000">
                  <a:schemeClr val="accent1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مضامین مرتبط دریافت شده</a:t>
              </a:r>
            </a:p>
            <a:p>
              <a:pPr algn="ctr"/>
              <a:endParaRPr lang="fa-IR" dirty="0"/>
            </a:p>
            <a:p>
              <a:pPr algn="ctr"/>
              <a:r>
                <a:rPr lang="en-US" b="1" dirty="0"/>
                <a:t>Retrieved contexts</a:t>
              </a:r>
              <a:endParaRPr lang="fa-IR" b="1" dirty="0"/>
            </a:p>
          </p:txBody>
        </p:sp>
      </p:grpSp>
      <p:sp>
        <p:nvSpPr>
          <p:cNvPr id="39" name="Arrow: Curved Down 38">
            <a:extLst>
              <a:ext uri="{FF2B5EF4-FFF2-40B4-BE49-F238E27FC236}">
                <a16:creationId xmlns:a16="http://schemas.microsoft.com/office/drawing/2014/main" id="{3F63B1EB-BD85-DE5A-0E9B-DD512A4DDE05}"/>
              </a:ext>
            </a:extLst>
          </p:cNvPr>
          <p:cNvSpPr/>
          <p:nvPr/>
        </p:nvSpPr>
        <p:spPr>
          <a:xfrm rot="20762065">
            <a:off x="811502" y="740928"/>
            <a:ext cx="7740934" cy="1459870"/>
          </a:xfrm>
          <a:prstGeom prst="curvedDownArrow">
            <a:avLst>
              <a:gd name="adj1" fmla="val 15597"/>
              <a:gd name="adj2" fmla="val 37953"/>
              <a:gd name="adj3" fmla="val 20984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489D919-6574-5CE1-D5FE-EFB31CEF32CE}"/>
              </a:ext>
            </a:extLst>
          </p:cNvPr>
          <p:cNvSpPr/>
          <p:nvPr/>
        </p:nvSpPr>
        <p:spPr>
          <a:xfrm>
            <a:off x="479930" y="2382572"/>
            <a:ext cx="1456817" cy="106517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b="1" dirty="0">
                <a:solidFill>
                  <a:srgbClr val="2A2A2A"/>
                </a:solidFill>
                <a:cs typeface="B Nazanin" panose="00000400000000000000" pitchFamily="2" charset="-78"/>
              </a:rPr>
              <a:t>سوال کاربر</a:t>
            </a:r>
          </a:p>
          <a:p>
            <a:pPr algn="ctr"/>
            <a:endParaRPr lang="fa-IR" dirty="0">
              <a:solidFill>
                <a:srgbClr val="2A2A2A"/>
              </a:solidFill>
              <a:cs typeface="B Nazanin" panose="00000400000000000000" pitchFamily="2" charset="-78"/>
            </a:endParaRPr>
          </a:p>
          <a:p>
            <a:pPr algn="ctr"/>
            <a:r>
              <a:rPr lang="en-US" b="1" dirty="0">
                <a:solidFill>
                  <a:srgbClr val="2A2A2A"/>
                </a:solidFill>
              </a:rPr>
              <a:t>User query</a:t>
            </a:r>
            <a:endParaRPr lang="fa-IR" b="1" dirty="0">
              <a:solidFill>
                <a:srgbClr val="2A2A2A"/>
              </a:solidFill>
            </a:endParaRP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67F6738F-0F6E-43E3-A844-8DC6AF9A11CB}"/>
              </a:ext>
            </a:extLst>
          </p:cNvPr>
          <p:cNvSpPr/>
          <p:nvPr/>
        </p:nvSpPr>
        <p:spPr>
          <a:xfrm rot="16200000">
            <a:off x="5013222" y="3671856"/>
            <a:ext cx="1238619" cy="388586"/>
          </a:xfrm>
          <a:prstGeom prst="rightArrow">
            <a:avLst>
              <a:gd name="adj1" fmla="val 50000"/>
              <a:gd name="adj2" fmla="val 69015"/>
            </a:avLst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596350C9-1CF9-467F-8D67-1091778C3DB8}"/>
              </a:ext>
            </a:extLst>
          </p:cNvPr>
          <p:cNvSpPr/>
          <p:nvPr/>
        </p:nvSpPr>
        <p:spPr>
          <a:xfrm>
            <a:off x="8882941" y="2087743"/>
            <a:ext cx="1067717" cy="441000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09E4A1-ED33-FD79-E2E3-AE34A3445717}"/>
              </a:ext>
            </a:extLst>
          </p:cNvPr>
          <p:cNvSpPr txBox="1"/>
          <p:nvPr/>
        </p:nvSpPr>
        <p:spPr>
          <a:xfrm>
            <a:off x="7948541" y="333281"/>
            <a:ext cx="3851565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fa-IR" sz="2800" b="1" dirty="0" err="1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شِمای</a:t>
            </a:r>
            <a:r>
              <a:rPr lang="fa-IR" sz="28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 کلی فرآیند </a:t>
            </a:r>
            <a:r>
              <a:rPr lang="en-US" sz="2800" b="1" dirty="0">
                <a:solidFill>
                  <a:schemeClr val="accent5">
                    <a:lumMod val="75000"/>
                  </a:schemeClr>
                </a:solidFill>
                <a:cs typeface="B Nazanin" panose="00000400000000000000" pitchFamily="2" charset="-78"/>
              </a:rPr>
              <a:t>RAG</a:t>
            </a:r>
            <a:endParaRPr lang="fa-IR" sz="2800" b="1" dirty="0">
              <a:solidFill>
                <a:schemeClr val="accent5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4646134-CB8A-FED7-FCE1-29FDDD2E9240}"/>
              </a:ext>
            </a:extLst>
          </p:cNvPr>
          <p:cNvGrpSpPr/>
          <p:nvPr/>
        </p:nvGrpSpPr>
        <p:grpSpPr>
          <a:xfrm>
            <a:off x="6331036" y="4175948"/>
            <a:ext cx="1525364" cy="1810796"/>
            <a:chOff x="6576755" y="4518907"/>
            <a:chExt cx="1525364" cy="181079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0D65672-829E-6F4C-1C0B-1207D7BCB32D}"/>
                </a:ext>
              </a:extLst>
            </p:cNvPr>
            <p:cNvSpPr/>
            <p:nvPr/>
          </p:nvSpPr>
          <p:spPr>
            <a:xfrm>
              <a:off x="6594765" y="4518907"/>
              <a:ext cx="1507354" cy="1810796"/>
            </a:xfrm>
            <a:prstGeom prst="rect">
              <a:avLst/>
            </a:prstGeom>
            <a:blipFill>
              <a:blip r:embed="rId3"/>
              <a:tile tx="0" ty="0" sx="100000" sy="100000" flip="none" algn="tl"/>
            </a:blip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6F095A3-1F94-5F80-670B-5E2080780D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761587"/>
              <a:ext cx="534462" cy="534462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2AEFF4C-2378-419B-1E81-744AA8F88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4572637"/>
              <a:ext cx="534462" cy="534462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C94978B0-70E1-8FED-EEC3-361FB049A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76755" y="5167112"/>
              <a:ext cx="534462" cy="534462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DFE2187-33F8-92B3-D040-464685DB4F2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5760845"/>
              <a:ext cx="534462" cy="534462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9AAC07A1-91A3-F15C-E503-DBBCFE1CD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2056" y="4572637"/>
              <a:ext cx="534462" cy="53446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0E413569-2C8A-4325-3BB2-41141CA467D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77628" y="5184975"/>
              <a:ext cx="534462" cy="534462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5C053C7-6A68-E274-9C10-D25BA05E5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761587"/>
              <a:ext cx="534462" cy="534462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FF65AD56-881D-646C-EFFF-DF22FE5CC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4572637"/>
              <a:ext cx="534462" cy="534462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91E1418-CA47-BE84-01D4-710ECB042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7656" y="5167112"/>
              <a:ext cx="534462" cy="534462"/>
            </a:xfrm>
            <a:prstGeom prst="rect">
              <a:avLst/>
            </a:prstGeom>
          </p:spPr>
        </p:pic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186480C9-DA08-387F-5832-00FC56507BE4}"/>
              </a:ext>
            </a:extLst>
          </p:cNvPr>
          <p:cNvSpPr txBox="1"/>
          <p:nvPr/>
        </p:nvSpPr>
        <p:spPr>
          <a:xfrm>
            <a:off x="6331036" y="3646771"/>
            <a:ext cx="1591397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جستجوی شباهت</a:t>
            </a:r>
          </a:p>
          <a:p>
            <a:pPr algn="ctr"/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Similarity search</a:t>
            </a:r>
            <a:endParaRPr lang="fa-IR" sz="16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A925E3A-474B-CDE3-D34D-59906CF6A744}"/>
              </a:ext>
            </a:extLst>
          </p:cNvPr>
          <p:cNvSpPr txBox="1"/>
          <p:nvPr/>
        </p:nvSpPr>
        <p:spPr>
          <a:xfrm>
            <a:off x="303564" y="5845275"/>
            <a:ext cx="3635961" cy="58477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 rtl="1"/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تبدیل سوال به بردار معنایی (</a:t>
            </a:r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Semantic vector</a:t>
            </a:r>
            <a:r>
              <a:rPr lang="fa-IR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)</a:t>
            </a:r>
            <a:endParaRPr lang="en-US" sz="1600" b="1" dirty="0">
              <a:solidFill>
                <a:srgbClr val="002060"/>
              </a:solidFill>
              <a:cs typeface="B Nazanin" panose="00000400000000000000" pitchFamily="2" charset="-78"/>
            </a:endParaRPr>
          </a:p>
          <a:p>
            <a:pPr algn="ctr" rtl="1"/>
            <a:r>
              <a:rPr lang="en-US" sz="1600" b="1" dirty="0">
                <a:solidFill>
                  <a:srgbClr val="002060"/>
                </a:solidFill>
                <a:cs typeface="B Nazanin" panose="00000400000000000000" pitchFamily="2" charset="-78"/>
              </a:rPr>
              <a:t>[0.71  0.23  …  0.06  0.94]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01D0E8F-DE88-5521-CA7F-F1275D7487DF}"/>
              </a:ext>
            </a:extLst>
          </p:cNvPr>
          <p:cNvGrpSpPr/>
          <p:nvPr/>
        </p:nvGrpSpPr>
        <p:grpSpPr>
          <a:xfrm>
            <a:off x="7308764" y="1351365"/>
            <a:ext cx="2106598" cy="1913593"/>
            <a:chOff x="7308764" y="1351365"/>
            <a:chExt cx="2106598" cy="1913593"/>
          </a:xfrm>
        </p:grpSpPr>
        <p:sp>
          <p:nvSpPr>
            <p:cNvPr id="35" name="Diamond 34">
              <a:extLst>
                <a:ext uri="{FF2B5EF4-FFF2-40B4-BE49-F238E27FC236}">
                  <a16:creationId xmlns:a16="http://schemas.microsoft.com/office/drawing/2014/main" id="{E9705E75-6B1D-8AD9-14D9-757D6948F738}"/>
                </a:ext>
              </a:extLst>
            </p:cNvPr>
            <p:cNvSpPr/>
            <p:nvPr/>
          </p:nvSpPr>
          <p:spPr>
            <a:xfrm>
              <a:off x="7308764" y="1351365"/>
              <a:ext cx="2106598" cy="1913593"/>
            </a:xfrm>
            <a:prstGeom prst="diamond">
              <a:avLst/>
            </a:prstGeom>
            <a:ln>
              <a:noFill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>
              <a:bevelT w="190500" h="38100" prst="coolSlant"/>
            </a:sp3d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1" anchor="ctr"/>
            <a:lstStyle/>
            <a:p>
              <a:pPr algn="ctr"/>
              <a:endParaRPr lang="fa-IR" b="1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0CE78CC-DA96-F4F1-1B7D-8BB9369183D2}"/>
                </a:ext>
              </a:extLst>
            </p:cNvPr>
            <p:cNvSpPr txBox="1"/>
            <p:nvPr/>
          </p:nvSpPr>
          <p:spPr>
            <a:xfrm>
              <a:off x="7592468" y="2026004"/>
              <a:ext cx="1539190" cy="646331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ctr"/>
              <a:r>
                <a:rPr lang="fa-IR" b="1" dirty="0">
                  <a:solidFill>
                    <a:srgbClr val="2C451B"/>
                  </a:solidFill>
                  <a:cs typeface="B Nazanin" panose="00000400000000000000" pitchFamily="2" charset="-78"/>
                </a:rPr>
                <a:t>مدل زبانی بزرگ</a:t>
              </a:r>
            </a:p>
            <a:p>
              <a:pPr algn="ctr"/>
              <a:r>
                <a:rPr lang="en-US" b="1" dirty="0">
                  <a:solidFill>
                    <a:srgbClr val="2C451B"/>
                  </a:solidFill>
                  <a:cs typeface="+mj-cs"/>
                </a:rPr>
                <a:t>(LLM)</a:t>
              </a:r>
              <a:endParaRPr lang="fa-IR" b="1" dirty="0">
                <a:solidFill>
                  <a:srgbClr val="2C451B"/>
                </a:solidFill>
                <a:cs typeface="+mj-cs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1AC17729-C00B-69F4-0A02-2227AEE13DC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6210" y="4432709"/>
            <a:ext cx="1629042" cy="1629042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FDD27A9-B517-22E9-70D7-969CCC686F6F}"/>
              </a:ext>
            </a:extLst>
          </p:cNvPr>
          <p:cNvSpPr txBox="1"/>
          <p:nvPr/>
        </p:nvSpPr>
        <p:spPr>
          <a:xfrm>
            <a:off x="4759352" y="6016740"/>
            <a:ext cx="17427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a-IR" b="1" dirty="0">
                <a:solidFill>
                  <a:schemeClr val="accent5">
                    <a:lumMod val="50000"/>
                  </a:schemeClr>
                </a:solidFill>
                <a:cs typeface="B Nazanin" panose="00000400000000000000" pitchFamily="2" charset="-78"/>
              </a:rPr>
              <a:t>پایگاه داده برداری</a:t>
            </a:r>
          </a:p>
          <a:p>
            <a:pPr algn="ctr"/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Vector Database</a:t>
            </a:r>
            <a:endParaRPr lang="fa-IR" b="1" dirty="0">
              <a:solidFill>
                <a:schemeClr val="accent5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71350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24BA2-EFED-7EF0-FD56-1DDC45D4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sz="4400" b="1" dirty="0" err="1">
                <a:cs typeface="B Nazanin" panose="00000400000000000000" pitchFamily="2" charset="-78"/>
              </a:rPr>
              <a:t>شِمای</a:t>
            </a:r>
            <a:r>
              <a:rPr lang="fa-IR" sz="4400" b="1" dirty="0">
                <a:cs typeface="B Nazanin" panose="00000400000000000000" pitchFamily="2" charset="-78"/>
              </a:rPr>
              <a:t> کلی فرآیند </a:t>
            </a:r>
            <a:r>
              <a:rPr lang="en-US" sz="4400" b="1" dirty="0">
                <a:cs typeface="B Nazanin" panose="00000400000000000000" pitchFamily="2" charset="-78"/>
              </a:rPr>
              <a:t>Fine-tuning</a:t>
            </a:r>
            <a:br>
              <a:rPr lang="fa-IR" sz="4400" b="1" dirty="0">
                <a:cs typeface="B Nazanin" panose="00000400000000000000" pitchFamily="2" charset="-78"/>
              </a:rPr>
            </a:b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06C3D-0A3A-5130-3BAE-C3F6242B4F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89615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20751-D6F9-8204-5F56-650410C25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7538" y="0"/>
            <a:ext cx="11558591" cy="750588"/>
          </a:xfrm>
        </p:spPr>
        <p:txBody>
          <a:bodyPr>
            <a:normAutofit/>
          </a:bodyPr>
          <a:lstStyle/>
          <a:p>
            <a:pPr algn="r" rtl="1"/>
            <a:r>
              <a:rPr lang="fa-IR" sz="3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مقایسه راهکارهای ایجاد دانش جدید در </a:t>
            </a:r>
            <a:r>
              <a:rPr lang="fa-IR" sz="3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  <a:endParaRPr lang="fa-IR" sz="30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81F7A35-33E6-1D7F-927A-A00B253186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4676431"/>
              </p:ext>
            </p:extLst>
          </p:nvPr>
        </p:nvGraphicFramePr>
        <p:xfrm>
          <a:off x="73893" y="713644"/>
          <a:ext cx="12044214" cy="6041372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471046">
                  <a:extLst>
                    <a:ext uri="{9D8B030D-6E8A-4147-A177-3AD203B41FA5}">
                      <a16:colId xmlns:a16="http://schemas.microsoft.com/office/drawing/2014/main" val="3606271277"/>
                    </a:ext>
                  </a:extLst>
                </a:gridCol>
                <a:gridCol w="3732787">
                  <a:extLst>
                    <a:ext uri="{9D8B030D-6E8A-4147-A177-3AD203B41FA5}">
                      <a16:colId xmlns:a16="http://schemas.microsoft.com/office/drawing/2014/main" val="3450439336"/>
                    </a:ext>
                  </a:extLst>
                </a:gridCol>
                <a:gridCol w="3273083">
                  <a:extLst>
                    <a:ext uri="{9D8B030D-6E8A-4147-A177-3AD203B41FA5}">
                      <a16:colId xmlns:a16="http://schemas.microsoft.com/office/drawing/2014/main" val="1743241370"/>
                    </a:ext>
                  </a:extLst>
                </a:gridCol>
                <a:gridCol w="3567298">
                  <a:extLst>
                    <a:ext uri="{9D8B030D-6E8A-4147-A177-3AD203B41FA5}">
                      <a16:colId xmlns:a16="http://schemas.microsoft.com/office/drawing/2014/main" val="4055511178"/>
                    </a:ext>
                  </a:extLst>
                </a:gridCol>
              </a:tblGrid>
              <a:tr h="499252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800" b="1" kern="12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شاخصه / روش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6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Pre-training</a:t>
                      </a:r>
                      <a:endParaRPr lang="fa-IR" sz="26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6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Fine-tuning</a:t>
                      </a:r>
                      <a:endParaRPr lang="fa-IR" sz="26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6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RAG</a:t>
                      </a:r>
                      <a:endParaRPr lang="fa-IR" sz="26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483953"/>
                  </a:ext>
                </a:extLst>
              </a:tr>
              <a:tr h="451529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تعریف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آموزش مدل زبانی از ابتدا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تنظیم دقیق مدل ‌زبانی روی </a:t>
                      </a:r>
                      <a:r>
                        <a:rPr lang="fa-IR" sz="1600" b="1" dirty="0" err="1">
                          <a:cs typeface="B Nazanin" panose="00000400000000000000" pitchFamily="2" charset="-78"/>
                        </a:rPr>
                        <a:t>داده‌های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جدید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تقویت ورودی مدل ‌زبانی با اطلاعات</a:t>
                      </a:r>
                      <a:r>
                        <a:rPr lang="en-US" sz="16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مرتبط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1915678"/>
                  </a:ext>
                </a:extLst>
              </a:tr>
              <a:tr h="138212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1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هزینه </a:t>
                      </a:r>
                      <a:r>
                        <a:rPr lang="fa-IR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محاسباتی</a:t>
                      </a: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 و زمانی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صدها هزار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چندین ماه یا سال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متخصص و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داده(</a:t>
                      </a:r>
                      <a:r>
                        <a:rPr lang="en-US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Dataset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)‌ عظیم 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چندین ساعت یا روز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یک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داده‌ پرسش و پاسخ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fa-IR" sz="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قابلیت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بهره‌برداری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آنی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تهیه مجموعه داده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افزودن منابع دانش و اطلاعات 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3008050"/>
                  </a:ext>
                </a:extLst>
              </a:tr>
              <a:tr h="1277498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نکات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0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فرآیندی بسیار پرهزینه و تخصصی‌ است.</a:t>
                      </a: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افزودن هر بار اطلاعات به مدل با این روش، علاوه بر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زمان‌بر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بودن، نیاز به تخصص دارد.</a:t>
                      </a: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امکان افزودن سریع و آسان منابع علمی و اطلاعات توسط مدیر و کاربران</a:t>
                      </a:r>
                    </a:p>
                    <a:p>
                      <a:pPr marL="0" indent="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215576"/>
                  </a:ext>
                </a:extLst>
              </a:tr>
              <a:tr h="2313145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2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موارد مناسب برای استفاده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تهیه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مدل‌زبانی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بر روی زبانی که تا به حال کار نشده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تهیه مدلی بهتر نسبت به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زبانی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متن‌باز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موجود، با از بین بردن نقاط ضعف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آن‌ها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توسعه علمی و تحقیقاتی حوزه پردازش زبان طبیعی/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بومی‌سازی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دانش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زبانی و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تربیت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وظیفه‌ای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(مثل متخصص ترجمه،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خلاصه‌نویسی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نگارش آکادمیک،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شعرسرایی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، </a:t>
                      </a:r>
                      <a:r>
                        <a:rPr lang="fa-IR" sz="12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برنامه‌نویسی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و ...)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تغییر ادبیات و بیان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شخصیت‌سازی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ربات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پرسش و پاسخ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فرازمینه‌ای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0" indent="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      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(</a:t>
                      </a:r>
                      <a:r>
                        <a:rPr lang="en-US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Open-domain Q&amp;A</a:t>
                      </a:r>
                      <a:r>
                        <a:rPr lang="fa-IR" sz="12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</a:t>
                      </a: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دستیار تحقیقاتی</a:t>
                      </a:r>
                      <a:endParaRPr lang="fa-IR" sz="12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مدیریت دانش سازمانی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جستجوی اسناد</a:t>
                      </a:r>
                      <a:r>
                        <a:rPr lang="en-US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 منابع اطلاعاتی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گزارش تحلیلی بر پایه اطلاعات از منابع مختلف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19477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72F3F76-9ABE-3C93-BEA7-0365DAF2DB01}"/>
              </a:ext>
            </a:extLst>
          </p:cNvPr>
          <p:cNvSpPr txBox="1"/>
          <p:nvPr/>
        </p:nvSpPr>
        <p:spPr>
          <a:xfrm>
            <a:off x="3435932" y="1970557"/>
            <a:ext cx="1671783" cy="24622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en-US" sz="1000" b="1" kern="1200" dirty="0">
                <a:solidFill>
                  <a:schemeClr val="dk1"/>
                </a:solidFill>
                <a:latin typeface="+mn-lt"/>
                <a:ea typeface="+mn-ea"/>
                <a:cs typeface="+mj-cs"/>
              </a:rPr>
              <a:t>8 * 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N_model</a:t>
            </a:r>
            <a:r>
              <a:rPr lang="en-US" sz="1000" b="1" dirty="0" err="1">
                <a:solidFill>
                  <a:schemeClr val="dk1"/>
                </a:solidFill>
                <a:cs typeface="+mj-cs"/>
              </a:rPr>
              <a:t>_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parameters</a:t>
            </a:r>
            <a:endParaRPr lang="fa-IR" sz="1000" dirty="0">
              <a:cs typeface="+mj-cs"/>
            </a:endParaRP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21DAF1BF-507C-6713-3752-E36BBE3B9EDB}"/>
              </a:ext>
            </a:extLst>
          </p:cNvPr>
          <p:cNvCxnSpPr>
            <a:cxnSpLocks/>
          </p:cNvCxnSpPr>
          <p:nvPr/>
        </p:nvCxnSpPr>
        <p:spPr>
          <a:xfrm rot="10800000" flipV="1">
            <a:off x="5070771" y="2030667"/>
            <a:ext cx="267855" cy="6924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7358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AB6C1-B27D-8A14-DA33-11A17B57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D92D2-C91B-9937-1162-C9FA092748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104" y="389602"/>
            <a:ext cx="10515600" cy="1325563"/>
          </a:xfrm>
        </p:spPr>
        <p:txBody>
          <a:bodyPr/>
          <a:lstStyle/>
          <a:p>
            <a:pPr algn="r" rtl="1"/>
            <a:r>
              <a:rPr lang="fa-IR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چرا </a:t>
            </a:r>
            <a:r>
              <a:rPr lang="en-US" sz="36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RAG</a:t>
            </a:r>
            <a:r>
              <a:rPr lang="fa-IR" sz="36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 </a:t>
            </a:r>
            <a:r>
              <a:rPr lang="fa-IR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  <a:cs typeface="B Roya" panose="00000400000000000000" pitchFamily="2" charset="-78"/>
              </a:rPr>
              <a:t>؟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D505F06-E5C9-19CF-09EF-31F4B01C678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50540617"/>
              </p:ext>
            </p:extLst>
          </p:nvPr>
        </p:nvGraphicFramePr>
        <p:xfrm>
          <a:off x="5329240" y="1690688"/>
          <a:ext cx="1799355" cy="195810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6F48053-AED1-D9DB-FA80-0FB8CA66158E}"/>
              </a:ext>
            </a:extLst>
          </p:cNvPr>
          <p:cNvSpPr txBox="1">
            <a:spLocks/>
          </p:cNvSpPr>
          <p:nvPr/>
        </p:nvSpPr>
        <p:spPr>
          <a:xfrm>
            <a:off x="1231900" y="1690688"/>
            <a:ext cx="10515600" cy="46081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 err="1">
                <a:cs typeface="B Nazanin" panose="00000400000000000000" pitchFamily="2" charset="-78"/>
              </a:rPr>
              <a:t>بهره‌مندی</a:t>
            </a:r>
            <a:r>
              <a:rPr lang="fa-IR" sz="2000" b="1" dirty="0">
                <a:cs typeface="B Nazanin" panose="00000400000000000000" pitchFamily="2" charset="-78"/>
              </a:rPr>
              <a:t> از قابلیت ‌های یک مدل زبانی پیشرفته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سرعت بالا در افزودن منابع و اطلاعات</a:t>
            </a: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کنترل بالای دسترسی کاربران توسط مدیر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هزینه </a:t>
            </a:r>
            <a:r>
              <a:rPr lang="fa-IR" sz="2000" b="1" dirty="0" err="1">
                <a:cs typeface="B Nazanin" panose="00000400000000000000" pitchFamily="2" charset="-78"/>
              </a:rPr>
              <a:t>محاسباتی</a:t>
            </a:r>
            <a:r>
              <a:rPr lang="fa-IR" sz="2000" b="1" dirty="0">
                <a:cs typeface="B Nazanin" panose="00000400000000000000" pitchFamily="2" charset="-78"/>
              </a:rPr>
              <a:t> (و اقتصادی) پایین</a:t>
            </a:r>
          </a:p>
          <a:p>
            <a:pPr algn="r" rtl="1"/>
            <a:endParaRPr lang="fa-IR" sz="1400" dirty="0"/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</p:txBody>
      </p:sp>
      <p:sp>
        <p:nvSpPr>
          <p:cNvPr id="10" name="Cross 9">
            <a:extLst>
              <a:ext uri="{FF2B5EF4-FFF2-40B4-BE49-F238E27FC236}">
                <a16:creationId xmlns:a16="http://schemas.microsoft.com/office/drawing/2014/main" id="{30213B54-C08B-4026-F33C-AF8DD197F837}"/>
              </a:ext>
            </a:extLst>
          </p:cNvPr>
          <p:cNvSpPr/>
          <p:nvPr/>
        </p:nvSpPr>
        <p:spPr>
          <a:xfrm>
            <a:off x="4046033" y="2143611"/>
            <a:ext cx="1088160" cy="1083762"/>
          </a:xfrm>
          <a:prstGeom prst="plus">
            <a:avLst>
              <a:gd name="adj" fmla="val 42774"/>
            </a:avLst>
          </a:prstGeom>
          <a:gradFill flip="none" rotWithShape="1">
            <a:gsLst>
              <a:gs pos="0">
                <a:schemeClr val="accent6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accent6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accent6">
                  <a:lumMod val="60000"/>
                  <a:lumOff val="40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86ADEB2C-C55B-CFE0-2879-37C99269FD4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14846956"/>
              </p:ext>
            </p:extLst>
          </p:nvPr>
        </p:nvGraphicFramePr>
        <p:xfrm>
          <a:off x="444500" y="2454660"/>
          <a:ext cx="3406487" cy="4616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3933278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A17B7-0BDC-47F3-5396-E81FD66A3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3836" y="198437"/>
            <a:ext cx="10515600" cy="1325563"/>
          </a:xfrm>
        </p:spPr>
        <p:txBody>
          <a:bodyPr>
            <a:normAutofit/>
          </a:bodyPr>
          <a:lstStyle/>
          <a:p>
            <a:pPr algn="r" rtl="1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متغیرهای موثر بر پاسخ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مدل‌زبانی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با </a:t>
            </a:r>
            <a:r>
              <a:rPr lang="en-US" sz="40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RAG</a:t>
            </a:r>
            <a:endParaRPr lang="fa-IR" sz="4000" b="1" dirty="0">
              <a:solidFill>
                <a:schemeClr val="accent1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3FECF-C53F-7E00-90C0-6919419B52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8345" y="1357745"/>
            <a:ext cx="10515600" cy="4652963"/>
          </a:xfrm>
        </p:spPr>
        <p:txBody>
          <a:bodyPr/>
          <a:lstStyle/>
          <a:p>
            <a:pPr algn="r" rtl="1"/>
            <a:r>
              <a:rPr lang="fa-IR" dirty="0"/>
              <a:t>نوع مدل زبانی</a:t>
            </a:r>
          </a:p>
          <a:p>
            <a:pPr algn="r" rtl="1"/>
            <a:r>
              <a:rPr lang="fa-IR" dirty="0"/>
              <a:t>اندازه </a:t>
            </a:r>
            <a:r>
              <a:rPr lang="fa-IR" dirty="0" err="1"/>
              <a:t>تکه‌متن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23330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92620-32EF-ED06-86F4-F45D4D2DE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09014-3E9C-3A54-C1CE-4FC924A4FF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0226294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99FBF-A5B5-58B6-5DBF-490086264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63A0-3C26-B4A0-17C9-9E6666A0B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1449570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53F25-7463-D548-EE2C-C9550824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D1490-5436-296E-78F4-36876CF98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575802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1214</TotalTime>
  <Words>1002</Words>
  <Application>Microsoft Office PowerPoint</Application>
  <PresentationFormat>Widescreen</PresentationFormat>
  <Paragraphs>162</Paragraphs>
  <Slides>13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Arial Black</vt:lpstr>
      <vt:lpstr>B Nazanin</vt:lpstr>
      <vt:lpstr>Calibri</vt:lpstr>
      <vt:lpstr>Calibri Light</vt:lpstr>
      <vt:lpstr>lists-font</vt:lpstr>
      <vt:lpstr>Poppins</vt:lpstr>
      <vt:lpstr>Office Theme</vt:lpstr>
      <vt:lpstr>Contents</vt:lpstr>
      <vt:lpstr>RAG </vt:lpstr>
      <vt:lpstr>ضعف دانشی مدل‌های زبانی</vt:lpstr>
      <vt:lpstr>راه‌های افزودن دانش و اطلاعات جدید به مدل‌های زبانی</vt:lpstr>
      <vt:lpstr>نحوه افزوده شدن یک مدرک به پایگاه داده برداری</vt:lpstr>
      <vt:lpstr>PowerPoint Presentation</vt:lpstr>
      <vt:lpstr>شِمای کلی فرآیند Fine-tuning </vt:lpstr>
      <vt:lpstr>مقایسه راهکارهای ایجاد دانش جدید در مدل‌های زبانی</vt:lpstr>
      <vt:lpstr>چرا RAG ؟</vt:lpstr>
      <vt:lpstr>متغیرهای موثر بر پاسخ مدل‌زبانی با RAG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</dc:title>
  <dc:creator>Farshad Amiri</dc:creator>
  <cp:lastModifiedBy>Farshad Amiri</cp:lastModifiedBy>
  <cp:revision>321</cp:revision>
  <dcterms:created xsi:type="dcterms:W3CDTF">2024-02-19T06:46:45Z</dcterms:created>
  <dcterms:modified xsi:type="dcterms:W3CDTF">2024-02-21T10:59:15Z</dcterms:modified>
</cp:coreProperties>
</file>