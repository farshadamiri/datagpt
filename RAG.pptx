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59" r:id="rId13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48733"/>
            <a:ext cx="10515600" cy="1701800"/>
          </a:xfrm>
        </p:spPr>
        <p:txBody>
          <a:bodyPr>
            <a:noAutofit/>
          </a:bodyPr>
          <a:lstStyle/>
          <a:p>
            <a:r>
              <a:rPr lang="en-US" sz="5400" dirty="0">
                <a:latin typeface="Arial Black" panose="020B0A04020102020204" pitchFamily="34" charset="0"/>
              </a:rPr>
              <a:t>RAG </a:t>
            </a:r>
            <a:br>
              <a:rPr lang="en-US" sz="5400" dirty="0">
                <a:latin typeface="Arial Black" panose="020B0A04020102020204" pitchFamily="34" charset="0"/>
              </a:rPr>
            </a:br>
            <a:r>
              <a:rPr lang="en-US" sz="5400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br>
              <a:rPr lang="fa-IR" sz="5400" dirty="0"/>
            </a:br>
            <a:endParaRPr lang="fa-IR" sz="5400" dirty="0"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3164540" y="4052802"/>
            <a:ext cx="8525434" cy="61763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5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b="1" dirty="0">
                <a:cs typeface="B Nazanin" panose="00000400000000000000" pitchFamily="2" charset="-78"/>
              </a:rPr>
              <a:t>تقویت مدل زبانی بزرگ (</a:t>
            </a:r>
            <a:r>
              <a:rPr lang="en-US" b="1" dirty="0">
                <a:latin typeface="+mn-lt"/>
              </a:rPr>
              <a:t>LLM</a:t>
            </a:r>
            <a:r>
              <a:rPr lang="fa-IR" b="1" dirty="0"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558117" y="207910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cs typeface="B Nazanin" panose="00000400000000000000" pitchFamily="2" charset="-78"/>
              </a:rPr>
              <a:t> </a:t>
            </a:r>
            <a:r>
              <a:rPr lang="fa-IR" b="1" dirty="0">
                <a:cs typeface="B Nazanin" panose="00000400000000000000" pitchFamily="2" charset="-78"/>
              </a:rPr>
              <a:t>تعالی</a:t>
            </a:r>
            <a:endParaRPr lang="fa-IR" sz="16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2448"/>
            <a:ext cx="10515600" cy="3093104"/>
          </a:xfrm>
        </p:spPr>
        <p:txBody>
          <a:bodyPr>
            <a:normAutofit/>
          </a:bodyPr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نداشتن دانش و اطلاعات به روز (امکان ارائه اطلاعات منسوخ)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توهم (</a:t>
            </a:r>
            <a:r>
              <a:rPr lang="en-US" sz="2400" b="1" dirty="0" err="1">
                <a:cs typeface="B Nazanin" panose="00000400000000000000" pitchFamily="2" charset="-78"/>
              </a:rPr>
              <a:t>Halluincation</a:t>
            </a:r>
            <a:r>
              <a:rPr lang="fa-IR" sz="2400" b="1" dirty="0">
                <a:cs typeface="B Nazanin" panose="00000400000000000000" pitchFamily="2" charset="-78"/>
              </a:rPr>
              <a:t>): امکان ارائه پاسخ نادرست با قاطعیت در بیان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پیروی از </a:t>
            </a:r>
            <a:r>
              <a:rPr lang="fa-IR" sz="2400" b="1" dirty="0" err="1">
                <a:cs typeface="B Nazanin" panose="00000400000000000000" pitchFamily="2" charset="-78"/>
              </a:rPr>
              <a:t>جهت‌گیری</a:t>
            </a:r>
            <a:r>
              <a:rPr lang="fa-IR" sz="2400" b="1" dirty="0">
                <a:cs typeface="B Nazanin" panose="00000400000000000000" pitchFamily="2" charset="-78"/>
              </a:rPr>
              <a:t>‎ (</a:t>
            </a:r>
            <a:r>
              <a:rPr lang="en-US" sz="2400" b="1" dirty="0">
                <a:cs typeface="B Nazanin" panose="00000400000000000000" pitchFamily="2" charset="-78"/>
              </a:rPr>
              <a:t>Bias</a:t>
            </a:r>
            <a:r>
              <a:rPr lang="fa-IR" sz="2400" b="1" dirty="0">
                <a:cs typeface="B Nazanin" panose="00000400000000000000" pitchFamily="2" charset="-78"/>
              </a:rPr>
              <a:t>) و ادبیات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400" b="1" dirty="0" err="1">
                <a:cs typeface="B Nazanin" panose="00000400000000000000" pitchFamily="2" charset="-78"/>
              </a:rPr>
              <a:t>ناهمگونی</a:t>
            </a:r>
            <a:r>
              <a:rPr lang="fa-IR" sz="24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400" b="1" dirty="0" err="1">
                <a:cs typeface="B Nazanin" panose="00000400000000000000" pitchFamily="2" charset="-78"/>
              </a:rPr>
              <a:t>مدل‌زبانی</a:t>
            </a:r>
            <a:r>
              <a:rPr lang="fa-IR" sz="2400" b="1" dirty="0">
                <a:cs typeface="B Nazanin" panose="00000400000000000000" pitchFamily="2" charset="-78"/>
              </a:rPr>
              <a:t> و کاربر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/>
            <a:endParaRPr lang="fa-IR" sz="2400" b="1" dirty="0">
              <a:cs typeface="B Nazanin" panose="00000400000000000000" pitchFamily="2" charset="-78"/>
            </a:endParaRPr>
          </a:p>
          <a:p>
            <a:pPr algn="r" rtl="1"/>
            <a:endParaRPr lang="fa-IR" sz="2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1196787" y="5287962"/>
            <a:ext cx="10515600" cy="6670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cs typeface="B Nazanin" panose="00000400000000000000" pitchFamily="2" charset="-78"/>
              </a:rPr>
              <a:t>دانش یک مدل‌ زبانی محدود به </a:t>
            </a:r>
            <a:r>
              <a:rPr lang="fa-IR" sz="2400" b="1" dirty="0" err="1"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dirty="0" err="1">
                <a:cs typeface="B Nazanin" panose="00000400000000000000" pitchFamily="2" charset="-78"/>
              </a:rPr>
              <a:t>داده‌های</a:t>
            </a:r>
            <a:r>
              <a:rPr lang="fa-IR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565342" y="2341935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dirty="0">
                <a:cs typeface="B Nazanin" panose="00000400000000000000" pitchFamily="2" charset="-78"/>
              </a:rPr>
              <a:t>تقویت ورودی مدل زبانی با ضمیمه کردن دانش و اطلاعات مربوط به سوال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565342" y="3485310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200837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2372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3600" b="1" dirty="0">
                <a:cs typeface="B Nazanin" panose="00000400000000000000" pitchFamily="2" charset="-78"/>
              </a:rPr>
              <a:t>مقایسه سه </a:t>
            </a:r>
            <a:r>
              <a:rPr lang="fa-IR" sz="3600" b="1" dirty="0" err="1">
                <a:cs typeface="B Nazanin" panose="00000400000000000000" pitchFamily="2" charset="-78"/>
              </a:rPr>
              <a:t>راهکار</a:t>
            </a:r>
            <a:r>
              <a:rPr lang="en-US" sz="3600" b="1" dirty="0">
                <a:cs typeface="B Nazanin" panose="00000400000000000000" pitchFamily="2" charset="-78"/>
              </a:rPr>
              <a:t>Pre-training </a:t>
            </a:r>
            <a:r>
              <a:rPr lang="fa-IR" sz="3600" b="1" dirty="0">
                <a:cs typeface="B Nazanin" panose="00000400000000000000" pitchFamily="2" charset="-78"/>
              </a:rPr>
              <a:t>، </a:t>
            </a:r>
            <a:r>
              <a:rPr lang="en-US" sz="3600" b="1" dirty="0">
                <a:cs typeface="B Nazanin" panose="00000400000000000000" pitchFamily="2" charset="-78"/>
              </a:rPr>
              <a:t> Finetuning</a:t>
            </a:r>
            <a:r>
              <a:rPr lang="fa-IR" sz="3600" b="1" dirty="0">
                <a:cs typeface="B Nazanin" panose="00000400000000000000" pitchFamily="2" charset="-78"/>
              </a:rPr>
              <a:t>و </a:t>
            </a:r>
            <a:r>
              <a:rPr lang="en-US" sz="3600" b="1" dirty="0">
                <a:cs typeface="B Nazanin" panose="00000400000000000000" pitchFamily="2" charset="-78"/>
              </a:rPr>
              <a:t>RAG</a:t>
            </a:r>
            <a:endParaRPr lang="fa-IR" sz="3600" b="1" dirty="0">
              <a:cs typeface="B Nazanin" panose="00000400000000000000" pitchFamily="2" charset="-78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8027755"/>
              </p:ext>
            </p:extLst>
          </p:nvPr>
        </p:nvGraphicFramePr>
        <p:xfrm>
          <a:off x="838200" y="1350495"/>
          <a:ext cx="10515600" cy="527132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215601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101788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966358"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r>
                        <a:rPr lang="fa-IR" dirty="0"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250000"/>
                        </a:lnSpc>
                      </a:pPr>
                      <a:r>
                        <a:rPr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250000"/>
                        </a:lnSpc>
                      </a:pPr>
                      <a:r>
                        <a:rPr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j-cs"/>
                        </a:rPr>
                        <a:t>Finetuning</a:t>
                      </a:r>
                      <a:endParaRPr lang="fa-IR" sz="2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250000"/>
                        </a:lnSpc>
                      </a:pPr>
                      <a:r>
                        <a:rPr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966358"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r>
                        <a:rPr lang="fa-IR" b="1" dirty="0"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r>
                        <a:rPr lang="fa-IR" dirty="0">
                          <a:cs typeface="B Nazanin" panose="00000400000000000000" pitchFamily="2" charset="-78"/>
                        </a:rPr>
                        <a:t>آموزش </a:t>
                      </a:r>
                      <a:r>
                        <a:rPr lang="en-US" dirty="0">
                          <a:cs typeface="B Nazanin" panose="00000400000000000000" pitchFamily="2" charset="-78"/>
                        </a:rPr>
                        <a:t> LLM</a:t>
                      </a:r>
                      <a:r>
                        <a:rPr lang="fa-IR" dirty="0">
                          <a:cs typeface="B Nazanin" panose="00000400000000000000" pitchFamily="2" charset="-78"/>
                        </a:rPr>
                        <a:t>از ابتدا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r>
                        <a:rPr lang="fa-IR" dirty="0">
                          <a:cs typeface="B Nazanin" panose="00000400000000000000" pitchFamily="2" charset="-78"/>
                        </a:rPr>
                        <a:t>تنظیم دقیق روی </a:t>
                      </a:r>
                      <a:r>
                        <a:rPr lang="fa-IR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r>
                        <a:rPr lang="fa-IR" dirty="0">
                          <a:cs typeface="B Nazanin" panose="00000400000000000000" pitchFamily="2" charset="-78"/>
                        </a:rPr>
                        <a:t> تقویت ورودی مدل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966358"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r>
                        <a:rPr lang="fa-IR" b="1" dirty="0"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b="1" dirty="0"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966358"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r>
                        <a:rPr lang="fa-IR" b="1" dirty="0">
                          <a:cs typeface="B Nazanin" panose="00000400000000000000" pitchFamily="2" charset="-78"/>
                        </a:rPr>
                        <a:t>نکات مثبت و منفی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339701"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r>
                        <a:rPr lang="fa-IR" b="1" dirty="0">
                          <a:cs typeface="B Nazanin" panose="00000400000000000000" pitchFamily="2" charset="-78"/>
                        </a:rPr>
                        <a:t>موارد درست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dirty="0">
                          <a:cs typeface="B Nazanin" panose="00000400000000000000" pitchFamily="2" charset="-78"/>
                        </a:rPr>
                        <a:t>آموزش </a:t>
                      </a:r>
                      <a:r>
                        <a:rPr lang="fa-IR" sz="1600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600" dirty="0">
                          <a:cs typeface="B Nazanin" panose="00000400000000000000" pitchFamily="2" charset="-78"/>
                        </a:rPr>
                        <a:t> بر روی زبانی جدید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dirty="0">
                          <a:cs typeface="B Nazanin" panose="00000400000000000000" pitchFamily="2" charset="-78"/>
                        </a:rPr>
                        <a:t>بهبود ارکان اصلی یا معماری مدل</a:t>
                      </a:r>
                    </a:p>
                    <a:p>
                      <a:pPr algn="r" rtl="1">
                        <a:lnSpc>
                          <a:spcPct val="250000"/>
                        </a:lnSpc>
                      </a:pPr>
                      <a:r>
                        <a:rPr lang="fa-IR" dirty="0">
                          <a:cs typeface="B Nazanin" panose="00000400000000000000" pitchFamily="2" charset="-78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79D0-88FE-F28A-E61A-8E58FB181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چرا </a:t>
            </a:r>
            <a:r>
              <a:rPr lang="en-US" dirty="0"/>
              <a:t>RAG</a:t>
            </a:r>
            <a:r>
              <a:rPr lang="fa-IR" dirty="0"/>
              <a:t>؟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4A23D-98D7-EBD0-0C6E-FBABC6956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fa-IR" dirty="0" err="1"/>
              <a:t>مدل‌های</a:t>
            </a:r>
            <a:r>
              <a:rPr lang="fa-IR" dirty="0"/>
              <a:t> زبانی </a:t>
            </a:r>
            <a:r>
              <a:rPr lang="fa-IR" dirty="0" err="1"/>
              <a:t>متن‌باز</a:t>
            </a:r>
            <a:r>
              <a:rPr lang="fa-IR" dirty="0"/>
              <a:t> (</a:t>
            </a:r>
            <a:r>
              <a:rPr lang="en-US" dirty="0"/>
              <a:t>Open-source</a:t>
            </a:r>
            <a:r>
              <a:rPr lang="fa-IR" dirty="0"/>
              <a:t>) به خوبی درک زبانی، </a:t>
            </a:r>
            <a:r>
              <a:rPr lang="fa-IR" dirty="0" err="1"/>
              <a:t>دانش‌های</a:t>
            </a:r>
            <a:r>
              <a:rPr lang="fa-IR" dirty="0"/>
              <a:t> پایه و استدلال منطقی را یاد </a:t>
            </a:r>
            <a:r>
              <a:rPr lang="fa-IR" dirty="0" err="1"/>
              <a:t>گرفته‌اند</a:t>
            </a:r>
            <a:r>
              <a:rPr lang="fa-IR" dirty="0"/>
              <a:t> و آموزش مجدد یک مدل اغلب اتلاف هزینه است.</a:t>
            </a:r>
          </a:p>
        </p:txBody>
      </p:sp>
    </p:spTree>
    <p:extLst>
      <p:ext uri="{BB962C8B-B14F-4D97-AF65-F5344CB8AC3E}">
        <p14:creationId xmlns:p14="http://schemas.microsoft.com/office/powerpoint/2010/main" val="813789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629</Words>
  <Application>Microsoft Office PowerPoint</Application>
  <PresentationFormat>Widescreen</PresentationFormat>
  <Paragraphs>52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 Retrieval-Augmented Generation </vt:lpstr>
      <vt:lpstr>ضعف دانشی مدل‌های زبانی</vt:lpstr>
      <vt:lpstr>راه‌های افزودن دانش و اطلاعات جدید به مدل‌های زبانی</vt:lpstr>
      <vt:lpstr>مقایسه سه راهکارPre-training ،  Finetuningو RAG</vt:lpstr>
      <vt:lpstr>چرا RAG؟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38</cp:revision>
  <dcterms:created xsi:type="dcterms:W3CDTF">2024-02-19T06:46:45Z</dcterms:created>
  <dcterms:modified xsi:type="dcterms:W3CDTF">2024-02-20T05:33:54Z</dcterms:modified>
</cp:coreProperties>
</file>