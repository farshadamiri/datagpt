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66" r:id="rId3"/>
    <p:sldId id="258" r:id="rId4"/>
    <p:sldId id="260" r:id="rId5"/>
    <p:sldId id="271" r:id="rId6"/>
    <p:sldId id="269" r:id="rId7"/>
    <p:sldId id="273" r:id="rId8"/>
    <p:sldId id="274" r:id="rId9"/>
    <p:sldId id="272" r:id="rId10"/>
    <p:sldId id="261" r:id="rId11"/>
    <p:sldId id="270" r:id="rId12"/>
    <p:sldId id="263" r:id="rId13"/>
    <p:sldId id="259" r:id="rId14"/>
  </p:sldIdLst>
  <p:sldSz cx="12192000" cy="6858000"/>
  <p:notesSz cx="6858000" cy="9144000"/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rshad Amiri" initials="FA" lastIdx="2" clrIdx="0">
    <p:extLst>
      <p:ext uri="{19B8F6BF-5375-455C-9EA6-DF929625EA0E}">
        <p15:presenceInfo xmlns:p15="http://schemas.microsoft.com/office/powerpoint/2012/main" userId="eb0f5e6ffa9f274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0F0"/>
    <a:srgbClr val="7E0000"/>
    <a:srgbClr val="FDCBCB"/>
    <a:srgbClr val="FCB2B2"/>
    <a:srgbClr val="FB9393"/>
    <a:srgbClr val="E7E6E6"/>
    <a:srgbClr val="6600FF"/>
    <a:srgbClr val="FF00FF"/>
    <a:srgbClr val="008000"/>
    <a:srgbClr val="B0DD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54" autoAdjust="0"/>
  </p:normalViewPr>
  <p:slideViewPr>
    <p:cSldViewPr snapToGrid="0">
      <p:cViewPr varScale="1">
        <p:scale>
          <a:sx n="104" d="100"/>
          <a:sy n="104" d="100"/>
        </p:scale>
        <p:origin x="8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3024F7-A729-4F93-B845-004F91386FBD}" type="doc">
      <dgm:prSet loTypeId="urn:microsoft.com/office/officeart/2005/8/layout/vList2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pPr rtl="1"/>
          <a:endParaRPr lang="fa-IR"/>
        </a:p>
      </dgm:t>
    </dgm:pt>
    <dgm:pt modelId="{A5010BC2-76BB-49B6-8597-C761ECAC1772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درک زبانی قوی</a:t>
          </a:r>
          <a:endParaRPr lang="fa-IR" sz="2000" dirty="0">
            <a:cs typeface="B Nazanin" panose="00000400000000000000" pitchFamily="2" charset="-78"/>
          </a:endParaRPr>
        </a:p>
      </dgm:t>
    </dgm:pt>
    <dgm:pt modelId="{37ABEE5F-A67C-47E0-8941-7E6F22037044}" type="par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0DE24500-9EED-4915-B752-26BB93CD87A8}" type="sib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FD7784B0-2A99-42F6-A10A-83EB0DC73BE5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 err="1">
              <a:cs typeface="B Nazanin" panose="00000400000000000000" pitchFamily="2" charset="-78"/>
            </a:rPr>
            <a:t>دانش‌های</a:t>
          </a:r>
          <a:r>
            <a:rPr lang="fa-IR" sz="2000" b="1" dirty="0">
              <a:cs typeface="B Nazanin" panose="00000400000000000000" pitchFamily="2" charset="-78"/>
            </a:rPr>
            <a:t> پایه</a:t>
          </a:r>
          <a:endParaRPr lang="fa-IR" sz="2000" dirty="0">
            <a:cs typeface="B Nazanin" panose="00000400000000000000" pitchFamily="2" charset="-78"/>
          </a:endParaRPr>
        </a:p>
      </dgm:t>
    </dgm:pt>
    <dgm:pt modelId="{7750B9D0-E9EB-4945-A5DD-38B6C271B362}" type="par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8FB5A77B-8F2F-410E-BCF3-6707659D0E62}" type="sib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F97E06E0-D2ED-46AC-B66F-A247C305E866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استدلال منطقی</a:t>
          </a:r>
          <a:endParaRPr lang="fa-IR" sz="2000" dirty="0">
            <a:cs typeface="B Nazanin" panose="00000400000000000000" pitchFamily="2" charset="-78"/>
          </a:endParaRPr>
        </a:p>
      </dgm:t>
    </dgm:pt>
    <dgm:pt modelId="{11013EF0-1DEB-416B-8CE8-9EC82E46518B}" type="par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C17DE5C5-8921-430D-9956-183998995338}" type="sib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B61DC9FB-7626-4D39-9363-433259384063}" type="pres">
      <dgm:prSet presAssocID="{6C3024F7-A729-4F93-B845-004F91386FBD}" presName="linear" presStyleCnt="0">
        <dgm:presLayoutVars>
          <dgm:animLvl val="lvl"/>
          <dgm:resizeHandles val="exact"/>
        </dgm:presLayoutVars>
      </dgm:prSet>
      <dgm:spPr/>
    </dgm:pt>
    <dgm:pt modelId="{4705860B-CF4C-4332-80F6-CB6B998C1578}" type="pres">
      <dgm:prSet presAssocID="{A5010BC2-76BB-49B6-8597-C761ECAC1772}" presName="parentText" presStyleLbl="node1" presStyleIdx="0" presStyleCnt="3" custLinFactNeighborY="0">
        <dgm:presLayoutVars>
          <dgm:chMax val="0"/>
          <dgm:bulletEnabled val="1"/>
        </dgm:presLayoutVars>
      </dgm:prSet>
      <dgm:spPr/>
    </dgm:pt>
    <dgm:pt modelId="{F609EB0D-73A0-4A16-A10A-0EAF13DAEA24}" type="pres">
      <dgm:prSet presAssocID="{0DE24500-9EED-4915-B752-26BB93CD87A8}" presName="spacer" presStyleCnt="0"/>
      <dgm:spPr/>
    </dgm:pt>
    <dgm:pt modelId="{C57268A3-E864-4C73-8DE7-94B3BCF7AFEA}" type="pres">
      <dgm:prSet presAssocID="{FD7784B0-2A99-42F6-A10A-83EB0DC73BE5}" presName="parentText" presStyleLbl="node1" presStyleIdx="1" presStyleCnt="3" custLinFactY="95846" custLinFactNeighborY="100000">
        <dgm:presLayoutVars>
          <dgm:chMax val="0"/>
          <dgm:bulletEnabled val="1"/>
        </dgm:presLayoutVars>
      </dgm:prSet>
      <dgm:spPr/>
    </dgm:pt>
    <dgm:pt modelId="{31A1DC5D-E581-45EC-9A62-2DB7A089B493}" type="pres">
      <dgm:prSet presAssocID="{8FB5A77B-8F2F-410E-BCF3-6707659D0E62}" presName="spacer" presStyleCnt="0"/>
      <dgm:spPr/>
    </dgm:pt>
    <dgm:pt modelId="{842763DB-A544-47BF-A6F6-9BAB67F6C350}" type="pres">
      <dgm:prSet presAssocID="{F97E06E0-D2ED-46AC-B66F-A247C305E866}" presName="parentText" presStyleLbl="node1" presStyleIdx="2" presStyleCnt="3" custLinFactY="-100000" custLinFactNeighborY="-115754">
        <dgm:presLayoutVars>
          <dgm:chMax val="0"/>
          <dgm:bulletEnabled val="1"/>
        </dgm:presLayoutVars>
      </dgm:prSet>
      <dgm:spPr/>
    </dgm:pt>
  </dgm:ptLst>
  <dgm:cxnLst>
    <dgm:cxn modelId="{28DAC406-83EA-4CDB-BEF1-141981261C2A}" srcId="{6C3024F7-A729-4F93-B845-004F91386FBD}" destId="{FD7784B0-2A99-42F6-A10A-83EB0DC73BE5}" srcOrd="1" destOrd="0" parTransId="{7750B9D0-E9EB-4945-A5DD-38B6C271B362}" sibTransId="{8FB5A77B-8F2F-410E-BCF3-6707659D0E62}"/>
    <dgm:cxn modelId="{59EAE66C-5A32-402A-843F-503A36D1B914}" type="presOf" srcId="{F97E06E0-D2ED-46AC-B66F-A247C305E866}" destId="{842763DB-A544-47BF-A6F6-9BAB67F6C350}" srcOrd="0" destOrd="0" presId="urn:microsoft.com/office/officeart/2005/8/layout/vList2"/>
    <dgm:cxn modelId="{54B3144F-E044-46DB-AE80-DA0C4B5AF6CD}" type="presOf" srcId="{A5010BC2-76BB-49B6-8597-C761ECAC1772}" destId="{4705860B-CF4C-4332-80F6-CB6B998C1578}" srcOrd="0" destOrd="0" presId="urn:microsoft.com/office/officeart/2005/8/layout/vList2"/>
    <dgm:cxn modelId="{60705B94-45EC-4D08-8E8A-3FC644CAD19B}" type="presOf" srcId="{FD7784B0-2A99-42F6-A10A-83EB0DC73BE5}" destId="{C57268A3-E864-4C73-8DE7-94B3BCF7AFEA}" srcOrd="0" destOrd="0" presId="urn:microsoft.com/office/officeart/2005/8/layout/vList2"/>
    <dgm:cxn modelId="{4E6E859C-FD5E-46D1-B0A8-DF8EB312FDA7}" type="presOf" srcId="{6C3024F7-A729-4F93-B845-004F91386FBD}" destId="{B61DC9FB-7626-4D39-9363-433259384063}" srcOrd="0" destOrd="0" presId="urn:microsoft.com/office/officeart/2005/8/layout/vList2"/>
    <dgm:cxn modelId="{FC4256CC-E590-41FD-B031-26CCB70FBBCE}" srcId="{6C3024F7-A729-4F93-B845-004F91386FBD}" destId="{A5010BC2-76BB-49B6-8597-C761ECAC1772}" srcOrd="0" destOrd="0" parTransId="{37ABEE5F-A67C-47E0-8941-7E6F22037044}" sibTransId="{0DE24500-9EED-4915-B752-26BB93CD87A8}"/>
    <dgm:cxn modelId="{4B7CE9F5-1584-4EFD-8B26-B8F860164884}" srcId="{6C3024F7-A729-4F93-B845-004F91386FBD}" destId="{F97E06E0-D2ED-46AC-B66F-A247C305E866}" srcOrd="2" destOrd="0" parTransId="{11013EF0-1DEB-416B-8CE8-9EC82E46518B}" sibTransId="{C17DE5C5-8921-430D-9956-183998995338}"/>
    <dgm:cxn modelId="{6C8479B2-FD04-438A-AD16-CAFC01A7069E}" type="presParOf" srcId="{B61DC9FB-7626-4D39-9363-433259384063}" destId="{4705860B-CF4C-4332-80F6-CB6B998C1578}" srcOrd="0" destOrd="0" presId="urn:microsoft.com/office/officeart/2005/8/layout/vList2"/>
    <dgm:cxn modelId="{40D356D4-6752-4DEF-B2F5-744711551A31}" type="presParOf" srcId="{B61DC9FB-7626-4D39-9363-433259384063}" destId="{F609EB0D-73A0-4A16-A10A-0EAF13DAEA24}" srcOrd="1" destOrd="0" presId="urn:microsoft.com/office/officeart/2005/8/layout/vList2"/>
    <dgm:cxn modelId="{3803C583-EAF7-456E-91F2-D9AD4CD8A157}" type="presParOf" srcId="{B61DC9FB-7626-4D39-9363-433259384063}" destId="{C57268A3-E864-4C73-8DE7-94B3BCF7AFEA}" srcOrd="2" destOrd="0" presId="urn:microsoft.com/office/officeart/2005/8/layout/vList2"/>
    <dgm:cxn modelId="{E12BBAF7-286C-48A5-B407-33DD8026DCFC}" type="presParOf" srcId="{B61DC9FB-7626-4D39-9363-433259384063}" destId="{31A1DC5D-E581-45EC-9A62-2DB7A089B493}" srcOrd="3" destOrd="0" presId="urn:microsoft.com/office/officeart/2005/8/layout/vList2"/>
    <dgm:cxn modelId="{0BCF3CA0-4B1C-4CEF-868E-C4696B55FC24}" type="presParOf" srcId="{B61DC9FB-7626-4D39-9363-433259384063}" destId="{842763DB-A544-47BF-A6F6-9BAB67F6C350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24D429-76D5-4657-8910-CB36DADD6EB9}" type="doc">
      <dgm:prSet loTypeId="urn:microsoft.com/office/officeart/2005/8/layout/vList2" loCatId="list" qsTypeId="urn:microsoft.com/office/officeart/2005/8/quickstyle/simple3" qsCatId="simple" csTypeId="urn:microsoft.com/office/officeart/2005/8/colors/colorful1" csCatId="colorful"/>
      <dgm:spPr/>
      <dgm:t>
        <a:bodyPr/>
        <a:lstStyle/>
        <a:p>
          <a:pPr rtl="1"/>
          <a:endParaRPr lang="fa-IR"/>
        </a:p>
      </dgm:t>
    </dgm:pt>
    <dgm:pt modelId="{4C3DB20C-00DC-4078-8BEC-22DC1430293C}">
      <dgm:prSet custT="1"/>
      <dgm:spPr/>
      <dgm:t>
        <a:bodyPr/>
        <a:lstStyle/>
        <a:p>
          <a:pPr algn="ctr" rtl="1"/>
          <a:r>
            <a:rPr lang="fa-IR" sz="2400" b="1" dirty="0">
              <a:cs typeface="B Nazanin" panose="00000400000000000000" pitchFamily="2" charset="-78"/>
            </a:rPr>
            <a:t>منابع دانش و اطلاعات دلخواه</a:t>
          </a:r>
          <a:endParaRPr lang="fa-IR" sz="2400" dirty="0">
            <a:cs typeface="B Nazanin" panose="00000400000000000000" pitchFamily="2" charset="-78"/>
          </a:endParaRPr>
        </a:p>
      </dgm:t>
    </dgm:pt>
    <dgm:pt modelId="{0876256F-FD7F-4A30-A3BF-AF5DE44AAFBF}" type="par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6A9A95F4-3A4B-478E-ACCE-E83B320D3B79}" type="sib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7D0CD919-E9B5-4E80-AEC9-298E51DF8380}" type="pres">
      <dgm:prSet presAssocID="{8524D429-76D5-4657-8910-CB36DADD6EB9}" presName="linear" presStyleCnt="0">
        <dgm:presLayoutVars>
          <dgm:animLvl val="lvl"/>
          <dgm:resizeHandles val="exact"/>
        </dgm:presLayoutVars>
      </dgm:prSet>
      <dgm:spPr/>
    </dgm:pt>
    <dgm:pt modelId="{1E414AF4-5DA0-4285-83B3-A4DF1F559D0E}" type="pres">
      <dgm:prSet presAssocID="{4C3DB20C-00DC-4078-8BEC-22DC1430293C}" presName="parentText" presStyleLbl="node1" presStyleIdx="0" presStyleCnt="1" custLinFactNeighborX="-13408" custLinFactNeighborY="-2794">
        <dgm:presLayoutVars>
          <dgm:chMax val="0"/>
          <dgm:bulletEnabled val="1"/>
        </dgm:presLayoutVars>
      </dgm:prSet>
      <dgm:spPr/>
    </dgm:pt>
  </dgm:ptLst>
  <dgm:cxnLst>
    <dgm:cxn modelId="{5B6CAF17-A827-4EA3-96BB-9D39890D92C8}" type="presOf" srcId="{4C3DB20C-00DC-4078-8BEC-22DC1430293C}" destId="{1E414AF4-5DA0-4285-83B3-A4DF1F559D0E}" srcOrd="0" destOrd="0" presId="urn:microsoft.com/office/officeart/2005/8/layout/vList2"/>
    <dgm:cxn modelId="{D84B1F27-3596-4759-9BD7-C19C3936F540}" type="presOf" srcId="{8524D429-76D5-4657-8910-CB36DADD6EB9}" destId="{7D0CD919-E9B5-4E80-AEC9-298E51DF8380}" srcOrd="0" destOrd="0" presId="urn:microsoft.com/office/officeart/2005/8/layout/vList2"/>
    <dgm:cxn modelId="{46F38E6A-7356-45AC-9661-E03A92BCB6A8}" srcId="{8524D429-76D5-4657-8910-CB36DADD6EB9}" destId="{4C3DB20C-00DC-4078-8BEC-22DC1430293C}" srcOrd="0" destOrd="0" parTransId="{0876256F-FD7F-4A30-A3BF-AF5DE44AAFBF}" sibTransId="{6A9A95F4-3A4B-478E-ACCE-E83B320D3B79}"/>
    <dgm:cxn modelId="{D98B1E6F-4F33-44C6-A011-55DCB95B4916}" type="presParOf" srcId="{7D0CD919-E9B5-4E80-AEC9-298E51DF8380}" destId="{1E414AF4-5DA0-4285-83B3-A4DF1F559D0E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05860B-CF4C-4332-80F6-CB6B998C1578}">
      <dsp:nvSpPr>
        <dsp:cNvPr id="0" name=""/>
        <dsp:cNvSpPr/>
      </dsp:nvSpPr>
      <dsp:spPr>
        <a:xfrm>
          <a:off x="0" y="4871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درک زبانی قوی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33857"/>
        <a:ext cx="1741383" cy="535803"/>
      </dsp:txXfrm>
    </dsp:sp>
    <dsp:sp modelId="{C57268A3-E864-4C73-8DE7-94B3BCF7AFEA}">
      <dsp:nvSpPr>
        <dsp:cNvPr id="0" name=""/>
        <dsp:cNvSpPr/>
      </dsp:nvSpPr>
      <dsp:spPr>
        <a:xfrm>
          <a:off x="0" y="1334796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 err="1">
              <a:cs typeface="B Nazanin" panose="00000400000000000000" pitchFamily="2" charset="-78"/>
            </a:rPr>
            <a:t>دانش‌های</a:t>
          </a:r>
          <a:r>
            <a:rPr lang="fa-IR" sz="2000" b="1" kern="1200" dirty="0">
              <a:cs typeface="B Nazanin" panose="00000400000000000000" pitchFamily="2" charset="-78"/>
            </a:rPr>
            <a:t> پایه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1363782"/>
        <a:ext cx="1741383" cy="535803"/>
      </dsp:txXfrm>
    </dsp:sp>
    <dsp:sp modelId="{842763DB-A544-47BF-A6F6-9BAB67F6C350}">
      <dsp:nvSpPr>
        <dsp:cNvPr id="0" name=""/>
        <dsp:cNvSpPr/>
      </dsp:nvSpPr>
      <dsp:spPr>
        <a:xfrm>
          <a:off x="0" y="669008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استدلال منطقی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697994"/>
        <a:ext cx="1741383" cy="535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414AF4-5DA0-4285-83B3-A4DF1F559D0E}">
      <dsp:nvSpPr>
        <dsp:cNvPr id="0" name=""/>
        <dsp:cNvSpPr/>
      </dsp:nvSpPr>
      <dsp:spPr>
        <a:xfrm>
          <a:off x="0" y="0"/>
          <a:ext cx="3406487" cy="461373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400" b="1" kern="1200" dirty="0">
              <a:cs typeface="B Nazanin" panose="00000400000000000000" pitchFamily="2" charset="-78"/>
            </a:rPr>
            <a:t>منابع دانش و اطلاعات دلخواه</a:t>
          </a:r>
          <a:endParaRPr lang="fa-IR" sz="2400" kern="1200" dirty="0">
            <a:cs typeface="B Nazanin" panose="00000400000000000000" pitchFamily="2" charset="-78"/>
          </a:endParaRPr>
        </a:p>
      </dsp:txBody>
      <dsp:txXfrm>
        <a:off x="22522" y="22522"/>
        <a:ext cx="3361443" cy="4163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36.033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1,'1339'0,"-1310"0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42.919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1 1,'637'0,"-620"0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51.590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1,'887'0,"-877"0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53.952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1,'1078'0,"-1056"0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56.270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1,'1129'0,"-1107"0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57.727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1 1,'4'0,"11"0,6 0,5 0,2 0,0 0,0 0,0 0,-5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00.030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1,'541'0,"-532"0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02.675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1,'1260'0,"-1238"0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05.712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1 1,'4'0,"6"0,6 0,4 0,3 0,2 0,6 0,6 0,-3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08.153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1,'1275'0,"-1275"0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11.658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1,'1326'0,"-1310"0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47.068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0,'1340'0,"-1306"0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37:16.315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1,'725'0,"-709"0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38:03.483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1,'659'0,"-645"0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59:04.888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1,'804'0,"-794"0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6:00:06.860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1,'953'0,"-937"0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6:00:52.801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1,'400'0,"-391"0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DD9737E2-E5A7-4798-8CE4-635A842BA6E2}" type="datetimeFigureOut">
              <a:rPr lang="fa-IR" smtClean="0"/>
              <a:t>08/10/1445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B1A1FC86-6D43-4743-9C66-42764E3FFE4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500205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3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844886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5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337530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6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515031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7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201765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8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8536456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10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741010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11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00198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13938-4976-24CD-F90C-D3E146438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16D2E1-43E0-987F-C4F4-880714D67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4C64D-5A88-4CA9-B636-D37129CC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08/10/1445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F92EE-958A-50FD-B81F-E3743426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B7106-FD28-066C-5510-9E64453AD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881589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D1C7-8924-C1BA-E20F-62F1D8FEB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F3782-809F-AAF0-EAB1-313ECDFE4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9339D-ADAA-9759-7433-30A2E247F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08/10/1445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16A51-5D36-906E-BE5F-715240E5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65860-E179-EC0C-9FB3-7777BD5CD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77867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C7D58-0CE7-6452-8C6C-EAC557818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750E2-73F9-25F7-C6DA-024647928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E724-FCBB-1AE4-0878-9B53E27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08/10/1445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978AE-BF63-632C-DCE3-1530A27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0F81-4C69-FB77-4C5B-5A69A1666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387666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F1D77-48FB-7697-B1F3-A7F1D13B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63923-4E23-B652-BA3C-38693CAA28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F2212-B9BD-EAA9-EAC4-BDF5E9770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CF94C-3F8D-4474-E729-412461C8B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08/10/1445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09B8C-514D-1B39-C315-B6CEDDB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0E4F90-A5B4-6080-C12C-4E808CC5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090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E6C78-725E-27FF-E59E-947A59C7A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84E93-6478-09F5-14B4-6767EBE83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394E6-41A3-3ED8-009C-263711A16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D6F9E1-762A-2F95-214D-154810708D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F4461-3166-F452-9762-D69D2CE37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7343EA-72BE-E1D0-7912-30EAF520E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08/10/1445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023CF1-B335-63CB-32B1-281E4CE72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CC68C-E7B9-0CC6-8628-2CFA8F49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50533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E8CD-1C38-339E-41C3-19D30FC3A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1FEF66-B4F0-BB24-A289-1F3854848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08/10/1445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CF6D9-493C-F54D-554B-A896871D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66CAB-B030-06CB-6092-E1B0046C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5623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0E4C18-2FC1-779A-8D12-37D24A03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08/10/1445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EB49F-81B1-1B73-0331-947EC62D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849C-3E7B-A729-B938-41EF74264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066529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1AC6-EC61-5F28-8100-A8AF01211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A571A-AA73-5C56-FF31-5498C44C1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4069D-974F-8B6C-F60E-5FE6E2598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9D25D-13EE-2F11-4377-CD2A8A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08/10/1445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2C81C-D31A-DB8F-91DB-C83AC87A2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C808F-5C7D-47B4-AF9B-7999C1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373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AF56-A5A3-93A9-6138-067BFFF6D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37155-F742-B129-C8FA-6ED6BA29F4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62B19B-30BD-BF45-2B2B-3A1543D8F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47895-D0D1-70F1-F759-BA82C0113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08/10/1445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AD41-85D5-D496-5726-87C6213D6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3DECD-65D2-899F-FA95-613FB1FB6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9433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8D2F8-D2C1-840A-E33C-7FE4F6E1D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BBABA-CFF5-BA1E-7861-3CEB47D36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1309F-7A5D-D5DB-83F5-F97FF085D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08/10/1445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0CF26-A395-1400-0DDC-4818D072A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6BB89-B781-657F-20F3-0DAF26ED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770755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593B8-C9DD-F4DC-1A64-7159AB58C6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F4B49E-896E-9E72-4EFB-558DE1CDA1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DCA8E-D95B-20A6-0334-5847F435F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08/10/1445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028C-FFA0-2761-2966-8420C01ED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5D64-7820-EE49-4BD4-0F33551BD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0403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884129-C70C-FAF5-CE25-6AD67DCF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BC981-64C7-C3B4-38B4-1795901DB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87F53-ED57-3491-8CD7-C8C0D4BBE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9F0CB5-BAA6-4AB1-867C-C29921453313}" type="datetimeFigureOut">
              <a:rPr lang="fa-IR" smtClean="0"/>
              <a:t>08/10/1445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EB97B-F077-ACC0-68B6-F6E3FD5536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2FB9F-3BC2-31CB-ADCA-9520CB8F44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2416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6.xml"/><Relationship Id="rId18" Type="http://schemas.openxmlformats.org/officeDocument/2006/relationships/image" Target="../media/image9.png"/><Relationship Id="rId26" Type="http://schemas.openxmlformats.org/officeDocument/2006/relationships/image" Target="../media/image13.png"/><Relationship Id="rId3" Type="http://schemas.openxmlformats.org/officeDocument/2006/relationships/customXml" Target="../ink/ink1.xml"/><Relationship Id="rId21" Type="http://schemas.openxmlformats.org/officeDocument/2006/relationships/customXml" Target="../ink/ink10.xml"/><Relationship Id="rId7" Type="http://schemas.openxmlformats.org/officeDocument/2006/relationships/customXml" Target="../ink/ink3.xml"/><Relationship Id="rId12" Type="http://schemas.openxmlformats.org/officeDocument/2006/relationships/image" Target="../media/image6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8.png"/><Relationship Id="rId20" Type="http://schemas.openxmlformats.org/officeDocument/2006/relationships/image" Target="../media/image10.png"/><Relationship Id="rId29" Type="http://schemas.openxmlformats.org/officeDocument/2006/relationships/customXml" Target="../ink/ink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customXml" Target="../ink/ink5.xml"/><Relationship Id="rId24" Type="http://schemas.openxmlformats.org/officeDocument/2006/relationships/image" Target="../media/image12.png"/><Relationship Id="rId32" Type="http://schemas.openxmlformats.org/officeDocument/2006/relationships/customXml" Target="../ink/ink17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14.png"/><Relationship Id="rId10" Type="http://schemas.openxmlformats.org/officeDocument/2006/relationships/image" Target="../media/image5.png"/><Relationship Id="rId19" Type="http://schemas.openxmlformats.org/officeDocument/2006/relationships/customXml" Target="../ink/ink9.xml"/><Relationship Id="rId31" Type="http://schemas.openxmlformats.org/officeDocument/2006/relationships/customXml" Target="../ink/ink16.xml"/><Relationship Id="rId4" Type="http://schemas.openxmlformats.org/officeDocument/2006/relationships/image" Target="../media/image20.png"/><Relationship Id="rId9" Type="http://schemas.openxmlformats.org/officeDocument/2006/relationships/customXml" Target="../ink/ink4.xml"/><Relationship Id="rId14" Type="http://schemas.openxmlformats.org/officeDocument/2006/relationships/image" Target="../media/image7.png"/><Relationship Id="rId22" Type="http://schemas.openxmlformats.org/officeDocument/2006/relationships/image" Target="../media/image11.png"/><Relationship Id="rId27" Type="http://schemas.openxmlformats.org/officeDocument/2006/relationships/customXml" Target="../ink/ink13.xml"/><Relationship Id="rId30" Type="http://schemas.openxmlformats.org/officeDocument/2006/relationships/customXml" Target="../ink/ink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8F0C2-4F12-0338-F2F0-9E31DFDC5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859" y="274872"/>
            <a:ext cx="11300012" cy="940687"/>
          </a:xfrm>
        </p:spPr>
        <p:txBody>
          <a:bodyPr/>
          <a:lstStyle/>
          <a:p>
            <a:r>
              <a:rPr lang="en-US" dirty="0"/>
              <a:t>Contents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0F0E7-CED6-6FF2-BED0-E1DD5333E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559"/>
            <a:ext cx="10515600" cy="5239030"/>
          </a:xfrm>
        </p:spPr>
        <p:txBody>
          <a:bodyPr>
            <a:normAutofit fontScale="92500" lnSpcReduction="20000"/>
          </a:bodyPr>
          <a:lstStyle/>
          <a:p>
            <a:pPr algn="r" rtl="1"/>
            <a:r>
              <a:rPr lang="fa-IR" sz="2000" dirty="0">
                <a:cs typeface="B Nazanin" panose="00000400000000000000" pitchFamily="2" charset="-78"/>
              </a:rPr>
              <a:t>مدل های زبانی دانش به خصوص ندارند ( ضعف آنها در عدم دسترسی به اطلاعات به روز و خاص ، ارائه اطلاعات منسوخ ، سردرگمی اصطلاحات: وقتی که مفاهیم عمومی که مدل بر آن آموزش دیده با موضوعات و مفاهیم تخصصی ما تفاوت دارند ، توهم: به علت نوع یادگیری در </a:t>
            </a:r>
            <a:r>
              <a:rPr lang="fa-IR" sz="2000" dirty="0" err="1">
                <a:cs typeface="B Nazanin" panose="00000400000000000000" pitchFamily="2" charset="-78"/>
              </a:rPr>
              <a:t>مواردی</a:t>
            </a:r>
            <a:r>
              <a:rPr lang="fa-IR" sz="2000" dirty="0">
                <a:cs typeface="B Nazanin" panose="00000400000000000000" pitchFamily="2" charset="-78"/>
              </a:rPr>
              <a:t> که نمیدانند هم با قطعیت نظر میدهند ، ضرورت استفاده مدل زبانی از دانش سفارشی افزوده 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مزیت استفاده از </a:t>
            </a:r>
            <a:r>
              <a:rPr lang="en-US" sz="2000" dirty="0">
                <a:cs typeface="B Nazanin" panose="00000400000000000000" pitchFamily="2" charset="-78"/>
              </a:rPr>
              <a:t>retrieval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generation</a:t>
            </a:r>
            <a:r>
              <a:rPr lang="fa-IR" sz="2000" dirty="0">
                <a:cs typeface="B Nazanin" panose="00000400000000000000" pitchFamily="2" charset="-78"/>
              </a:rPr>
              <a:t> با </a:t>
            </a:r>
            <a:r>
              <a:rPr lang="fa-IR" sz="2000" dirty="0" err="1">
                <a:cs typeface="B Nazanin" panose="00000400000000000000" pitchFamily="2" charset="-78"/>
              </a:rPr>
              <a:t>دیتابیس</a:t>
            </a:r>
            <a:r>
              <a:rPr lang="fa-IR" sz="2000" dirty="0">
                <a:cs typeface="B Nazanin" panose="00000400000000000000" pitchFamily="2" charset="-78"/>
              </a:rPr>
              <a:t> های برداری ، سنجشگر شباهت معنایی و  مدل های زبانی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نحوه کار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اهمیت مهندسی</a:t>
            </a:r>
            <a:r>
              <a:rPr lang="en-US" sz="2000" dirty="0">
                <a:cs typeface="B Nazanin" panose="00000400000000000000" pitchFamily="2" charset="-78"/>
              </a:rPr>
              <a:t>Prompt 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مزایای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: ارائه پاسخ های به روز و دقیق ، کاهش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نادرست یا </a:t>
            </a:r>
            <a:r>
              <a:rPr lang="fa-IR" sz="2000" dirty="0" err="1">
                <a:cs typeface="B Nazanin" panose="00000400000000000000" pitchFamily="2" charset="-78"/>
              </a:rPr>
              <a:t>توهم‌ها</a:t>
            </a:r>
            <a:r>
              <a:rPr lang="fa-IR" sz="2000" dirty="0">
                <a:cs typeface="B Nazanin" panose="00000400000000000000" pitchFamily="2" charset="-78"/>
              </a:rPr>
              <a:t> ، ارائه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مربوط به یک دامنه دانشی خاص ، سریع و مقرون به صرفه بودن (در مقایسه با فرآیند </a:t>
            </a:r>
            <a:r>
              <a:rPr lang="fa-IR" sz="2000" dirty="0" err="1">
                <a:cs typeface="B Nazanin" panose="00000400000000000000" pitchFamily="2" charset="-78"/>
              </a:rPr>
              <a:t>چستجو</a:t>
            </a:r>
            <a:r>
              <a:rPr lang="fa-IR" sz="2000" dirty="0">
                <a:cs typeface="B Nazanin" panose="00000400000000000000" pitchFamily="2" charset="-78"/>
              </a:rPr>
              <a:t> و پیدا کردن جواب و نگارش تحلیل توسط انسان) ، به روز رسانی سریع داده ها، کنترل توسعه دهنده (مثلا در برنامه ما اطلاعاتی که کمتر از 25 درصد </a:t>
            </a:r>
            <a:r>
              <a:rPr lang="fa-IR" sz="2000" dirty="0" err="1">
                <a:cs typeface="B Nazanin" panose="00000400000000000000" pitchFamily="2" charset="-78"/>
              </a:rPr>
              <a:t>شباهات</a:t>
            </a:r>
            <a:r>
              <a:rPr lang="fa-IR" sz="2000" dirty="0">
                <a:cs typeface="B Nazanin" panose="00000400000000000000" pitchFamily="2" charset="-78"/>
              </a:rPr>
              <a:t> معنایی با سوال کاربر دارند </a:t>
            </a:r>
            <a:r>
              <a:rPr lang="fa-IR" sz="2000" dirty="0" err="1">
                <a:cs typeface="B Nazanin" panose="00000400000000000000" pitchFamily="2" charset="-78"/>
              </a:rPr>
              <a:t>پرامپت</a:t>
            </a:r>
            <a:r>
              <a:rPr lang="fa-IR" sz="2000" dirty="0">
                <a:cs typeface="B Nazanin" panose="00000400000000000000" pitchFamily="2" charset="-78"/>
              </a:rPr>
              <a:t> مدل نمیشوند)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ارائه مثال از اینکه برنامه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چگونه میتواند اطلاعات مرتبط را از یک پایگاه عظیم اطلاعاتی شناسایی و استخراج کند و از یک مدل زبانی برای ارائه پاسخ و تحلیل استفاده کند.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موارد استفاده: پرسش و پاسخ – مدیریت دانش سازمانی – جستجوی اسناد – </a:t>
            </a:r>
            <a:r>
              <a:rPr lang="fa-IR" sz="2000" dirty="0" err="1">
                <a:cs typeface="B Nazanin" panose="00000400000000000000" pitchFamily="2" charset="-78"/>
              </a:rPr>
              <a:t>ربات</a:t>
            </a:r>
            <a:r>
              <a:rPr lang="fa-IR" sz="2000" dirty="0">
                <a:cs typeface="B Nazanin" panose="00000400000000000000" pitchFamily="2" charset="-78"/>
              </a:rPr>
              <a:t> های پرسش و پاسخ (کمک دادن کاربران به جای </a:t>
            </a:r>
            <a:r>
              <a:rPr lang="fa-IR" sz="2000" dirty="0" err="1">
                <a:cs typeface="B Nazanin" panose="00000400000000000000" pitchFamily="2" charset="-78"/>
              </a:rPr>
              <a:t>اپراتور</a:t>
            </a:r>
            <a:r>
              <a:rPr lang="fa-IR" sz="2000" dirty="0">
                <a:cs typeface="B Nazanin" panose="00000400000000000000" pitchFamily="2" charset="-78"/>
              </a:rPr>
              <a:t>) ، تحلیل داده ، نگارش گزارش ، سیستم </a:t>
            </a:r>
            <a:r>
              <a:rPr lang="en-US" sz="2000" dirty="0">
                <a:cs typeface="B Nazanin" panose="00000400000000000000" pitchFamily="2" charset="-78"/>
              </a:rPr>
              <a:t>FAQ</a:t>
            </a:r>
            <a:r>
              <a:rPr lang="fa-IR" sz="2000" dirty="0">
                <a:cs typeface="B Nazanin" panose="00000400000000000000" pitchFamily="2" charset="-78"/>
              </a:rPr>
              <a:t> ، </a:t>
            </a:r>
            <a:r>
              <a:rPr lang="en-US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Open-Domain QA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(کنار هم گذاشتن اطلاعات از منابع </a:t>
            </a:r>
            <a:r>
              <a:rPr lang="fa-IR" sz="1400" b="1" i="0" dirty="0" err="1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مختف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و ارائه تحلیل) </a:t>
            </a:r>
            <a:r>
              <a:rPr lang="fa-IR" sz="1400" b="1" dirty="0">
                <a:solidFill>
                  <a:srgbClr val="050A12"/>
                </a:solidFill>
                <a:latin typeface="Poppins" panose="00000500000000000000" pitchFamily="2" charset="0"/>
              </a:rPr>
              <a:t>، گزارش خبری (گزارش بر پایه اطلاعات از منابع مختلف) ، دستیار تحلیلی و تحقیقاتی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تقویت مدل زبانی با دانش و اطلاعات دیگر :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مقایسه مزایا و معایب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و شرایط استفاده از هر کدام (مثلا کنترل میزان دسترسی کاربران)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چالش ها و مشکلات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(مشکلات </a:t>
            </a:r>
            <a:r>
              <a:rPr lang="en-US" sz="2000" dirty="0">
                <a:cs typeface="B Nazanin" panose="00000400000000000000" pitchFamily="2" charset="-78"/>
              </a:rPr>
              <a:t>query</a:t>
            </a:r>
            <a:r>
              <a:rPr lang="fa-IR" sz="2000" dirty="0">
                <a:cs typeface="B Nazanin" panose="00000400000000000000" pitchFamily="2" charset="-78"/>
              </a:rPr>
              <a:t> های پیچیده ، دقت در پایگاه دانشی بزرگ ، پشتیبانی چند زبانی)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ظرفیت های پیش رو: راهکارهای تقویت فرآیند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نظیر </a:t>
            </a:r>
            <a:r>
              <a:rPr lang="en-US" sz="2000" dirty="0">
                <a:cs typeface="B Nazanin" panose="00000400000000000000" pitchFamily="2" charset="-78"/>
              </a:rPr>
              <a:t>Fusion</a:t>
            </a:r>
            <a:r>
              <a:rPr lang="fa-IR" sz="2000" dirty="0">
                <a:cs typeface="B Nazanin" panose="00000400000000000000" pitchFamily="2" charset="-78"/>
              </a:rPr>
              <a:t> (ارائه اطلاعات پیش زمینه ای از مدل متخصص دیگر به مدل اصلی) ، بهبود سوال ، </a:t>
            </a:r>
            <a:r>
              <a:rPr lang="fa-IR" sz="2000" dirty="0" err="1">
                <a:cs typeface="B Nazanin" panose="00000400000000000000" pitchFamily="2" charset="-78"/>
              </a:rPr>
              <a:t>چندبخشی</a:t>
            </a:r>
            <a:r>
              <a:rPr lang="fa-IR" sz="2000" dirty="0">
                <a:cs typeface="B Nazanin" panose="00000400000000000000" pitchFamily="2" charset="-78"/>
              </a:rPr>
              <a:t> کردن سوال ، </a:t>
            </a: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fa-IR" sz="20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18849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95DC2-4FC5-DBCA-97F0-E1A25B00D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77818"/>
            <a:ext cx="2994892" cy="570022"/>
          </a:xfrm>
          <a:noFill/>
        </p:spPr>
        <p:txBody>
          <a:bodyPr>
            <a:noAutofit/>
          </a:bodyPr>
          <a:lstStyle/>
          <a:p>
            <a:r>
              <a:rPr lang="en-US" sz="8800" dirty="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</a:gradFill>
                <a:effectLst>
                  <a:reflection stA="70000" endPos="12000" dir="5400000" sy="-100000" algn="bl" rotWithShape="0"/>
                </a:effectLst>
                <a:latin typeface="Arial Black" panose="020B0A04020102020204" pitchFamily="34" charset="0"/>
              </a:rPr>
              <a:t>RAG</a:t>
            </a:r>
            <a:r>
              <a:rPr lang="en-US" sz="8000" dirty="0"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  <a:tileRect/>
                </a:gradFill>
                <a:latin typeface="Arial Black" panose="020B0A04020102020204" pitchFamily="34" charset="0"/>
              </a:rPr>
              <a:t> </a:t>
            </a:r>
            <a:endParaRPr lang="fa-IR" sz="8000" dirty="0"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60000"/>
                    </a:schemeClr>
                  </a:gs>
                </a:gsLst>
                <a:lin ang="10800000" scaled="1"/>
                <a:tileRect/>
              </a:gradFill>
              <a:latin typeface="Arial Black" panose="020B0A040201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1CE3807-789B-EE42-3807-0BB2285F5845}"/>
              </a:ext>
            </a:extLst>
          </p:cNvPr>
          <p:cNvSpPr txBox="1">
            <a:spLocks/>
          </p:cNvSpPr>
          <p:nvPr/>
        </p:nvSpPr>
        <p:spPr>
          <a:xfrm>
            <a:off x="2697018" y="3697326"/>
            <a:ext cx="8843077" cy="617632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تقویت مدل زبانی بزرگ (</a:t>
            </a:r>
            <a:r>
              <a:rPr lang="en-US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latin typeface="+mn-lt"/>
              </a:rPr>
              <a:t>LLM</a:t>
            </a:r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) با دانش و اطلاعات افزوده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785DD-B2D4-4E5A-BC6F-27AD1E999C63}"/>
              </a:ext>
            </a:extLst>
          </p:cNvPr>
          <p:cNvSpPr txBox="1"/>
          <p:nvPr/>
        </p:nvSpPr>
        <p:spPr>
          <a:xfrm>
            <a:off x="5605251" y="189056"/>
            <a:ext cx="107576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 err="1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بسمه</a:t>
            </a:r>
            <a:r>
              <a:rPr lang="fa-IR" sz="1600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 </a:t>
            </a:r>
            <a:r>
              <a:rPr lang="fa-IR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تعالی</a:t>
            </a:r>
            <a:endParaRPr lang="fa-IR" sz="1600" b="1" dirty="0">
              <a:ln w="6350" cmpd="sng">
                <a:noFill/>
                <a:prstDash val="solid"/>
                <a:round/>
              </a:ln>
              <a:gradFill flip="none" rotWithShape="1">
                <a:gsLst>
                  <a:gs pos="0">
                    <a:srgbClr val="002060"/>
                  </a:gs>
                  <a:gs pos="48000">
                    <a:schemeClr val="accent1">
                      <a:lumMod val="75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cs typeface="B Nazanin" panose="00000400000000000000" pitchFamily="2" charset="-7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39AD3B7-2442-918C-A431-4C6037C71AF3}"/>
              </a:ext>
            </a:extLst>
          </p:cNvPr>
          <p:cNvSpPr txBox="1">
            <a:spLocks/>
          </p:cNvSpPr>
          <p:nvPr/>
        </p:nvSpPr>
        <p:spPr>
          <a:xfrm>
            <a:off x="885334" y="2332587"/>
            <a:ext cx="10515600" cy="44431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800" b="1" dirty="0">
                <a:solidFill>
                  <a:srgbClr val="4B4F58"/>
                </a:solidFill>
                <a:latin typeface="lists-font"/>
              </a:rPr>
              <a:t>Retrieval-Augmented Generation</a:t>
            </a:r>
            <a:endParaRPr lang="fa-IR" sz="3800" b="1" dirty="0">
              <a:latin typeface="Arial Black" panose="020B0A040201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7A88DB-9AC8-D0B3-D9B6-D1393842B9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7916" y="-206782"/>
            <a:ext cx="3612630" cy="355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898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7552-E2A9-701A-91DB-CE3F94F03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ضعف دانشی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581D-A476-6160-3058-B12CE4146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675638"/>
          </a:xfrm>
        </p:spPr>
        <p:txBody>
          <a:bodyPr>
            <a:normAutofit lnSpcReduction="10000"/>
          </a:bodyPr>
          <a:lstStyle/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نداشتن دانش و اطلاعات به روز (احتمال ارائه اطلاعات منسوخ)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پرهزینه بودن یادگیری اطلاعات و دانش جدید (مثل اطلاعات سازمانی)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توهم (</a:t>
            </a:r>
            <a:r>
              <a:rPr lang="en-US" sz="2000" b="1" dirty="0">
                <a:cs typeface="B Nazanin" panose="00000400000000000000" pitchFamily="2" charset="-78"/>
              </a:rPr>
              <a:t>Hallucination</a:t>
            </a:r>
            <a:r>
              <a:rPr lang="fa-IR" sz="2000" b="1" dirty="0">
                <a:cs typeface="B Nazanin" panose="00000400000000000000" pitchFamily="2" charset="-78"/>
              </a:rPr>
              <a:t>): احتمال ارائه پاسخ نادرست </a:t>
            </a:r>
            <a:r>
              <a:rPr lang="fa-IR" sz="2000" b="1" dirty="0" err="1">
                <a:cs typeface="B Nazanin" panose="00000400000000000000" pitchFamily="2" charset="-78"/>
              </a:rPr>
              <a:t>علی‌رغم</a:t>
            </a:r>
            <a:r>
              <a:rPr lang="fa-IR" sz="2000" b="1" dirty="0">
                <a:cs typeface="B Nazanin" panose="00000400000000000000" pitchFamily="2" charset="-78"/>
              </a:rPr>
              <a:t> قاطعیت در بیان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سردرگمی اصطلاحات: امکان </a:t>
            </a:r>
            <a:r>
              <a:rPr lang="fa-IR" sz="2000" b="1" dirty="0" err="1">
                <a:cs typeface="B Nazanin" panose="00000400000000000000" pitchFamily="2" charset="-78"/>
              </a:rPr>
              <a:t>ناهمگونی</a:t>
            </a:r>
            <a:r>
              <a:rPr lang="fa-IR" sz="2000" b="1" dirty="0">
                <a:cs typeface="B Nazanin" panose="00000400000000000000" pitchFamily="2" charset="-78"/>
              </a:rPr>
              <a:t> کلمات و اصطلاحات </a:t>
            </a:r>
            <a:r>
              <a:rPr lang="fa-IR" sz="2000" b="1" dirty="0" err="1">
                <a:cs typeface="B Nazanin" panose="00000400000000000000" pitchFamily="2" charset="-78"/>
              </a:rPr>
              <a:t>مدل‌زبانی</a:t>
            </a:r>
            <a:r>
              <a:rPr lang="fa-IR" sz="2000" b="1" dirty="0">
                <a:cs typeface="B Nazanin" panose="00000400000000000000" pitchFamily="2" charset="-78"/>
              </a:rPr>
              <a:t> و کاربر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پیروی از </a:t>
            </a:r>
            <a:r>
              <a:rPr lang="fa-IR" sz="2000" b="1" dirty="0" err="1">
                <a:cs typeface="B Nazanin" panose="00000400000000000000" pitchFamily="2" charset="-78"/>
              </a:rPr>
              <a:t>جهت‌گیری</a:t>
            </a:r>
            <a:r>
              <a:rPr lang="fa-IR" sz="2000" b="1" dirty="0">
                <a:cs typeface="B Nazanin" panose="00000400000000000000" pitchFamily="2" charset="-78"/>
              </a:rPr>
              <a:t>‎ (</a:t>
            </a:r>
            <a:r>
              <a:rPr lang="en-US" sz="2000" b="1" dirty="0">
                <a:cs typeface="B Nazanin" panose="00000400000000000000" pitchFamily="2" charset="-78"/>
              </a:rPr>
              <a:t>Bias</a:t>
            </a:r>
            <a:r>
              <a:rPr lang="fa-IR" sz="2000" b="1" dirty="0">
                <a:cs typeface="B Nazanin" panose="00000400000000000000" pitchFamily="2" charset="-78"/>
              </a:rPr>
              <a:t>) و ادبیات </a:t>
            </a:r>
            <a:r>
              <a:rPr lang="fa-IR" sz="2000" b="1" dirty="0" err="1">
                <a:cs typeface="B Nazanin" panose="00000400000000000000" pitchFamily="2" charset="-78"/>
              </a:rPr>
              <a:t>داده‌های</a:t>
            </a:r>
            <a:r>
              <a:rPr lang="fa-IR" sz="2000" b="1" dirty="0">
                <a:cs typeface="B Nazanin" panose="00000400000000000000" pitchFamily="2" charset="-78"/>
              </a:rPr>
              <a:t> آموزش</a:t>
            </a: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D1F31F-B8E5-F8C4-73E4-478608A1A773}"/>
              </a:ext>
            </a:extLst>
          </p:cNvPr>
          <p:cNvSpPr txBox="1">
            <a:spLocks/>
          </p:cNvSpPr>
          <p:nvPr/>
        </p:nvSpPr>
        <p:spPr>
          <a:xfrm>
            <a:off x="949037" y="5862791"/>
            <a:ext cx="10735642" cy="445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اطلاعات و دانش مدل‌ زبانی محدود به </a:t>
            </a:r>
            <a:r>
              <a:rPr lang="fa-IR" sz="2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داده‌هایی</a:t>
            </a: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است که روی آن آموزش دیده است. </a:t>
            </a:r>
          </a:p>
        </p:txBody>
      </p:sp>
    </p:spTree>
    <p:extLst>
      <p:ext uri="{BB962C8B-B14F-4D97-AF65-F5344CB8AC3E}">
        <p14:creationId xmlns:p14="http://schemas.microsoft.com/office/powerpoint/2010/main" val="3857308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9C65C-9AB1-3C1D-EBDE-657B9D94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راه‌های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افزودن دانش و اطلاعات جدید به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B0DC6-9E86-838A-281B-D80913953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67951"/>
          </a:xfrm>
        </p:spPr>
        <p:txBody>
          <a:bodyPr/>
          <a:lstStyle/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آموزش دادن یک مدل زبانی از ابتدا بر روی کل </a:t>
            </a:r>
            <a:r>
              <a:rPr lang="fa-IR" sz="2400" b="1" dirty="0" err="1">
                <a:cs typeface="B Nazanin" panose="00000400000000000000" pitchFamily="2" charset="-78"/>
              </a:rPr>
              <a:t>داده‌های</a:t>
            </a:r>
            <a:r>
              <a:rPr lang="fa-IR" sz="2400" b="1" dirty="0">
                <a:cs typeface="B Nazanin" panose="00000400000000000000" pitchFamily="2" charset="-78"/>
              </a:rPr>
              <a:t> مورد نظر</a:t>
            </a:r>
          </a:p>
          <a:p>
            <a:pPr algn="r" rtl="1"/>
            <a:endParaRPr lang="fa-IR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1E06A-8F9E-AC76-BC2F-4F3C74C8F3B0}"/>
              </a:ext>
            </a:extLst>
          </p:cNvPr>
          <p:cNvSpPr txBox="1">
            <a:spLocks/>
          </p:cNvSpPr>
          <p:nvPr/>
        </p:nvSpPr>
        <p:spPr>
          <a:xfrm>
            <a:off x="9648470" y="2306639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Pre-training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1A89D6-D8EC-D6EB-E031-72C9AA7284D5}"/>
              </a:ext>
            </a:extLst>
          </p:cNvPr>
          <p:cNvSpPr txBox="1">
            <a:spLocks/>
          </p:cNvSpPr>
          <p:nvPr/>
        </p:nvSpPr>
        <p:spPr>
          <a:xfrm>
            <a:off x="936811" y="3009527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تنظیم مجدد یک مدل آموزش دیده بر روی داده های جدید</a:t>
            </a:r>
          </a:p>
          <a:p>
            <a:pPr algn="r" rtl="1"/>
            <a:endParaRPr lang="fa-I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3972AEA-2CC9-FECB-AB72-5145623F3272}"/>
              </a:ext>
            </a:extLst>
          </p:cNvPr>
          <p:cNvSpPr txBox="1">
            <a:spLocks/>
          </p:cNvSpPr>
          <p:nvPr/>
        </p:nvSpPr>
        <p:spPr>
          <a:xfrm>
            <a:off x="936811" y="4211545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تقویت پاسخ مدل زبانی با ضمیمه شدن دانش و اطلاعات مربوطه به ورودی مدل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18F708B-4116-A8D0-BE04-F2300237C74E}"/>
              </a:ext>
            </a:extLst>
          </p:cNvPr>
          <p:cNvSpPr txBox="1">
            <a:spLocks/>
          </p:cNvSpPr>
          <p:nvPr/>
        </p:nvSpPr>
        <p:spPr>
          <a:xfrm>
            <a:off x="9648470" y="3541713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Fine-tuning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B62F38-B838-6AE5-5198-2550871061F5}"/>
              </a:ext>
            </a:extLst>
          </p:cNvPr>
          <p:cNvSpPr txBox="1">
            <a:spLocks/>
          </p:cNvSpPr>
          <p:nvPr/>
        </p:nvSpPr>
        <p:spPr>
          <a:xfrm>
            <a:off x="2116624" y="4711980"/>
            <a:ext cx="9054352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i="0" dirty="0">
                <a:solidFill>
                  <a:srgbClr val="4B4F58"/>
                </a:solidFill>
                <a:effectLst/>
                <a:latin typeface="lists-font"/>
              </a:rPr>
              <a:t>Retrieval-Augmented Generation (RAG)</a:t>
            </a:r>
            <a:endParaRPr lang="fa-IR" sz="2000" b="1" dirty="0"/>
          </a:p>
        </p:txBody>
      </p:sp>
    </p:spTree>
    <p:extLst>
      <p:ext uri="{BB962C8B-B14F-4D97-AF65-F5344CB8AC3E}">
        <p14:creationId xmlns:p14="http://schemas.microsoft.com/office/powerpoint/2010/main" val="3181932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4288537-A1B0-D053-A817-5EA8797368FE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9781310" y="3886852"/>
            <a:ext cx="748145" cy="12371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9E9A7102-1A0E-E3BD-3B2D-94280552065E}"/>
              </a:ext>
            </a:extLst>
          </p:cNvPr>
          <p:cNvCxnSpPr>
            <a:cxnSpLocks/>
          </p:cNvCxnSpPr>
          <p:nvPr/>
        </p:nvCxnSpPr>
        <p:spPr>
          <a:xfrm flipV="1">
            <a:off x="9781307" y="3617576"/>
            <a:ext cx="748148" cy="554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4A0E16EF-6470-7552-B7FC-A5FF39DE62D2}"/>
              </a:ext>
            </a:extLst>
          </p:cNvPr>
          <p:cNvCxnSpPr>
            <a:cxnSpLocks/>
          </p:cNvCxnSpPr>
          <p:nvPr/>
        </p:nvCxnSpPr>
        <p:spPr>
          <a:xfrm>
            <a:off x="9772068" y="3210200"/>
            <a:ext cx="757387" cy="5985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54C23380-6D00-480B-4D6F-BD70A4226D82}"/>
              </a:ext>
            </a:extLst>
          </p:cNvPr>
          <p:cNvCxnSpPr>
            <a:cxnSpLocks/>
          </p:cNvCxnSpPr>
          <p:nvPr/>
        </p:nvCxnSpPr>
        <p:spPr>
          <a:xfrm>
            <a:off x="9762836" y="2752515"/>
            <a:ext cx="766619" cy="2186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B9A8838-1FB7-91A6-1575-61287B311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0484" y="251365"/>
            <a:ext cx="10515600" cy="879760"/>
          </a:xfrm>
        </p:spPr>
        <p:txBody>
          <a:bodyPr>
            <a:normAutofit/>
          </a:bodyPr>
          <a:lstStyle/>
          <a:p>
            <a:pPr algn="r"/>
            <a:r>
              <a:rPr lang="fa-IR" sz="32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نحوه افزوده شدن یک مدرک به پایگاه داده برداری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76D35FE-31C0-7F20-5FF2-9E6A72A51BFA}"/>
              </a:ext>
            </a:extLst>
          </p:cNvPr>
          <p:cNvGrpSpPr/>
          <p:nvPr/>
        </p:nvGrpSpPr>
        <p:grpSpPr>
          <a:xfrm>
            <a:off x="170282" y="2617640"/>
            <a:ext cx="4082436" cy="3034329"/>
            <a:chOff x="1099548" y="2263724"/>
            <a:chExt cx="4082436" cy="3034329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999C0B94-12D4-5693-E2EB-6ACC41AA56DA}"/>
                </a:ext>
              </a:extLst>
            </p:cNvPr>
            <p:cNvGrpSpPr/>
            <p:nvPr/>
          </p:nvGrpSpPr>
          <p:grpSpPr>
            <a:xfrm>
              <a:off x="1099548" y="2263724"/>
              <a:ext cx="3629469" cy="3034329"/>
              <a:chOff x="1275040" y="2263724"/>
              <a:chExt cx="3481309" cy="3034329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DD8B0A84-65F9-4E3C-2541-24A1C1BF5F67}"/>
                  </a:ext>
                </a:extLst>
              </p:cNvPr>
              <p:cNvGrpSpPr/>
              <p:nvPr/>
            </p:nvGrpSpPr>
            <p:grpSpPr>
              <a:xfrm>
                <a:off x="1275040" y="2263724"/>
                <a:ext cx="3481309" cy="3001334"/>
                <a:chOff x="1819985" y="1755724"/>
                <a:chExt cx="3481309" cy="3001334"/>
              </a:xfrm>
            </p:grpSpPr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DF50FA88-43A9-B9D1-694A-0437344F58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041236"/>
                  <a:ext cx="1607131" cy="118601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Arrow Connector 28">
                  <a:extLst>
                    <a:ext uri="{FF2B5EF4-FFF2-40B4-BE49-F238E27FC236}">
                      <a16:creationId xmlns:a16="http://schemas.microsoft.com/office/drawing/2014/main" id="{5AE6DC54-F24D-BC66-5668-25725BD5FF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408142"/>
                  <a:ext cx="1593692" cy="81910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Arrow Connector 29">
                  <a:extLst>
                    <a:ext uri="{FF2B5EF4-FFF2-40B4-BE49-F238E27FC236}">
                      <a16:creationId xmlns:a16="http://schemas.microsoft.com/office/drawing/2014/main" id="{46B88ACD-334E-F01D-D4C0-7413D5754B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19008" y="3290500"/>
                  <a:ext cx="1560952" cy="91204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Arrow Connector 30">
                  <a:extLst>
                    <a:ext uri="{FF2B5EF4-FFF2-40B4-BE49-F238E27FC236}">
                      <a16:creationId xmlns:a16="http://schemas.microsoft.com/office/drawing/2014/main" id="{1F07367B-B0EE-5466-27A9-3C44681A4F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755660"/>
                  <a:ext cx="1607131" cy="47158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DC25095D-FD1D-25BF-BE8F-ABCCDFBD0F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44566" y="3241263"/>
                  <a:ext cx="1707687" cy="268555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Arrow Connector 41">
                  <a:extLst>
                    <a:ext uri="{FF2B5EF4-FFF2-40B4-BE49-F238E27FC236}">
                      <a16:creationId xmlns:a16="http://schemas.microsoft.com/office/drawing/2014/main" id="{B237CBAB-C665-C702-3046-8975FCC1D8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45122" y="3140364"/>
                  <a:ext cx="1607131" cy="100899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Arrow Connector 46">
                  <a:extLst>
                    <a:ext uri="{FF2B5EF4-FFF2-40B4-BE49-F238E27FC236}">
                      <a16:creationId xmlns:a16="http://schemas.microsoft.com/office/drawing/2014/main" id="{FBB08D44-9631-85E9-B3F7-6721842F79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5122" y="3255280"/>
                  <a:ext cx="1563460" cy="587047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0136540F-01CF-8287-502D-463495BDEF8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819985" y="2801840"/>
                  <a:ext cx="819104" cy="819104"/>
                </a:xfrm>
                <a:prstGeom prst="rect">
                  <a:avLst/>
                </a:prstGeom>
              </p:spPr>
            </p:pic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0975F05-7064-D0D3-EE94-9559F1AF0FDC}"/>
                    </a:ext>
                  </a:extLst>
                </p:cNvPr>
                <p:cNvSpPr txBox="1"/>
                <p:nvPr/>
              </p:nvSpPr>
              <p:spPr>
                <a:xfrm>
                  <a:off x="4045149" y="1755724"/>
                  <a:ext cx="1256145" cy="3001334"/>
                </a:xfrm>
                <a:prstGeom prst="rect">
                  <a:avLst/>
                </a:prstGeom>
                <a:noFill/>
              </p:spPr>
              <p:txBody>
                <a:bodyPr wrap="square" rtlCol="1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1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2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3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N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endParaRPr lang="fa-IR" sz="1600" b="1" dirty="0"/>
                </a:p>
              </p:txBody>
            </p:sp>
          </p:grp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7CFBC88-EAA2-C3F4-17B1-0906DB0458C1}"/>
                  </a:ext>
                </a:extLst>
              </p:cNvPr>
              <p:cNvSpPr txBox="1"/>
              <p:nvPr/>
            </p:nvSpPr>
            <p:spPr>
              <a:xfrm>
                <a:off x="1303171" y="4174669"/>
                <a:ext cx="743102" cy="1123384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pPr algn="ctr" rtl="1"/>
                <a:r>
                  <a:rPr lang="fa-IR" sz="1900" b="1" dirty="0">
                    <a:solidFill>
                      <a:srgbClr val="0070C0"/>
                    </a:solidFill>
                    <a:cs typeface="B Nazanin" panose="00000400000000000000" pitchFamily="2" charset="-78"/>
                  </a:rPr>
                  <a:t>مدرک 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.pdf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.docx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.txt</a:t>
                </a:r>
                <a:endParaRPr lang="fa-IR" sz="1600" b="1" dirty="0">
                  <a:cs typeface="B Nazanin" panose="00000400000000000000" pitchFamily="2" charset="-78"/>
                </a:endParaRPr>
              </a:p>
            </p:txBody>
          </p:sp>
        </p:grp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AD4B78F9-52B8-148E-91E3-04CB1D3D7B86}"/>
                </a:ext>
              </a:extLst>
            </p:cNvPr>
            <p:cNvCxnSpPr>
              <a:cxnSpLocks/>
            </p:cNvCxnSpPr>
            <p:nvPr/>
          </p:nvCxnSpPr>
          <p:spPr>
            <a:xfrm>
              <a:off x="4634223" y="2512291"/>
              <a:ext cx="54776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C63BF45E-4692-E5E0-42E4-C5FF807D14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45648" y="2874756"/>
              <a:ext cx="536336" cy="906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D86EA161-2815-D3BA-ACCD-0E05F29C7D64}"/>
                </a:ext>
              </a:extLst>
            </p:cNvPr>
            <p:cNvCxnSpPr>
              <a:cxnSpLocks/>
            </p:cNvCxnSpPr>
            <p:nvPr/>
          </p:nvCxnSpPr>
          <p:spPr>
            <a:xfrm>
              <a:off x="4636412" y="3263660"/>
              <a:ext cx="5455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E4138572-937B-FC66-9AA2-4850E303B4C6}"/>
                </a:ext>
              </a:extLst>
            </p:cNvPr>
            <p:cNvCxnSpPr>
              <a:cxnSpLocks/>
            </p:cNvCxnSpPr>
            <p:nvPr/>
          </p:nvCxnSpPr>
          <p:spPr>
            <a:xfrm>
              <a:off x="4687212" y="4710545"/>
              <a:ext cx="4947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831210E5-00B8-B0E2-7F8F-2D414B7FB8D9}"/>
              </a:ext>
            </a:extLst>
          </p:cNvPr>
          <p:cNvGrpSpPr/>
          <p:nvPr/>
        </p:nvGrpSpPr>
        <p:grpSpPr>
          <a:xfrm>
            <a:off x="4330626" y="1690508"/>
            <a:ext cx="5450684" cy="3978204"/>
            <a:chOff x="5106480" y="1210272"/>
            <a:chExt cx="5450684" cy="3978204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AB27AFBA-7D5A-EEB7-9AE7-7866C577AFAE}"/>
                </a:ext>
              </a:extLst>
            </p:cNvPr>
            <p:cNvSpPr/>
            <p:nvPr/>
          </p:nvSpPr>
          <p:spPr>
            <a:xfrm>
              <a:off x="5106480" y="1974702"/>
              <a:ext cx="2256103" cy="3213774"/>
            </a:xfrm>
            <a:prstGeom prst="roundRect">
              <a:avLst/>
            </a:prstGeom>
            <a:solidFill>
              <a:srgbClr val="A5CDF1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مدل مبدل متن به</a:t>
              </a:r>
            </a:p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 بردار معنایی</a:t>
              </a:r>
              <a:endParaRPr lang="en-US" b="1" dirty="0">
                <a:cs typeface="B Nazanin" panose="00000400000000000000" pitchFamily="2" charset="-78"/>
              </a:endParaRPr>
            </a:p>
            <a:p>
              <a:pPr algn="ctr"/>
              <a:endParaRPr lang="en-US" dirty="0"/>
            </a:p>
            <a:p>
              <a:pPr algn="ctr"/>
              <a:r>
                <a:rPr lang="en-US" b="1" dirty="0"/>
                <a:t>Embedding model</a:t>
              </a:r>
              <a:endParaRPr lang="fa-IR" b="1" dirty="0"/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447E53A9-02EA-4EA3-8DDF-0D1C07F6E4AA}"/>
                </a:ext>
              </a:extLst>
            </p:cNvPr>
            <p:cNvSpPr/>
            <p:nvPr/>
          </p:nvSpPr>
          <p:spPr>
            <a:xfrm>
              <a:off x="7629235" y="213328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[ 0.16   0.53   0.31   0.09 …  0.87 ]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75F09960-2F6E-A11E-5F9B-15C891D071BD}"/>
                </a:ext>
              </a:extLst>
            </p:cNvPr>
            <p:cNvSpPr/>
            <p:nvPr/>
          </p:nvSpPr>
          <p:spPr>
            <a:xfrm>
              <a:off x="7629236" y="1210272"/>
              <a:ext cx="2927926" cy="687953"/>
            </a:xfrm>
            <a:prstGeom prst="roundRect">
              <a:avLst/>
            </a:prstGeom>
            <a:solidFill>
              <a:srgbClr val="B0DD7F"/>
            </a:solidFill>
            <a:ln>
              <a:solidFill>
                <a:schemeClr val="accent6">
                  <a:lumMod val="75000"/>
                </a:schemeClr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 err="1">
                  <a:solidFill>
                    <a:srgbClr val="2E471D"/>
                  </a:solidFill>
                  <a:cs typeface="B Nazanin" panose="00000400000000000000" pitchFamily="2" charset="-78"/>
                </a:rPr>
                <a:t>بردارهای</a:t>
              </a:r>
              <a:r>
                <a:rPr lang="fa-IR" b="1" dirty="0">
                  <a:solidFill>
                    <a:srgbClr val="2E471D"/>
                  </a:solidFill>
                  <a:cs typeface="B Nazanin" panose="00000400000000000000" pitchFamily="2" charset="-78"/>
                </a:rPr>
                <a:t> معنایی</a:t>
              </a:r>
              <a:endParaRPr lang="en-US" b="1" dirty="0">
                <a:solidFill>
                  <a:srgbClr val="2E471D"/>
                </a:solidFill>
                <a:cs typeface="B Nazanin" panose="00000400000000000000" pitchFamily="2" charset="-78"/>
              </a:endParaRPr>
            </a:p>
            <a:p>
              <a:pPr algn="ctr">
                <a:spcBef>
                  <a:spcPts val="600"/>
                </a:spcBef>
              </a:pPr>
              <a:r>
                <a:rPr lang="en-US" b="1" dirty="0">
                  <a:solidFill>
                    <a:srgbClr val="2E471D"/>
                  </a:solidFill>
                  <a:cs typeface="B Nazanin" panose="00000400000000000000" pitchFamily="2" charset="-78"/>
                </a:rPr>
                <a:t>Semantic vectors</a:t>
              </a:r>
              <a:endParaRPr lang="fa-IR" b="1" dirty="0">
                <a:solidFill>
                  <a:srgbClr val="2E471D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EF4B7B96-FB7B-99EE-85D8-04E6E701AEF3}"/>
                </a:ext>
              </a:extLst>
            </p:cNvPr>
            <p:cNvSpPr/>
            <p:nvPr/>
          </p:nvSpPr>
          <p:spPr>
            <a:xfrm>
              <a:off x="7629233" y="2581738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[ 0.71   0.42   0.25   0.23 …  0.79 ]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5330C6A4-02B5-B8BC-9D7B-B8EABA2CB8AD}"/>
                </a:ext>
              </a:extLst>
            </p:cNvPr>
            <p:cNvSpPr/>
            <p:nvPr/>
          </p:nvSpPr>
          <p:spPr>
            <a:xfrm>
              <a:off x="7629234" y="304865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[ 0.21   0.68   0.26   0.09 …  0.65 ]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2C9F8B45-FC8F-96A9-C8B4-3EA7CCD71651}"/>
                </a:ext>
              </a:extLst>
            </p:cNvPr>
            <p:cNvSpPr/>
            <p:nvPr/>
          </p:nvSpPr>
          <p:spPr>
            <a:xfrm>
              <a:off x="7629235" y="4495544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[ 0.39   0.13   0.48   0.77 …  0.37 ]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F583DA30-D8C9-31CB-9F64-38A514A9334F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4643770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0E4B0A73-9908-5D28-8EC3-6EE22290BD33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299987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86D93FE1-EEC4-F8AA-1D86-0E37053A8040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748436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FC785F07-4337-5555-1CAB-3C1319BC2567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3217855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98" name="Picture 97">
            <a:extLst>
              <a:ext uri="{FF2B5EF4-FFF2-40B4-BE49-F238E27FC236}">
                <a16:creationId xmlns:a16="http://schemas.microsoft.com/office/drawing/2014/main" id="{B71544E2-6F04-B2C8-0865-FB8C0A36EF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7042" y="2673931"/>
            <a:ext cx="1629042" cy="1629042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1AE43193-D860-EB50-5C75-7B4458DB5A5C}"/>
              </a:ext>
            </a:extLst>
          </p:cNvPr>
          <p:cNvSpPr txBox="1"/>
          <p:nvPr/>
        </p:nvSpPr>
        <p:spPr>
          <a:xfrm>
            <a:off x="10244907" y="4246800"/>
            <a:ext cx="1776811" cy="684803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>
              <a:spcBef>
                <a:spcPts val="200"/>
              </a:spcBef>
            </a:pPr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>
              <a:spcBef>
                <a:spcPts val="200"/>
              </a:spcBef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7C6082F-7D99-AB2F-F417-63931E4EDCD4}"/>
              </a:ext>
            </a:extLst>
          </p:cNvPr>
          <p:cNvSpPr txBox="1"/>
          <p:nvPr/>
        </p:nvSpPr>
        <p:spPr>
          <a:xfrm>
            <a:off x="8148156" y="5735837"/>
            <a:ext cx="3799611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ذخیره سازی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تکه‌متن</a:t>
            </a:r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 به همراه بردار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معنایی‌اش</a:t>
            </a:r>
            <a:endParaRPr lang="fa-IR" b="1" dirty="0">
              <a:solidFill>
                <a:schemeClr val="accent6">
                  <a:lumMod val="50000"/>
                </a:schemeClr>
              </a:solidFill>
              <a:cs typeface="B Nazanin" panose="00000400000000000000" pitchFamily="2" charset="-78"/>
            </a:endParaRPr>
          </a:p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در پایگاه داده برداری </a:t>
            </a:r>
          </a:p>
        </p:txBody>
      </p:sp>
      <p:cxnSp>
        <p:nvCxnSpPr>
          <p:cNvPr id="116" name="Connector: Curved 115">
            <a:extLst>
              <a:ext uri="{FF2B5EF4-FFF2-40B4-BE49-F238E27FC236}">
                <a16:creationId xmlns:a16="http://schemas.microsoft.com/office/drawing/2014/main" id="{1773F58E-B6AE-5894-0053-96507427CC04}"/>
              </a:ext>
            </a:extLst>
          </p:cNvPr>
          <p:cNvCxnSpPr>
            <a:cxnSpLocks/>
          </p:cNvCxnSpPr>
          <p:nvPr/>
        </p:nvCxnSpPr>
        <p:spPr>
          <a:xfrm rot="16200000" flipH="1">
            <a:off x="9911366" y="4836049"/>
            <a:ext cx="1004066" cy="73087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0" name="Connector: Curved 119">
            <a:extLst>
              <a:ext uri="{FF2B5EF4-FFF2-40B4-BE49-F238E27FC236}">
                <a16:creationId xmlns:a16="http://schemas.microsoft.com/office/drawing/2014/main" id="{489A0380-DB57-7ED7-20A0-8A52EC0645DC}"/>
              </a:ext>
            </a:extLst>
          </p:cNvPr>
          <p:cNvCxnSpPr>
            <a:cxnSpLocks/>
          </p:cNvCxnSpPr>
          <p:nvPr/>
        </p:nvCxnSpPr>
        <p:spPr>
          <a:xfrm rot="5400000">
            <a:off x="3125437" y="2474449"/>
            <a:ext cx="293056" cy="25403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9BEF3BC7-5CA4-5B6C-0836-894076352570}"/>
              </a:ext>
            </a:extLst>
          </p:cNvPr>
          <p:cNvSpPr txBox="1"/>
          <p:nvPr/>
        </p:nvSpPr>
        <p:spPr>
          <a:xfrm>
            <a:off x="3027532" y="2136399"/>
            <a:ext cx="9778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b="1" dirty="0" err="1">
                <a:solidFill>
                  <a:srgbClr val="567FCA"/>
                </a:solidFill>
                <a:cs typeface="B Nazanin" panose="00000400000000000000" pitchFamily="2" charset="-78"/>
              </a:rPr>
              <a:t>تکه‌متن‌ها</a:t>
            </a:r>
            <a:endParaRPr lang="fa-IR" b="1" dirty="0">
              <a:solidFill>
                <a:srgbClr val="567FCA"/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902217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Arrow: Right 39">
            <a:extLst>
              <a:ext uri="{FF2B5EF4-FFF2-40B4-BE49-F238E27FC236}">
                <a16:creationId xmlns:a16="http://schemas.microsoft.com/office/drawing/2014/main" id="{9692C625-027B-5A93-F37C-56583E07D0A4}"/>
              </a:ext>
            </a:extLst>
          </p:cNvPr>
          <p:cNvSpPr/>
          <p:nvPr/>
        </p:nvSpPr>
        <p:spPr>
          <a:xfrm>
            <a:off x="3101143" y="5012248"/>
            <a:ext cx="1920944" cy="388648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C722032-AB4E-9523-B558-4043A13FEE56}"/>
              </a:ext>
            </a:extLst>
          </p:cNvPr>
          <p:cNvSpPr/>
          <p:nvPr/>
        </p:nvSpPr>
        <p:spPr>
          <a:xfrm>
            <a:off x="6556980" y="2087662"/>
            <a:ext cx="721650" cy="441000"/>
          </a:xfrm>
          <a:prstGeom prst="rightArrow">
            <a:avLst>
              <a:gd name="adj1" fmla="val 50000"/>
              <a:gd name="adj2" fmla="val 56283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14C018E-445C-BBD5-46C0-7C13A31E8215}"/>
              </a:ext>
            </a:extLst>
          </p:cNvPr>
          <p:cNvSpPr/>
          <p:nvPr/>
        </p:nvSpPr>
        <p:spPr>
          <a:xfrm>
            <a:off x="10015240" y="1547323"/>
            <a:ext cx="1539189" cy="1443317"/>
          </a:xfrm>
          <a:prstGeom prst="ellipse">
            <a:avLst/>
          </a:prstGeom>
          <a:solidFill>
            <a:srgbClr val="E3B5F5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600" b="1" dirty="0">
                <a:solidFill>
                  <a:schemeClr val="tx1"/>
                </a:solidFill>
                <a:cs typeface="B Nazanin" panose="00000400000000000000" pitchFamily="2" charset="-78"/>
              </a:rPr>
              <a:t>پاسخ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1FC2D48-6718-497F-AA64-B0CBCFDDAB23}"/>
              </a:ext>
            </a:extLst>
          </p:cNvPr>
          <p:cNvSpPr/>
          <p:nvPr/>
        </p:nvSpPr>
        <p:spPr>
          <a:xfrm rot="4243803">
            <a:off x="837567" y="3675643"/>
            <a:ext cx="1580167" cy="310376"/>
          </a:xfrm>
          <a:prstGeom prst="rightArrow">
            <a:avLst>
              <a:gd name="adj1" fmla="val 50000"/>
              <a:gd name="adj2" fmla="val 91926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fa-IR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227C395-9A62-0269-D519-C715B5C3AFE2}"/>
              </a:ext>
            </a:extLst>
          </p:cNvPr>
          <p:cNvSpPr/>
          <p:nvPr/>
        </p:nvSpPr>
        <p:spPr>
          <a:xfrm>
            <a:off x="479931" y="4596689"/>
            <a:ext cx="2713574" cy="1180831"/>
          </a:xfrm>
          <a:prstGeom prst="roundRect">
            <a:avLst/>
          </a:prstGeom>
          <a:solidFill>
            <a:srgbClr val="A2CAEC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fa-IR" b="1" dirty="0">
                <a:solidFill>
                  <a:srgbClr val="060730"/>
                </a:solidFill>
                <a:cs typeface="B Nazanin" panose="00000400000000000000" pitchFamily="2" charset="-78"/>
              </a:rPr>
              <a:t>مدل مبدل متن به بردار معنایی</a:t>
            </a:r>
            <a:endParaRPr lang="en-US" b="1" dirty="0">
              <a:solidFill>
                <a:srgbClr val="060730"/>
              </a:solidFill>
              <a:cs typeface="B Nazanin" panose="00000400000000000000" pitchFamily="2" charset="-78"/>
            </a:endParaRPr>
          </a:p>
          <a:p>
            <a:pPr algn="ctr"/>
            <a:endParaRPr lang="en-US" dirty="0">
              <a:solidFill>
                <a:srgbClr val="060730"/>
              </a:solidFill>
            </a:endParaRPr>
          </a:p>
          <a:p>
            <a:pPr algn="ctr"/>
            <a:r>
              <a:rPr lang="en-US" b="1" dirty="0">
                <a:solidFill>
                  <a:srgbClr val="060730"/>
                </a:solidFill>
              </a:rPr>
              <a:t>Embedding model</a:t>
            </a:r>
            <a:endParaRPr lang="fa-IR" b="1" dirty="0">
              <a:solidFill>
                <a:srgbClr val="060730"/>
              </a:solidFill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8C538AB-8859-E96F-61C4-C95ABE1E7F37}"/>
              </a:ext>
            </a:extLst>
          </p:cNvPr>
          <p:cNvGrpSpPr/>
          <p:nvPr/>
        </p:nvGrpSpPr>
        <p:grpSpPr>
          <a:xfrm>
            <a:off x="4872173" y="1504257"/>
            <a:ext cx="1777862" cy="1738320"/>
            <a:chOff x="5554862" y="2758085"/>
            <a:chExt cx="1586831" cy="1350815"/>
          </a:xfr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72FDC58-394B-674D-35EA-88F52172055C}"/>
                </a:ext>
              </a:extLst>
            </p:cNvPr>
            <p:cNvSpPr/>
            <p:nvPr/>
          </p:nvSpPr>
          <p:spPr>
            <a:xfrm>
              <a:off x="5771104" y="2758085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  <a:shade val="30000"/>
                    <a:satMod val="115000"/>
                  </a:schemeClr>
                </a:gs>
                <a:gs pos="50000">
                  <a:schemeClr val="accent1">
                    <a:lumMod val="60000"/>
                    <a:lumOff val="40000"/>
                    <a:shade val="67500"/>
                    <a:satMod val="115000"/>
                  </a:schemeClr>
                </a:gs>
                <a:gs pos="100000">
                  <a:schemeClr val="accent1">
                    <a:lumMod val="60000"/>
                    <a:lumOff val="40000"/>
                    <a:shade val="100000"/>
                    <a:satMod val="115000"/>
                  </a:schemeClr>
                </a:gs>
              </a:gsLst>
              <a:lin ang="81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468D31C-E7A4-2243-153E-2D9831D1AD59}"/>
                </a:ext>
              </a:extLst>
            </p:cNvPr>
            <p:cNvSpPr/>
            <p:nvPr/>
          </p:nvSpPr>
          <p:spPr>
            <a:xfrm>
              <a:off x="5667837" y="2871363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D0E21A20-FC60-B3F4-E52D-434BC2487277}"/>
                </a:ext>
              </a:extLst>
            </p:cNvPr>
            <p:cNvSpPr/>
            <p:nvPr/>
          </p:nvSpPr>
          <p:spPr>
            <a:xfrm>
              <a:off x="5554862" y="2985133"/>
              <a:ext cx="1370589" cy="1123767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مضامین مرتبط دریافت شده</a:t>
              </a:r>
            </a:p>
            <a:p>
              <a:pPr algn="ctr"/>
              <a:endParaRPr lang="fa-IR" dirty="0"/>
            </a:p>
            <a:p>
              <a:pPr algn="ctr"/>
              <a:r>
                <a:rPr lang="en-US" b="1" dirty="0"/>
                <a:t>Retrieved contexts</a:t>
              </a:r>
              <a:endParaRPr lang="fa-IR" b="1" dirty="0"/>
            </a:p>
          </p:txBody>
        </p:sp>
      </p:grpSp>
      <p:sp>
        <p:nvSpPr>
          <p:cNvPr id="39" name="Arrow: Curved Down 38">
            <a:extLst>
              <a:ext uri="{FF2B5EF4-FFF2-40B4-BE49-F238E27FC236}">
                <a16:creationId xmlns:a16="http://schemas.microsoft.com/office/drawing/2014/main" id="{3F63B1EB-BD85-DE5A-0E9B-DD512A4DDE05}"/>
              </a:ext>
            </a:extLst>
          </p:cNvPr>
          <p:cNvSpPr/>
          <p:nvPr/>
        </p:nvSpPr>
        <p:spPr>
          <a:xfrm rot="20762065">
            <a:off x="811502" y="740928"/>
            <a:ext cx="7740934" cy="1459870"/>
          </a:xfrm>
          <a:prstGeom prst="curvedDownArrow">
            <a:avLst>
              <a:gd name="adj1" fmla="val 15597"/>
              <a:gd name="adj2" fmla="val 37953"/>
              <a:gd name="adj3" fmla="val 20984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489D919-6574-5CE1-D5FE-EFB31CEF32CE}"/>
              </a:ext>
            </a:extLst>
          </p:cNvPr>
          <p:cNvSpPr/>
          <p:nvPr/>
        </p:nvSpPr>
        <p:spPr>
          <a:xfrm>
            <a:off x="479930" y="2382572"/>
            <a:ext cx="1456817" cy="106517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>
              <a:lnSpc>
                <a:spcPct val="150000"/>
              </a:lnSpc>
            </a:pPr>
            <a:r>
              <a:rPr lang="fa-IR" b="1" dirty="0">
                <a:solidFill>
                  <a:srgbClr val="2A2A2A"/>
                </a:solidFill>
                <a:cs typeface="B Nazanin" panose="00000400000000000000" pitchFamily="2" charset="-78"/>
              </a:rPr>
              <a:t>سوال کاربر</a:t>
            </a:r>
            <a:endParaRPr lang="fa-IR" dirty="0">
              <a:solidFill>
                <a:srgbClr val="2A2A2A"/>
              </a:solidFill>
              <a:cs typeface="B Nazanin" panose="00000400000000000000" pitchFamily="2" charset="-78"/>
            </a:endParaRPr>
          </a:p>
          <a:p>
            <a:pPr algn="ctr">
              <a:lnSpc>
                <a:spcPct val="150000"/>
              </a:lnSpc>
            </a:pPr>
            <a:r>
              <a:rPr lang="en-US" b="1" dirty="0">
                <a:solidFill>
                  <a:srgbClr val="2A2A2A"/>
                </a:solidFill>
              </a:rPr>
              <a:t>User query</a:t>
            </a:r>
            <a:endParaRPr lang="fa-IR" b="1" dirty="0">
              <a:solidFill>
                <a:srgbClr val="2A2A2A"/>
              </a:solidFill>
            </a:endParaRP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67F6738F-0F6E-43E3-A844-8DC6AF9A11CB}"/>
              </a:ext>
            </a:extLst>
          </p:cNvPr>
          <p:cNvSpPr/>
          <p:nvPr/>
        </p:nvSpPr>
        <p:spPr>
          <a:xfrm rot="16200000">
            <a:off x="5013222" y="3671856"/>
            <a:ext cx="1238619" cy="388586"/>
          </a:xfrm>
          <a:prstGeom prst="rightArrow">
            <a:avLst>
              <a:gd name="adj1" fmla="val 50000"/>
              <a:gd name="adj2" fmla="val 69015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596350C9-1CF9-467F-8D67-1091778C3DB8}"/>
              </a:ext>
            </a:extLst>
          </p:cNvPr>
          <p:cNvSpPr/>
          <p:nvPr/>
        </p:nvSpPr>
        <p:spPr>
          <a:xfrm>
            <a:off x="8882941" y="2087743"/>
            <a:ext cx="1067717" cy="441000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09E4A1-ED33-FD79-E2E3-AE34A3445717}"/>
              </a:ext>
            </a:extLst>
          </p:cNvPr>
          <p:cNvSpPr txBox="1"/>
          <p:nvPr/>
        </p:nvSpPr>
        <p:spPr>
          <a:xfrm>
            <a:off x="7948541" y="333281"/>
            <a:ext cx="3851565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800" b="1" dirty="0" err="1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شِمای</a:t>
            </a:r>
            <a:r>
              <a:rPr lang="fa-IR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 کلی فرآیند </a:t>
            </a:r>
            <a:r>
              <a:rPr lang="en-US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RAG</a:t>
            </a:r>
            <a:endParaRPr lang="fa-IR" sz="2800" b="1" dirty="0">
              <a:solidFill>
                <a:schemeClr val="accent5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4646134-CB8A-FED7-FCE1-29FDDD2E9240}"/>
              </a:ext>
            </a:extLst>
          </p:cNvPr>
          <p:cNvGrpSpPr/>
          <p:nvPr/>
        </p:nvGrpSpPr>
        <p:grpSpPr>
          <a:xfrm>
            <a:off x="6331036" y="4175948"/>
            <a:ext cx="1525364" cy="1810796"/>
            <a:chOff x="6576755" y="4518907"/>
            <a:chExt cx="1525364" cy="181079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0D65672-829E-6F4C-1C0B-1207D7BCB32D}"/>
                </a:ext>
              </a:extLst>
            </p:cNvPr>
            <p:cNvSpPr/>
            <p:nvPr/>
          </p:nvSpPr>
          <p:spPr>
            <a:xfrm>
              <a:off x="6594765" y="4518907"/>
              <a:ext cx="1507354" cy="1810796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6F095A3-1F94-5F80-670B-5E2080780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761587"/>
              <a:ext cx="534462" cy="534462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2AEFF4C-2378-419B-1E81-744AA8F88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4572637"/>
              <a:ext cx="534462" cy="534462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94978B0-70E1-8FED-EEC3-361FB049A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167112"/>
              <a:ext cx="534462" cy="534462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DFE2187-33F8-92B3-D040-464685DB4F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5760845"/>
              <a:ext cx="534462" cy="53446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AAC07A1-91A3-F15C-E503-DBBCFE1CD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4572637"/>
              <a:ext cx="534462" cy="53446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E413569-2C8A-4325-3BB2-41141CA467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7628" y="5184975"/>
              <a:ext cx="534462" cy="534462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5C053C7-6A68-E274-9C10-D25BA05E5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761587"/>
              <a:ext cx="534462" cy="534462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FF65AD56-881D-646C-EFFF-DF22FE5CC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4572637"/>
              <a:ext cx="534462" cy="534462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91E1418-CA47-BE84-01D4-710ECB042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167112"/>
              <a:ext cx="534462" cy="534462"/>
            </a:xfrm>
            <a:prstGeom prst="rect">
              <a:avLst/>
            </a:prstGeom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186480C9-DA08-387F-5832-00FC56507BE4}"/>
              </a:ext>
            </a:extLst>
          </p:cNvPr>
          <p:cNvSpPr txBox="1"/>
          <p:nvPr/>
        </p:nvSpPr>
        <p:spPr>
          <a:xfrm>
            <a:off x="6331036" y="3646771"/>
            <a:ext cx="1591397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جستجوی شباهت</a:t>
            </a:r>
          </a:p>
          <a:p>
            <a:pPr algn="ctr"/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Similarity search</a:t>
            </a:r>
            <a:endParaRPr lang="fa-IR" sz="16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925E3A-474B-CDE3-D34D-59906CF6A744}"/>
              </a:ext>
            </a:extLst>
          </p:cNvPr>
          <p:cNvSpPr txBox="1"/>
          <p:nvPr/>
        </p:nvSpPr>
        <p:spPr>
          <a:xfrm>
            <a:off x="303564" y="5845275"/>
            <a:ext cx="3635961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تبدیل سوال به بردار معنایی (</a:t>
            </a:r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Semantic vector</a:t>
            </a:r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)</a:t>
            </a:r>
            <a:endParaRPr lang="en-US" sz="1600" b="1" dirty="0">
              <a:solidFill>
                <a:srgbClr val="002060"/>
              </a:solidFill>
              <a:cs typeface="B Nazanin" panose="00000400000000000000" pitchFamily="2" charset="-78"/>
            </a:endParaRPr>
          </a:p>
          <a:p>
            <a:pPr algn="ctr" rtl="1"/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[0.71  0.23  …  0.06  0.94]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01D0E8F-DE88-5521-CA7F-F1275D7487DF}"/>
              </a:ext>
            </a:extLst>
          </p:cNvPr>
          <p:cNvGrpSpPr/>
          <p:nvPr/>
        </p:nvGrpSpPr>
        <p:grpSpPr>
          <a:xfrm>
            <a:off x="7308764" y="1351365"/>
            <a:ext cx="2106598" cy="1913593"/>
            <a:chOff x="7308764" y="1351365"/>
            <a:chExt cx="2106598" cy="1913593"/>
          </a:xfrm>
        </p:grpSpPr>
        <p:sp>
          <p:nvSpPr>
            <p:cNvPr id="35" name="Diamond 34">
              <a:extLst>
                <a:ext uri="{FF2B5EF4-FFF2-40B4-BE49-F238E27FC236}">
                  <a16:creationId xmlns:a16="http://schemas.microsoft.com/office/drawing/2014/main" id="{E9705E75-6B1D-8AD9-14D9-757D6948F738}"/>
                </a:ext>
              </a:extLst>
            </p:cNvPr>
            <p:cNvSpPr/>
            <p:nvPr/>
          </p:nvSpPr>
          <p:spPr>
            <a:xfrm>
              <a:off x="7308764" y="1351365"/>
              <a:ext cx="2106598" cy="1913593"/>
            </a:xfrm>
            <a:prstGeom prst="diamond">
              <a:avLst/>
            </a:prstGeom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 prst="coolSlant"/>
            </a:sp3d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endParaRPr lang="fa-IR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0CE78CC-DA96-F4F1-1B7D-8BB9369183D2}"/>
                </a:ext>
              </a:extLst>
            </p:cNvPr>
            <p:cNvSpPr txBox="1"/>
            <p:nvPr/>
          </p:nvSpPr>
          <p:spPr>
            <a:xfrm>
              <a:off x="7592468" y="2026004"/>
              <a:ext cx="1539190" cy="646331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ctr"/>
              <a:r>
                <a:rPr lang="fa-IR" b="1" dirty="0">
                  <a:solidFill>
                    <a:srgbClr val="2C451B"/>
                  </a:solidFill>
                  <a:cs typeface="B Nazanin" panose="00000400000000000000" pitchFamily="2" charset="-78"/>
                </a:rPr>
                <a:t>مدل زبانی بزرگ</a:t>
              </a:r>
            </a:p>
            <a:p>
              <a:pPr algn="ctr"/>
              <a:r>
                <a:rPr lang="en-US" b="1" dirty="0">
                  <a:solidFill>
                    <a:srgbClr val="2C451B"/>
                  </a:solidFill>
                  <a:cs typeface="+mj-cs"/>
                </a:rPr>
                <a:t>(LLM)</a:t>
              </a:r>
              <a:endParaRPr lang="fa-IR" b="1" dirty="0">
                <a:solidFill>
                  <a:srgbClr val="2C451B"/>
                </a:solidFill>
                <a:cs typeface="+mj-cs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1AC17729-C00B-69F4-0A02-2227AEE13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6210" y="4432709"/>
            <a:ext cx="1629042" cy="1629042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FDD27A9-B517-22E9-70D7-969CCC686F6F}"/>
              </a:ext>
            </a:extLst>
          </p:cNvPr>
          <p:cNvSpPr txBox="1"/>
          <p:nvPr/>
        </p:nvSpPr>
        <p:spPr>
          <a:xfrm>
            <a:off x="4759352" y="6016740"/>
            <a:ext cx="17427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/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7135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: Top Corners Snipped 39">
            <a:extLst>
              <a:ext uri="{FF2B5EF4-FFF2-40B4-BE49-F238E27FC236}">
                <a16:creationId xmlns:a16="http://schemas.microsoft.com/office/drawing/2014/main" id="{3B791696-EB2D-7401-DC40-CE5FE483A2BD}"/>
              </a:ext>
            </a:extLst>
          </p:cNvPr>
          <p:cNvSpPr/>
          <p:nvPr/>
        </p:nvSpPr>
        <p:spPr>
          <a:xfrm rot="10800000">
            <a:off x="2536731" y="3216499"/>
            <a:ext cx="1930985" cy="2376298"/>
          </a:xfrm>
          <a:prstGeom prst="snip2Same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712863-AE5E-348D-AB22-F02F12F92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8567" y="131415"/>
            <a:ext cx="10515600" cy="918730"/>
          </a:xfrm>
        </p:spPr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مبدل متن به بردار معنایی چگونه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به‌دست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می‌آیند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؟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B4B2926-C427-46EC-8610-9198B114C15D}"/>
              </a:ext>
            </a:extLst>
          </p:cNvPr>
          <p:cNvSpPr txBox="1"/>
          <p:nvPr/>
        </p:nvSpPr>
        <p:spPr>
          <a:xfrm>
            <a:off x="1" y="2009693"/>
            <a:ext cx="10701772" cy="7078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تهیه یک مجموعه واژگان از تمام لغات و </a:t>
            </a:r>
            <a:r>
              <a:rPr lang="fa-IR" sz="2000" b="1" dirty="0" err="1">
                <a:cs typeface="B Nazanin" panose="00000400000000000000" pitchFamily="2" charset="-78"/>
              </a:rPr>
              <a:t>واج‌های</a:t>
            </a:r>
            <a:r>
              <a:rPr lang="fa-IR" sz="2000" b="1" dirty="0">
                <a:cs typeface="B Nazanin" panose="00000400000000000000" pitchFamily="2" charset="-78"/>
              </a:rPr>
              <a:t> یک زبان و اختصاص یک علامت (عدد) به هر کدام</a:t>
            </a: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 (با </a:t>
            </a:r>
            <a:r>
              <a:rPr lang="fa-IR" sz="2000" b="1" dirty="0" err="1">
                <a:cs typeface="B Nazanin" panose="00000400000000000000" pitchFamily="2" charset="-78"/>
              </a:rPr>
              <a:t>الگوریتم</a:t>
            </a:r>
            <a:r>
              <a:rPr lang="fa-IR" sz="2000" b="1" dirty="0">
                <a:cs typeface="B Nazanin" panose="00000400000000000000" pitchFamily="2" charset="-78"/>
              </a:rPr>
              <a:t> </a:t>
            </a:r>
            <a:r>
              <a:rPr lang="fa-IR" sz="2000" b="1" dirty="0" err="1">
                <a:cs typeface="B Nazanin" panose="00000400000000000000" pitchFamily="2" charset="-78"/>
              </a:rPr>
              <a:t>علامت‌ساز</a:t>
            </a:r>
            <a:r>
              <a:rPr lang="fa-IR" sz="2000" b="1" dirty="0">
                <a:cs typeface="B Nazanin" panose="00000400000000000000" pitchFamily="2" charset="-78"/>
              </a:rPr>
              <a:t>)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21DCBC4-AE27-6B36-2ED1-765793FC35AA}"/>
              </a:ext>
            </a:extLst>
          </p:cNvPr>
          <p:cNvGrpSpPr/>
          <p:nvPr/>
        </p:nvGrpSpPr>
        <p:grpSpPr>
          <a:xfrm>
            <a:off x="2245541" y="4890474"/>
            <a:ext cx="9100127" cy="551849"/>
            <a:chOff x="2623127" y="1274620"/>
            <a:chExt cx="9100127" cy="551849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A2C50B10-C3B4-7430-4406-BDACE18FA733}"/>
                </a:ext>
              </a:extLst>
            </p:cNvPr>
            <p:cNvGrpSpPr/>
            <p:nvPr/>
          </p:nvGrpSpPr>
          <p:grpSpPr>
            <a:xfrm>
              <a:off x="2623127" y="1274620"/>
              <a:ext cx="9100127" cy="551849"/>
              <a:chOff x="2724727" y="1265384"/>
              <a:chExt cx="9100127" cy="551849"/>
            </a:xfrm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557B862-80D0-175E-E70C-1F0F8720F9F9}"/>
                  </a:ext>
                </a:extLst>
              </p:cNvPr>
              <p:cNvSpPr txBox="1"/>
              <p:nvPr/>
            </p:nvSpPr>
            <p:spPr>
              <a:xfrm>
                <a:off x="2724727" y="1265384"/>
                <a:ext cx="9100127" cy="461665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pPr algn="r" rtl="1"/>
                <a:r>
                  <a:rPr lang="fa-IR" sz="2400" dirty="0">
                    <a:solidFill>
                      <a:srgbClr val="008000"/>
                    </a:solidFill>
                    <a:cs typeface="B Nazanin" panose="00000400000000000000" pitchFamily="2" charset="-78"/>
                  </a:rPr>
                  <a:t>تهران</a:t>
                </a:r>
                <a:r>
                  <a:rPr lang="fa-IR" sz="2400" dirty="0">
                    <a:cs typeface="B Nazanin" panose="00000400000000000000" pitchFamily="2" charset="-78"/>
                  </a:rPr>
                  <a:t>، </a:t>
                </a:r>
                <a:r>
                  <a:rPr lang="fa-IR" sz="2400" dirty="0" err="1">
                    <a:solidFill>
                      <a:schemeClr val="accent5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پر</a:t>
                </a:r>
                <a:r>
                  <a:rPr lang="fa-IR" sz="2400" dirty="0" err="1">
                    <a:solidFill>
                      <a:schemeClr val="accent2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جمع</a:t>
                </a:r>
                <a:r>
                  <a:rPr lang="fa-IR" sz="2400" dirty="0" err="1">
                    <a:solidFill>
                      <a:schemeClr val="accent3">
                        <a:lumMod val="50000"/>
                      </a:schemeClr>
                    </a:solidFill>
                    <a:cs typeface="B Nazanin" panose="00000400000000000000" pitchFamily="2" charset="-78"/>
                  </a:rPr>
                  <a:t>یت</a:t>
                </a:r>
                <a:r>
                  <a:rPr lang="fa-IR" sz="2400" dirty="0" err="1">
                    <a:cs typeface="B Nazanin" panose="00000400000000000000" pitchFamily="2" charset="-78"/>
                  </a:rPr>
                  <a:t>‌</a:t>
                </a:r>
                <a:r>
                  <a:rPr lang="fa-IR" sz="2400" dirty="0" err="1">
                    <a:solidFill>
                      <a:srgbClr val="FF00FF"/>
                    </a:solidFill>
                    <a:cs typeface="B Nazanin" panose="00000400000000000000" pitchFamily="2" charset="-78"/>
                  </a:rPr>
                  <a:t>تر</a:t>
                </a:r>
                <a:r>
                  <a:rPr lang="fa-IR" sz="2400" dirty="0" err="1">
                    <a:solidFill>
                      <a:srgbClr val="6600FF"/>
                    </a:solidFill>
                    <a:cs typeface="B Nazanin" panose="00000400000000000000" pitchFamily="2" charset="-78"/>
                  </a:rPr>
                  <a:t>ین</a:t>
                </a:r>
                <a:r>
                  <a:rPr lang="fa-IR" sz="2400" dirty="0">
                    <a:cs typeface="B Nazanin" panose="00000400000000000000" pitchFamily="2" charset="-78"/>
                  </a:rPr>
                  <a:t> </a:t>
                </a:r>
                <a:r>
                  <a:rPr lang="fa-IR" sz="2400" dirty="0">
                    <a:solidFill>
                      <a:srgbClr val="008000"/>
                    </a:solidFill>
                    <a:cs typeface="B Nazanin" panose="00000400000000000000" pitchFamily="2" charset="-78"/>
                  </a:rPr>
                  <a:t>شهر</a:t>
                </a:r>
                <a:r>
                  <a:rPr lang="fa-IR" sz="2400" dirty="0">
                    <a:cs typeface="B Nazanin" panose="00000400000000000000" pitchFamily="2" charset="-78"/>
                  </a:rPr>
                  <a:t> </a:t>
                </a:r>
                <a:r>
                  <a:rPr lang="fa-IR" sz="2400" dirty="0">
                    <a:solidFill>
                      <a:schemeClr val="accent5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و</a:t>
                </a:r>
                <a:r>
                  <a:rPr lang="fa-IR" sz="2400" dirty="0">
                    <a:cs typeface="B Nazanin" panose="00000400000000000000" pitchFamily="2" charset="-78"/>
                  </a:rPr>
                  <a:t> </a:t>
                </a:r>
                <a:r>
                  <a:rPr lang="fa-IR" sz="2400" dirty="0">
                    <a:solidFill>
                      <a:schemeClr val="accent2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پایتخت</a:t>
                </a:r>
                <a:r>
                  <a:rPr lang="fa-IR" sz="2400" dirty="0">
                    <a:cs typeface="B Nazanin" panose="00000400000000000000" pitchFamily="2" charset="-78"/>
                  </a:rPr>
                  <a:t> </a:t>
                </a:r>
                <a:r>
                  <a:rPr lang="fa-IR" sz="2400" dirty="0">
                    <a:solidFill>
                      <a:srgbClr val="FF00FF"/>
                    </a:solidFill>
                    <a:cs typeface="B Nazanin" panose="00000400000000000000" pitchFamily="2" charset="-78"/>
                  </a:rPr>
                  <a:t>ایران</a:t>
                </a:r>
                <a:r>
                  <a:rPr lang="fa-IR" sz="2400" dirty="0">
                    <a:cs typeface="B Nazanin" panose="00000400000000000000" pitchFamily="2" charset="-78"/>
                  </a:rPr>
                  <a:t> </a:t>
                </a:r>
                <a:r>
                  <a:rPr lang="fa-IR" sz="2400" dirty="0">
                    <a:solidFill>
                      <a:srgbClr val="6600FF"/>
                    </a:solidFill>
                    <a:cs typeface="B Nazanin" panose="00000400000000000000" pitchFamily="2" charset="-78"/>
                  </a:rPr>
                  <a:t>و</a:t>
                </a:r>
                <a:r>
                  <a:rPr lang="fa-IR" sz="2400" dirty="0">
                    <a:cs typeface="B Nazanin" panose="00000400000000000000" pitchFamily="2" charset="-78"/>
                  </a:rPr>
                  <a:t> </a:t>
                </a:r>
                <a:r>
                  <a:rPr lang="fa-IR" sz="2400" dirty="0">
                    <a:solidFill>
                      <a:srgbClr val="008000"/>
                    </a:solidFill>
                    <a:cs typeface="B Nazanin" panose="00000400000000000000" pitchFamily="2" charset="-78"/>
                  </a:rPr>
                  <a:t>مرکز</a:t>
                </a:r>
                <a:r>
                  <a:rPr lang="fa-IR" sz="2400" dirty="0">
                    <a:solidFill>
                      <a:schemeClr val="accent5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 استان </a:t>
                </a:r>
                <a:r>
                  <a:rPr lang="fa-IR" sz="2400" dirty="0">
                    <a:solidFill>
                      <a:schemeClr val="accent2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تهران</a:t>
                </a:r>
                <a:r>
                  <a:rPr lang="fa-IR" sz="2400" dirty="0">
                    <a:cs typeface="B Nazanin" panose="00000400000000000000" pitchFamily="2" charset="-78"/>
                  </a:rPr>
                  <a:t> </a:t>
                </a:r>
                <a:r>
                  <a:rPr lang="fa-IR" sz="2400" dirty="0" err="1">
                    <a:solidFill>
                      <a:srgbClr val="FF00FF"/>
                    </a:solidFill>
                    <a:cs typeface="B Nazanin" panose="00000400000000000000" pitchFamily="2" charset="-78"/>
                  </a:rPr>
                  <a:t>می‌</a:t>
                </a:r>
                <a:r>
                  <a:rPr lang="fa-IR" sz="2400" dirty="0" err="1">
                    <a:solidFill>
                      <a:srgbClr val="6600FF"/>
                    </a:solidFill>
                    <a:cs typeface="B Nazanin" panose="00000400000000000000" pitchFamily="2" charset="-78"/>
                  </a:rPr>
                  <a:t>باش</a:t>
                </a:r>
                <a:r>
                  <a:rPr lang="fa-IR" sz="2400" dirty="0" err="1">
                    <a:solidFill>
                      <a:srgbClr val="00B050"/>
                    </a:solidFill>
                    <a:cs typeface="B Nazanin" panose="00000400000000000000" pitchFamily="2" charset="-78"/>
                  </a:rPr>
                  <a:t>د</a:t>
                </a:r>
                <a:r>
                  <a:rPr lang="fa-IR" sz="2400" dirty="0">
                    <a:cs typeface="B Nazanin" panose="00000400000000000000" pitchFamily="2" charset="-78"/>
                  </a:rPr>
                  <a:t>. </a:t>
                </a:r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3">
                <p14:nvContentPartPr>
                  <p14:cNvPr id="7" name="Ink 6">
                    <a:extLst>
                      <a:ext uri="{FF2B5EF4-FFF2-40B4-BE49-F238E27FC236}">
                        <a16:creationId xmlns:a16="http://schemas.microsoft.com/office/drawing/2014/main" id="{2291EA7E-0F53-792E-6B98-A7CCEA95025B}"/>
                      </a:ext>
                    </a:extLst>
                  </p14:cNvPr>
                  <p14:cNvContentPartPr/>
                  <p14:nvPr/>
                </p14:nvContentPartPr>
                <p14:xfrm>
                  <a:off x="11259079" y="1816873"/>
                  <a:ext cx="492840" cy="360"/>
                </p14:xfrm>
              </p:contentPart>
            </mc:Choice>
            <mc:Fallback xmlns="">
              <p:pic>
                <p:nvPicPr>
                  <p:cNvPr id="7" name="Ink 6">
                    <a:extLst>
                      <a:ext uri="{FF2B5EF4-FFF2-40B4-BE49-F238E27FC236}">
                        <a16:creationId xmlns:a16="http://schemas.microsoft.com/office/drawing/2014/main" id="{2291EA7E-0F53-792E-6B98-A7CCEA95025B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1252959" y="1810753"/>
                    <a:ext cx="505080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5">
                <p14:nvContentPartPr>
                  <p14:cNvPr id="9" name="Ink 8">
                    <a:extLst>
                      <a:ext uri="{FF2B5EF4-FFF2-40B4-BE49-F238E27FC236}">
                        <a16:creationId xmlns:a16="http://schemas.microsoft.com/office/drawing/2014/main" id="{E806A568-5677-90B7-7C77-97A7B2FD17DE}"/>
                      </a:ext>
                    </a:extLst>
                  </p14:cNvPr>
                  <p14:cNvContentPartPr/>
                  <p14:nvPr/>
                </p14:nvContentPartPr>
                <p14:xfrm>
                  <a:off x="10944799" y="1816873"/>
                  <a:ext cx="236160" cy="360"/>
                </p14:xfrm>
              </p:contentPart>
            </mc:Choice>
            <mc:Fallback xmlns="">
              <p:pic>
                <p:nvPicPr>
                  <p:cNvPr id="9" name="Ink 8">
                    <a:extLst>
                      <a:ext uri="{FF2B5EF4-FFF2-40B4-BE49-F238E27FC236}">
                        <a16:creationId xmlns:a16="http://schemas.microsoft.com/office/drawing/2014/main" id="{E806A568-5677-90B7-7C77-97A7B2FD17DE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938679" y="1810753"/>
                    <a:ext cx="248400" cy="12600"/>
                  </a:xfrm>
                  <a:prstGeom prst="rect">
                    <a:avLst/>
                  </a:prstGeom>
                </p:spPr>
              </p:pic>
            </mc:Fallback>
          </mc:AlternateContent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7F8473EF-4941-9705-DBE6-A36D5E5C09A5}"/>
                  </a:ext>
                </a:extLst>
              </p:cNvPr>
              <p:cNvGrpSpPr/>
              <p:nvPr/>
            </p:nvGrpSpPr>
            <p:grpSpPr>
              <a:xfrm>
                <a:off x="7887803" y="1807525"/>
                <a:ext cx="3010556" cy="9596"/>
                <a:chOff x="7416749" y="1816761"/>
                <a:chExt cx="3010556" cy="9596"/>
              </a:xfrm>
            </p:grpSpPr>
            <mc:AlternateContent xmlns:mc="http://schemas.openxmlformats.org/markup-compatibility/2006" xmlns:p14="http://schemas.microsoft.com/office/powerpoint/2010/main">
              <mc:Choice Requires="p14">
                <p:contentPart p14:bwMode="auto" r:id="rId7">
                  <p14:nvContentPartPr>
                    <p14:cNvPr id="10" name="Ink 9">
                      <a:extLst>
                        <a:ext uri="{FF2B5EF4-FFF2-40B4-BE49-F238E27FC236}">
                          <a16:creationId xmlns:a16="http://schemas.microsoft.com/office/drawing/2014/main" id="{7F8B4E23-E933-54DF-6066-0A381E122DB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0104291" y="1825997"/>
                    <a:ext cx="323014" cy="360"/>
                  </p14:xfrm>
                </p:contentPart>
              </mc:Choice>
              <mc:Fallback xmlns="">
                <p:pic>
                  <p:nvPicPr>
                    <p:cNvPr id="10" name="Ink 9">
                      <a:extLst>
                        <a:ext uri="{FF2B5EF4-FFF2-40B4-BE49-F238E27FC236}">
                          <a16:creationId xmlns:a16="http://schemas.microsoft.com/office/drawing/2014/main" id="{7F8B4E23-E933-54DF-6066-0A381E122DB7}"/>
                        </a:ext>
                      </a:extLst>
                    </p:cNvPr>
                    <p:cNvPicPr/>
                    <p:nvPr/>
                  </p:nvPicPr>
                  <p:blipFill>
                    <a:blip r:embed="rId8"/>
                    <a:stretch>
                      <a:fillRect/>
                    </a:stretch>
                  </p:blipFill>
                  <p:spPr>
                    <a:xfrm>
                      <a:off x="10098176" y="1819877"/>
                      <a:ext cx="335244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9">
                  <p14:nvContentPartPr>
                    <p14:cNvPr id="11" name="Ink 10">
                      <a:extLst>
                        <a:ext uri="{FF2B5EF4-FFF2-40B4-BE49-F238E27FC236}">
                          <a16:creationId xmlns:a16="http://schemas.microsoft.com/office/drawing/2014/main" id="{BBC05F04-49E0-2F7D-49B8-D4711796DE02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9337945" y="1825997"/>
                    <a:ext cx="396360" cy="360"/>
                  </p14:xfrm>
                </p:contentPart>
              </mc:Choice>
              <mc:Fallback xmlns="">
                <p:pic>
                  <p:nvPicPr>
                    <p:cNvPr id="11" name="Ink 10">
                      <a:extLst>
                        <a:ext uri="{FF2B5EF4-FFF2-40B4-BE49-F238E27FC236}">
                          <a16:creationId xmlns:a16="http://schemas.microsoft.com/office/drawing/2014/main" id="{BBC05F04-49E0-2F7D-49B8-D4711796DE02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9331825" y="1819877"/>
                      <a:ext cx="40860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1">
                  <p14:nvContentPartPr>
                    <p14:cNvPr id="13" name="Ink 12">
                      <a:extLst>
                        <a:ext uri="{FF2B5EF4-FFF2-40B4-BE49-F238E27FC236}">
                          <a16:creationId xmlns:a16="http://schemas.microsoft.com/office/drawing/2014/main" id="{66E2D8AB-05DD-5CA1-E13B-E429D9859B16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829985" y="1816761"/>
                    <a:ext cx="414720" cy="360"/>
                  </p14:xfrm>
                </p:contentPart>
              </mc:Choice>
              <mc:Fallback xmlns="">
                <p:pic>
                  <p:nvPicPr>
                    <p:cNvPr id="13" name="Ink 12">
                      <a:extLst>
                        <a:ext uri="{FF2B5EF4-FFF2-40B4-BE49-F238E27FC236}">
                          <a16:creationId xmlns:a16="http://schemas.microsoft.com/office/drawing/2014/main" id="{66E2D8AB-05DD-5CA1-E13B-E429D9859B16}"/>
                        </a:ext>
                      </a:extLst>
                    </p:cNvPr>
                    <p:cNvPicPr/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8823865" y="1810641"/>
                      <a:ext cx="42696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3">
                  <p14:nvContentPartPr>
                    <p14:cNvPr id="15" name="Ink 14">
                      <a:extLst>
                        <a:ext uri="{FF2B5EF4-FFF2-40B4-BE49-F238E27FC236}">
                          <a16:creationId xmlns:a16="http://schemas.microsoft.com/office/drawing/2014/main" id="{AD2F1342-1EFB-08DC-146C-C585018E45F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700385" y="1816761"/>
                    <a:ext cx="72720" cy="360"/>
                  </p14:xfrm>
                </p:contentPart>
              </mc:Choice>
              <mc:Fallback xmlns="">
                <p:pic>
                  <p:nvPicPr>
                    <p:cNvPr id="15" name="Ink 14">
                      <a:extLst>
                        <a:ext uri="{FF2B5EF4-FFF2-40B4-BE49-F238E27FC236}">
                          <a16:creationId xmlns:a16="http://schemas.microsoft.com/office/drawing/2014/main" id="{AD2F1342-1EFB-08DC-146C-C585018E45F7}"/>
                        </a:ext>
                      </a:extLst>
                    </p:cNvPr>
                    <p:cNvPicPr/>
                    <p:nvPr/>
                  </p:nvPicPr>
                  <p:blipFill>
                    <a:blip r:embed="rId14"/>
                    <a:stretch>
                      <a:fillRect/>
                    </a:stretch>
                  </p:blipFill>
                  <p:spPr>
                    <a:xfrm>
                      <a:off x="8694265" y="1810641"/>
                      <a:ext cx="8496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5">
                  <p14:nvContentPartPr>
                    <p14:cNvPr id="17" name="Ink 16">
                      <a:extLst>
                        <a:ext uri="{FF2B5EF4-FFF2-40B4-BE49-F238E27FC236}">
                          <a16:creationId xmlns:a16="http://schemas.microsoft.com/office/drawing/2014/main" id="{F2058C47-6A41-39A3-E865-DCD769115562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403865" y="1816761"/>
                    <a:ext cx="197879" cy="360"/>
                  </p14:xfrm>
                </p:contentPart>
              </mc:Choice>
              <mc:Fallback xmlns="">
                <p:pic>
                  <p:nvPicPr>
                    <p:cNvPr id="17" name="Ink 16">
                      <a:extLst>
                        <a:ext uri="{FF2B5EF4-FFF2-40B4-BE49-F238E27FC236}">
                          <a16:creationId xmlns:a16="http://schemas.microsoft.com/office/drawing/2014/main" id="{F2058C47-6A41-39A3-E865-DCD769115562}"/>
                        </a:ext>
                      </a:extLst>
                    </p:cNvPr>
                    <p:cNvPicPr/>
                    <p:nvPr/>
                  </p:nvPicPr>
                  <p:blipFill>
                    <a:blip r:embed="rId16"/>
                    <a:stretch>
                      <a:fillRect/>
                    </a:stretch>
                  </p:blipFill>
                  <p:spPr>
                    <a:xfrm>
                      <a:off x="8397749" y="1810641"/>
                      <a:ext cx="210112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7">
                  <p14:nvContentPartPr>
                    <p14:cNvPr id="19" name="Ink 18">
                      <a:extLst>
                        <a:ext uri="{FF2B5EF4-FFF2-40B4-BE49-F238E27FC236}">
                          <a16:creationId xmlns:a16="http://schemas.microsoft.com/office/drawing/2014/main" id="{A383B154-BCE1-CEC3-AF6C-5B07FCBFA5E8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416749" y="1816761"/>
                    <a:ext cx="461880" cy="360"/>
                  </p14:xfrm>
                </p:contentPart>
              </mc:Choice>
              <mc:Fallback xmlns="">
                <p:pic>
                  <p:nvPicPr>
                    <p:cNvPr id="19" name="Ink 18">
                      <a:extLst>
                        <a:ext uri="{FF2B5EF4-FFF2-40B4-BE49-F238E27FC236}">
                          <a16:creationId xmlns:a16="http://schemas.microsoft.com/office/drawing/2014/main" id="{A383B154-BCE1-CEC3-AF6C-5B07FCBFA5E8}"/>
                        </a:ext>
                      </a:extLst>
                    </p:cNvPr>
                    <p:cNvPicPr/>
                    <p:nvPr/>
                  </p:nvPicPr>
                  <p:blipFill>
                    <a:blip r:embed="rId18"/>
                    <a:stretch>
                      <a:fillRect/>
                    </a:stretch>
                  </p:blipFill>
                  <p:spPr>
                    <a:xfrm>
                      <a:off x="7410629" y="1810641"/>
                      <a:ext cx="47412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F54C0632-9B5C-4652-2687-8D6CDE89B517}"/>
                  </a:ext>
                </a:extLst>
              </p:cNvPr>
              <p:cNvGrpSpPr/>
              <p:nvPr/>
            </p:nvGrpSpPr>
            <p:grpSpPr>
              <a:xfrm>
                <a:off x="7204399" y="1807525"/>
                <a:ext cx="598680" cy="360"/>
                <a:chOff x="6733345" y="1825997"/>
                <a:chExt cx="598680" cy="360"/>
              </a:xfrm>
            </p:grpSpPr>
            <mc:AlternateContent xmlns:mc="http://schemas.openxmlformats.org/markup-compatibility/2006" xmlns:p14="http://schemas.microsoft.com/office/powerpoint/2010/main">
              <mc:Choice Requires="p14">
                <p:contentPart p14:bwMode="auto" r:id="rId19">
                  <p14:nvContentPartPr>
                    <p14:cNvPr id="21" name="Ink 20">
                      <a:extLst>
                        <a:ext uri="{FF2B5EF4-FFF2-40B4-BE49-F238E27FC236}">
                          <a16:creationId xmlns:a16="http://schemas.microsoft.com/office/drawing/2014/main" id="{FC1BAF37-51FB-8A7D-8F00-F86FC73E0C9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259665" y="1825997"/>
                    <a:ext cx="72360" cy="360"/>
                  </p14:xfrm>
                </p:contentPart>
              </mc:Choice>
              <mc:Fallback xmlns="">
                <p:pic>
                  <p:nvPicPr>
                    <p:cNvPr id="21" name="Ink 20">
                      <a:extLst>
                        <a:ext uri="{FF2B5EF4-FFF2-40B4-BE49-F238E27FC236}">
                          <a16:creationId xmlns:a16="http://schemas.microsoft.com/office/drawing/2014/main" id="{FC1BAF37-51FB-8A7D-8F00-F86FC73E0C9B}"/>
                        </a:ext>
                      </a:extLst>
                    </p:cNvPr>
                    <p:cNvPicPr/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7253545" y="1819877"/>
                      <a:ext cx="8460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1">
                  <p14:nvContentPartPr>
                    <p14:cNvPr id="22" name="Ink 21">
                      <a:extLst>
                        <a:ext uri="{FF2B5EF4-FFF2-40B4-BE49-F238E27FC236}">
                          <a16:creationId xmlns:a16="http://schemas.microsoft.com/office/drawing/2014/main" id="{F3F02485-D65F-DC32-57FF-ADE55F0ACE69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733345" y="1825997"/>
                    <a:ext cx="459360" cy="360"/>
                  </p14:xfrm>
                </p:contentPart>
              </mc:Choice>
              <mc:Fallback xmlns="">
                <p:pic>
                  <p:nvPicPr>
                    <p:cNvPr id="22" name="Ink 21">
                      <a:extLst>
                        <a:ext uri="{FF2B5EF4-FFF2-40B4-BE49-F238E27FC236}">
                          <a16:creationId xmlns:a16="http://schemas.microsoft.com/office/drawing/2014/main" id="{F3F02485-D65F-DC32-57FF-ADE55F0ACE69}"/>
                        </a:ext>
                      </a:extLst>
                    </p:cNvPr>
                    <p:cNvPicPr/>
                    <p:nvPr/>
                  </p:nvPicPr>
                  <p:blipFill>
                    <a:blip r:embed="rId22"/>
                    <a:stretch>
                      <a:fillRect/>
                    </a:stretch>
                  </p:blipFill>
                  <p:spPr>
                    <a:xfrm>
                      <a:off x="6727225" y="1819877"/>
                      <a:ext cx="47160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617BD9F6-433A-05F6-223E-62D0D130B07A}"/>
                  </a:ext>
                </a:extLst>
              </p:cNvPr>
              <p:cNvGrpSpPr/>
              <p:nvPr/>
            </p:nvGrpSpPr>
            <p:grpSpPr>
              <a:xfrm>
                <a:off x="6054323" y="1807153"/>
                <a:ext cx="1083960" cy="484"/>
                <a:chOff x="5569465" y="1825997"/>
                <a:chExt cx="1083960" cy="484"/>
              </a:xfrm>
            </p:grpSpPr>
            <mc:AlternateContent xmlns:mc="http://schemas.openxmlformats.org/markup-compatibility/2006" xmlns:p14="http://schemas.microsoft.com/office/powerpoint/2010/main">
              <mc:Choice Requires="p14">
                <p:contentPart p14:bwMode="auto" r:id="rId23">
                  <p14:nvContentPartPr>
                    <p14:cNvPr id="24" name="Ink 23">
                      <a:extLst>
                        <a:ext uri="{FF2B5EF4-FFF2-40B4-BE49-F238E27FC236}">
                          <a16:creationId xmlns:a16="http://schemas.microsoft.com/office/drawing/2014/main" id="{FA60B977-32E5-9801-CE34-B918DC232009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169945" y="1825997"/>
                    <a:ext cx="483480" cy="360"/>
                  </p14:xfrm>
                </p:contentPart>
              </mc:Choice>
              <mc:Fallback xmlns="">
                <p:pic>
                  <p:nvPicPr>
                    <p:cNvPr id="24" name="Ink 23">
                      <a:extLst>
                        <a:ext uri="{FF2B5EF4-FFF2-40B4-BE49-F238E27FC236}">
                          <a16:creationId xmlns:a16="http://schemas.microsoft.com/office/drawing/2014/main" id="{FA60B977-32E5-9801-CE34-B918DC232009}"/>
                        </a:ext>
                      </a:extLst>
                    </p:cNvPr>
                    <p:cNvPicPr/>
                    <p:nvPr/>
                  </p:nvPicPr>
                  <p:blipFill>
                    <a:blip r:embed="rId24"/>
                    <a:stretch>
                      <a:fillRect/>
                    </a:stretch>
                  </p:blipFill>
                  <p:spPr>
                    <a:xfrm>
                      <a:off x="6163825" y="1819877"/>
                      <a:ext cx="49572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5">
                  <p14:nvContentPartPr>
                    <p14:cNvPr id="26" name="Ink 25">
                      <a:extLst>
                        <a:ext uri="{FF2B5EF4-FFF2-40B4-BE49-F238E27FC236}">
                          <a16:creationId xmlns:a16="http://schemas.microsoft.com/office/drawing/2014/main" id="{55A6E598-23C8-63C3-0594-794D75ADD784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569465" y="1826121"/>
                    <a:ext cx="495000" cy="360"/>
                  </p14:xfrm>
                </p:contentPart>
              </mc:Choice>
              <mc:Fallback xmlns="">
                <p:pic>
                  <p:nvPicPr>
                    <p:cNvPr id="26" name="Ink 25">
                      <a:extLst>
                        <a:ext uri="{FF2B5EF4-FFF2-40B4-BE49-F238E27FC236}">
                          <a16:creationId xmlns:a16="http://schemas.microsoft.com/office/drawing/2014/main" id="{55A6E598-23C8-63C3-0594-794D75ADD784}"/>
                        </a:ext>
                      </a:extLst>
                    </p:cNvPr>
                    <p:cNvPicPr/>
                    <p:nvPr/>
                  </p:nvPicPr>
                  <p:blipFill>
                    <a:blip r:embed="rId26"/>
                    <a:stretch>
                      <a:fillRect/>
                    </a:stretch>
                  </p:blipFill>
                  <p:spPr>
                    <a:xfrm>
                      <a:off x="5563345" y="1820001"/>
                      <a:ext cx="50724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27">
                <p14:nvContentPartPr>
                  <p14:cNvPr id="30" name="Ink 29">
                    <a:extLst>
                      <a:ext uri="{FF2B5EF4-FFF2-40B4-BE49-F238E27FC236}">
                        <a16:creationId xmlns:a16="http://schemas.microsoft.com/office/drawing/2014/main" id="{5C84DE15-0A70-9B74-0D85-94F232757D06}"/>
                      </a:ext>
                    </a:extLst>
                  </p14:cNvPr>
                  <p14:cNvContentPartPr/>
                  <p14:nvPr/>
                </p14:nvContentPartPr>
                <p14:xfrm>
                  <a:off x="5403273" y="1807277"/>
                  <a:ext cx="266776" cy="360"/>
                </p14:xfrm>
              </p:contentPart>
            </mc:Choice>
            <mc:Fallback xmlns="">
              <p:pic>
                <p:nvPicPr>
                  <p:cNvPr id="30" name="Ink 29">
                    <a:extLst>
                      <a:ext uri="{FF2B5EF4-FFF2-40B4-BE49-F238E27FC236}">
                        <a16:creationId xmlns:a16="http://schemas.microsoft.com/office/drawing/2014/main" id="{5C84DE15-0A70-9B74-0D85-94F232757D06}"/>
                      </a:ext>
                    </a:extLst>
                  </p:cNvPr>
                  <p:cNvPicPr/>
                  <p:nvPr/>
                </p:nvPicPr>
                <p:blipFill>
                  <a:blip r:embed="rId28"/>
                  <a:stretch>
                    <a:fillRect/>
                  </a:stretch>
                </p:blipFill>
                <p:spPr>
                  <a:xfrm>
                    <a:off x="5397153" y="1801157"/>
                    <a:ext cx="279017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9">
                <p14:nvContentPartPr>
                  <p14:cNvPr id="31" name="Ink 30">
                    <a:extLst>
                      <a:ext uri="{FF2B5EF4-FFF2-40B4-BE49-F238E27FC236}">
                        <a16:creationId xmlns:a16="http://schemas.microsoft.com/office/drawing/2014/main" id="{E554233A-804F-F3E3-4C8A-86C23B323013}"/>
                      </a:ext>
                    </a:extLst>
                  </p14:cNvPr>
                  <p14:cNvContentPartPr/>
                  <p14:nvPr/>
                </p14:nvContentPartPr>
                <p14:xfrm>
                  <a:off x="5715552" y="1806917"/>
                  <a:ext cx="242457" cy="360"/>
                </p14:xfrm>
              </p:contentPart>
            </mc:Choice>
            <mc:Fallback xmlns="">
              <p:pic>
                <p:nvPicPr>
                  <p:cNvPr id="31" name="Ink 30">
                    <a:extLst>
                      <a:ext uri="{FF2B5EF4-FFF2-40B4-BE49-F238E27FC236}">
                        <a16:creationId xmlns:a16="http://schemas.microsoft.com/office/drawing/2014/main" id="{E554233A-804F-F3E3-4C8A-86C23B323013}"/>
                      </a:ext>
                    </a:extLst>
                  </p:cNvPr>
                  <p:cNvPicPr/>
                  <p:nvPr/>
                </p:nvPicPr>
                <p:blipFill>
                  <a:blip r:embed="rId28"/>
                  <a:stretch>
                    <a:fillRect/>
                  </a:stretch>
                </p:blipFill>
                <p:spPr>
                  <a:xfrm>
                    <a:off x="5709437" y="1800797"/>
                    <a:ext cx="254688" cy="126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AF240E8-23F0-F055-CEF8-EAD3BBA21C3C}"/>
                    </a:ext>
                  </a:extLst>
                </p14:cNvPr>
                <p14:cNvContentPartPr/>
                <p14:nvPr/>
              </p14:nvContentPartPr>
              <p14:xfrm>
                <a:off x="10134309" y="1825997"/>
                <a:ext cx="292996" cy="3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AF240E8-23F0-F055-CEF8-EAD3BBA21C3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128197" y="1819877"/>
                  <a:ext cx="305219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CF8BF15-DAE9-5DB4-21C6-24D0FC2FC81E}"/>
                    </a:ext>
                  </a:extLst>
                </p14:cNvPr>
                <p14:cNvContentPartPr/>
                <p14:nvPr/>
              </p14:nvContentPartPr>
              <p14:xfrm>
                <a:off x="8351280" y="1816153"/>
                <a:ext cx="349106" cy="3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CF8BF15-DAE9-5DB4-21C6-24D0FC2FC81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345162" y="1810033"/>
                  <a:ext cx="361343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5306F00-26D3-58A4-6D65-0E9EDDC07731}"/>
                    </a:ext>
                  </a:extLst>
                </p14:cNvPr>
                <p14:cNvContentPartPr/>
                <p14:nvPr/>
              </p14:nvContentPartPr>
              <p14:xfrm>
                <a:off x="5088716" y="1815793"/>
                <a:ext cx="147240" cy="3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5306F00-26D3-58A4-6D65-0E9EDDC07731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082611" y="1809673"/>
                  <a:ext cx="159450" cy="126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E56C6C0B-B669-C96D-2267-69C8F20A1E89}"/>
              </a:ext>
            </a:extLst>
          </p:cNvPr>
          <p:cNvSpPr txBox="1"/>
          <p:nvPr/>
        </p:nvSpPr>
        <p:spPr>
          <a:xfrm>
            <a:off x="735957" y="969246"/>
            <a:ext cx="11095181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800" b="1" dirty="0">
                <a:solidFill>
                  <a:schemeClr val="accent1"/>
                </a:solidFill>
                <a:cs typeface="B Nazanin" panose="00000400000000000000" pitchFamily="2" charset="-78"/>
              </a:rPr>
              <a:t>گام اول - </a:t>
            </a:r>
            <a:r>
              <a:rPr lang="en-US" sz="2800" b="1" dirty="0">
                <a:solidFill>
                  <a:schemeClr val="accent1"/>
                </a:solidFill>
                <a:cs typeface="B Nazanin" panose="00000400000000000000" pitchFamily="2" charset="-78"/>
              </a:rPr>
              <a:t>Tokenization</a:t>
            </a:r>
            <a:endParaRPr lang="fa-IR" sz="2800" b="1" dirty="0">
              <a:solidFill>
                <a:schemeClr val="accent1"/>
              </a:solidFill>
              <a:cs typeface="B Nazanin" panose="00000400000000000000" pitchFamily="2" charset="-78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29F3B0D-DE63-277C-DA8E-4D26818A9641}"/>
              </a:ext>
            </a:extLst>
          </p:cNvPr>
          <p:cNvSpPr txBox="1"/>
          <p:nvPr/>
        </p:nvSpPr>
        <p:spPr>
          <a:xfrm>
            <a:off x="7045581" y="1471718"/>
            <a:ext cx="4058722" cy="41549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100" b="1" dirty="0">
                <a:solidFill>
                  <a:schemeClr val="accent1"/>
                </a:solidFill>
                <a:cs typeface="B Nazanin" panose="00000400000000000000" pitchFamily="2" charset="-78"/>
              </a:rPr>
              <a:t> </a:t>
            </a:r>
            <a:r>
              <a:rPr lang="fa-IR" sz="2100" b="1" dirty="0" err="1">
                <a:solidFill>
                  <a:schemeClr val="accent1"/>
                </a:solidFill>
                <a:cs typeface="B Nazanin" panose="00000400000000000000" pitchFamily="2" charset="-78"/>
              </a:rPr>
              <a:t>علامت‌سازی</a:t>
            </a:r>
            <a:r>
              <a:rPr lang="fa-IR" sz="2100" b="1" dirty="0">
                <a:solidFill>
                  <a:schemeClr val="accent1"/>
                </a:solidFill>
                <a:cs typeface="B Nazanin" panose="00000400000000000000" pitchFamily="2" charset="-78"/>
              </a:rPr>
              <a:t> (</a:t>
            </a:r>
            <a:r>
              <a:rPr lang="en-US" sz="2100" b="1" dirty="0">
                <a:solidFill>
                  <a:schemeClr val="accent1"/>
                </a:solidFill>
                <a:cs typeface="B Nazanin" panose="00000400000000000000" pitchFamily="2" charset="-78"/>
              </a:rPr>
              <a:t>Tokenization</a:t>
            </a:r>
            <a:r>
              <a:rPr lang="fa-IR" sz="2100" b="1" dirty="0">
                <a:solidFill>
                  <a:schemeClr val="accent1"/>
                </a:solidFill>
                <a:cs typeface="B Nazanin" panose="00000400000000000000" pitchFamily="2" charset="-78"/>
              </a:rPr>
              <a:t>) چیست؟ </a:t>
            </a:r>
          </a:p>
        </p:txBody>
      </p:sp>
      <p:cxnSp>
        <p:nvCxnSpPr>
          <p:cNvPr id="77" name="Connector: Curved 76">
            <a:extLst>
              <a:ext uri="{FF2B5EF4-FFF2-40B4-BE49-F238E27FC236}">
                <a16:creationId xmlns:a16="http://schemas.microsoft.com/office/drawing/2014/main" id="{C8F1E050-9A04-20A8-DB58-BC3DA2D2ACA7}"/>
              </a:ext>
            </a:extLst>
          </p:cNvPr>
          <p:cNvCxnSpPr>
            <a:cxnSpLocks/>
            <a:stCxn id="33" idx="3"/>
            <a:endCxn id="78" idx="3"/>
          </p:cNvCxnSpPr>
          <p:nvPr/>
        </p:nvCxnSpPr>
        <p:spPr>
          <a:xfrm>
            <a:off x="10701773" y="2363636"/>
            <a:ext cx="84931" cy="575501"/>
          </a:xfrm>
          <a:prstGeom prst="curvedConnector3">
            <a:avLst>
              <a:gd name="adj1" fmla="val 36916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B79FB899-4196-DFFD-92B0-0382FFB98744}"/>
              </a:ext>
            </a:extLst>
          </p:cNvPr>
          <p:cNvSpPr txBox="1"/>
          <p:nvPr/>
        </p:nvSpPr>
        <p:spPr>
          <a:xfrm>
            <a:off x="865339" y="2708304"/>
            <a:ext cx="9921365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400" b="1" dirty="0">
                <a:solidFill>
                  <a:schemeClr val="accent1"/>
                </a:solidFill>
                <a:cs typeface="B Nazanin" panose="00000400000000000000" pitchFamily="2" charset="-78"/>
              </a:rPr>
              <a:t>هدف:   </a:t>
            </a:r>
            <a:r>
              <a:rPr lang="fa-IR" sz="2000" b="1" dirty="0">
                <a:cs typeface="B Nazanin" panose="00000400000000000000" pitchFamily="2" charset="-78"/>
              </a:rPr>
              <a:t>ایجاد یک علامت ساز (</a:t>
            </a:r>
            <a:r>
              <a:rPr lang="en-US" sz="2000" b="1" dirty="0">
                <a:cs typeface="B Nazanin" panose="00000400000000000000" pitchFamily="2" charset="-78"/>
              </a:rPr>
              <a:t>Tokenizer</a:t>
            </a:r>
            <a:r>
              <a:rPr lang="fa-IR" sz="2000" b="1" dirty="0">
                <a:cs typeface="B Nazanin" panose="00000400000000000000" pitchFamily="2" charset="-78"/>
              </a:rPr>
              <a:t>) که جملات را شکسته و به لغات و </a:t>
            </a:r>
            <a:r>
              <a:rPr lang="fa-IR" sz="2000" b="1" dirty="0" err="1">
                <a:cs typeface="B Nazanin" panose="00000400000000000000" pitchFamily="2" charset="-78"/>
              </a:rPr>
              <a:t>واج‌های</a:t>
            </a:r>
            <a:r>
              <a:rPr lang="fa-IR" sz="2000" b="1" dirty="0">
                <a:cs typeface="B Nazanin" panose="00000400000000000000" pitchFamily="2" charset="-78"/>
              </a:rPr>
              <a:t> ادبی تقسیم‌ کند.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CCAB574-9E5F-90D3-1A0F-0A02C193A697}"/>
              </a:ext>
            </a:extLst>
          </p:cNvPr>
          <p:cNvSpPr txBox="1"/>
          <p:nvPr/>
        </p:nvSpPr>
        <p:spPr>
          <a:xfrm>
            <a:off x="453201" y="3440545"/>
            <a:ext cx="824276" cy="286232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b="1" dirty="0">
                <a:cs typeface="B Nazanin" panose="00000400000000000000" pitchFamily="2" charset="-78"/>
              </a:rPr>
              <a:t>تهران</a:t>
            </a:r>
          </a:p>
          <a:p>
            <a:r>
              <a:rPr lang="fa-IR" b="1" dirty="0">
                <a:cs typeface="B Nazanin" panose="00000400000000000000" pitchFamily="2" charset="-78"/>
              </a:rPr>
              <a:t>پر</a:t>
            </a:r>
          </a:p>
          <a:p>
            <a:r>
              <a:rPr lang="fa-IR" b="1" dirty="0">
                <a:cs typeface="B Nazanin" panose="00000400000000000000" pitchFamily="2" charset="-78"/>
              </a:rPr>
              <a:t>جمع</a:t>
            </a:r>
          </a:p>
          <a:p>
            <a:r>
              <a:rPr lang="fa-IR" b="1" dirty="0" err="1">
                <a:cs typeface="B Nazanin" panose="00000400000000000000" pitchFamily="2" charset="-78"/>
              </a:rPr>
              <a:t>یت</a:t>
            </a:r>
            <a:endParaRPr lang="fa-IR" b="1" dirty="0">
              <a:cs typeface="B Nazanin" panose="00000400000000000000" pitchFamily="2" charset="-78"/>
            </a:endParaRPr>
          </a:p>
          <a:p>
            <a:r>
              <a:rPr lang="fa-IR" b="1" dirty="0">
                <a:cs typeface="B Nazanin" panose="00000400000000000000" pitchFamily="2" charset="-78"/>
              </a:rPr>
              <a:t>تر</a:t>
            </a:r>
          </a:p>
          <a:p>
            <a:r>
              <a:rPr lang="fa-IR" b="1" dirty="0">
                <a:cs typeface="B Nazanin" panose="00000400000000000000" pitchFamily="2" charset="-78"/>
              </a:rPr>
              <a:t>ین</a:t>
            </a:r>
          </a:p>
          <a:p>
            <a:r>
              <a:rPr lang="fa-IR" b="1" dirty="0">
                <a:cs typeface="B Nazanin" panose="00000400000000000000" pitchFamily="2" charset="-78"/>
              </a:rPr>
              <a:t>شهر</a:t>
            </a:r>
          </a:p>
          <a:p>
            <a:r>
              <a:rPr lang="fa-IR" b="1" dirty="0">
                <a:cs typeface="B Nazanin" panose="00000400000000000000" pitchFamily="2" charset="-78"/>
              </a:rPr>
              <a:t>و </a:t>
            </a:r>
          </a:p>
          <a:p>
            <a:r>
              <a:rPr lang="fa-IR" b="1" dirty="0">
                <a:cs typeface="B Nazanin" panose="00000400000000000000" pitchFamily="2" charset="-78"/>
              </a:rPr>
              <a:t>پایتخت</a:t>
            </a:r>
          </a:p>
          <a:p>
            <a:r>
              <a:rPr lang="fa-IR" b="1" dirty="0">
                <a:cs typeface="B Nazanin" panose="00000400000000000000" pitchFamily="2" charset="-78"/>
              </a:rPr>
              <a:t>...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D23A0F3-C829-733E-0309-983AF5B4FF5A}"/>
              </a:ext>
            </a:extLst>
          </p:cNvPr>
          <p:cNvSpPr txBox="1"/>
          <p:nvPr/>
        </p:nvSpPr>
        <p:spPr>
          <a:xfrm>
            <a:off x="1588289" y="3440545"/>
            <a:ext cx="1084098" cy="286232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b="1" dirty="0">
                <a:cs typeface="B Nazanin" panose="00000400000000000000" pitchFamily="2" charset="-78"/>
              </a:rPr>
              <a:t>6325</a:t>
            </a:r>
          </a:p>
          <a:p>
            <a:r>
              <a:rPr lang="fa-IR" b="1" dirty="0">
                <a:cs typeface="B Nazanin" panose="00000400000000000000" pitchFamily="2" charset="-78"/>
              </a:rPr>
              <a:t>4521</a:t>
            </a:r>
          </a:p>
          <a:p>
            <a:r>
              <a:rPr lang="fa-IR" b="1" dirty="0">
                <a:cs typeface="B Nazanin" panose="00000400000000000000" pitchFamily="2" charset="-78"/>
              </a:rPr>
              <a:t>8240</a:t>
            </a:r>
          </a:p>
          <a:p>
            <a:r>
              <a:rPr lang="fa-IR" b="1" dirty="0">
                <a:cs typeface="B Nazanin" panose="00000400000000000000" pitchFamily="2" charset="-78"/>
              </a:rPr>
              <a:t>46231</a:t>
            </a:r>
          </a:p>
          <a:p>
            <a:r>
              <a:rPr lang="fa-IR" b="1" dirty="0">
                <a:cs typeface="B Nazanin" panose="00000400000000000000" pitchFamily="2" charset="-78"/>
              </a:rPr>
              <a:t>5812</a:t>
            </a:r>
          </a:p>
          <a:p>
            <a:r>
              <a:rPr lang="fa-IR" b="1" dirty="0">
                <a:cs typeface="B Nazanin" panose="00000400000000000000" pitchFamily="2" charset="-78"/>
              </a:rPr>
              <a:t>46790</a:t>
            </a:r>
          </a:p>
          <a:p>
            <a:r>
              <a:rPr lang="fa-IR" b="1" dirty="0">
                <a:cs typeface="B Nazanin" panose="00000400000000000000" pitchFamily="2" charset="-78"/>
              </a:rPr>
              <a:t>29746</a:t>
            </a:r>
          </a:p>
          <a:p>
            <a:r>
              <a:rPr lang="fa-IR" b="1" dirty="0">
                <a:cs typeface="B Nazanin" panose="00000400000000000000" pitchFamily="2" charset="-78"/>
              </a:rPr>
              <a:t>42032</a:t>
            </a:r>
          </a:p>
          <a:p>
            <a:r>
              <a:rPr lang="fa-IR" b="1" dirty="0">
                <a:cs typeface="B Nazanin" panose="00000400000000000000" pitchFamily="2" charset="-78"/>
              </a:rPr>
              <a:t>4163</a:t>
            </a:r>
          </a:p>
          <a:p>
            <a:r>
              <a:rPr lang="fa-IR" b="1" dirty="0">
                <a:cs typeface="B Nazanin" panose="00000400000000000000" pitchFamily="2" charset="-78"/>
              </a:rPr>
              <a:t>....</a:t>
            </a: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1F01D7DB-4481-194F-F744-4200DFE6C211}"/>
              </a:ext>
            </a:extLst>
          </p:cNvPr>
          <p:cNvGrpSpPr/>
          <p:nvPr/>
        </p:nvGrpSpPr>
        <p:grpSpPr>
          <a:xfrm>
            <a:off x="4506209" y="3951564"/>
            <a:ext cx="5108362" cy="615553"/>
            <a:chOff x="1828124" y="3816522"/>
            <a:chExt cx="5201634" cy="1083899"/>
          </a:xfrm>
        </p:grpSpPr>
        <p:sp>
          <p:nvSpPr>
            <p:cNvPr id="92" name="Callout: Left Arrow 91">
              <a:extLst>
                <a:ext uri="{FF2B5EF4-FFF2-40B4-BE49-F238E27FC236}">
                  <a16:creationId xmlns:a16="http://schemas.microsoft.com/office/drawing/2014/main" id="{433193C1-9D6C-DE90-75EE-37C44A2BF010}"/>
                </a:ext>
              </a:extLst>
            </p:cNvPr>
            <p:cNvSpPr/>
            <p:nvPr/>
          </p:nvSpPr>
          <p:spPr>
            <a:xfrm>
              <a:off x="1828124" y="3824754"/>
              <a:ext cx="5201634" cy="1016601"/>
            </a:xfrm>
            <a:prstGeom prst="leftArrowCallout">
              <a:avLst>
                <a:gd name="adj1" fmla="val 51818"/>
                <a:gd name="adj2" fmla="val 25909"/>
                <a:gd name="adj3" fmla="val 25000"/>
                <a:gd name="adj4" fmla="val 97132"/>
              </a:avLst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46405D8B-3A4A-AC10-44FD-BC327A157A11}"/>
                </a:ext>
              </a:extLst>
            </p:cNvPr>
            <p:cNvSpPr txBox="1"/>
            <p:nvPr/>
          </p:nvSpPr>
          <p:spPr>
            <a:xfrm>
              <a:off x="1935330" y="3816522"/>
              <a:ext cx="5092772" cy="1083899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 rtl="1"/>
              <a:r>
                <a:rPr lang="fa-IR" sz="1700" b="1" dirty="0">
                  <a:solidFill>
                    <a:schemeClr val="accent2">
                      <a:lumMod val="50000"/>
                    </a:schemeClr>
                  </a:solidFill>
                  <a:cs typeface="B Nazanin" panose="00000400000000000000" pitchFamily="2" charset="-78"/>
                </a:rPr>
                <a:t>تبدیل علامت (</a:t>
              </a:r>
              <a:r>
                <a:rPr lang="en-US" sz="1700" b="1" dirty="0">
                  <a:solidFill>
                    <a:schemeClr val="accent2">
                      <a:lumMod val="50000"/>
                    </a:schemeClr>
                  </a:solidFill>
                  <a:cs typeface="B Nazanin" panose="00000400000000000000" pitchFamily="2" charset="-78"/>
                </a:rPr>
                <a:t>Token</a:t>
              </a:r>
              <a:r>
                <a:rPr lang="fa-IR" sz="1700" b="1" dirty="0">
                  <a:solidFill>
                    <a:schemeClr val="accent2">
                      <a:lumMod val="50000"/>
                    </a:schemeClr>
                  </a:solidFill>
                  <a:cs typeface="B Nazanin" panose="00000400000000000000" pitchFamily="2" charset="-78"/>
                </a:rPr>
                <a:t>) به بردار یکه:</a:t>
              </a:r>
            </a:p>
            <a:p>
              <a:pPr algn="r" rtl="1"/>
              <a:r>
                <a:rPr lang="fa-IR" sz="1700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هر لغت را بردار یکه آن نمایندگی خواهد کرد. (</a:t>
              </a:r>
              <a:r>
                <a:rPr lang="en-US" sz="1700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One-hot vector</a:t>
              </a:r>
              <a:r>
                <a:rPr lang="fa-IR" sz="1700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)</a:t>
              </a:r>
              <a:endParaRPr lang="en-US" sz="1700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endParaRPr>
            </a:p>
          </p:txBody>
        </p: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7D5AB795-BA43-7986-F298-2612D598A205}"/>
              </a:ext>
            </a:extLst>
          </p:cNvPr>
          <p:cNvSpPr txBox="1"/>
          <p:nvPr/>
        </p:nvSpPr>
        <p:spPr>
          <a:xfrm>
            <a:off x="3975959" y="5474035"/>
            <a:ext cx="7426036" cy="3231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1500" b="1" dirty="0">
                <a:cs typeface="B Nazanin" panose="00000400000000000000" pitchFamily="2" charset="-78"/>
              </a:rPr>
              <a:t>6325 – 4521-8240-46231-5812-46790-29746-42032-4163- ..................................................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E7461EC-92F1-C08E-FF13-AE001323EA24}"/>
              </a:ext>
            </a:extLst>
          </p:cNvPr>
          <p:cNvGrpSpPr/>
          <p:nvPr/>
        </p:nvGrpSpPr>
        <p:grpSpPr>
          <a:xfrm>
            <a:off x="3250845" y="6106700"/>
            <a:ext cx="8487954" cy="523220"/>
            <a:chOff x="2900218" y="6098256"/>
            <a:chExt cx="8487954" cy="523220"/>
          </a:xfrm>
        </p:grpSpPr>
        <p:sp>
          <p:nvSpPr>
            <p:cNvPr id="101" name="Rectangle: Rounded Corners 100">
              <a:extLst>
                <a:ext uri="{FF2B5EF4-FFF2-40B4-BE49-F238E27FC236}">
                  <a16:creationId xmlns:a16="http://schemas.microsoft.com/office/drawing/2014/main" id="{86B6D41C-7165-1503-1349-F84B86A66409}"/>
                </a:ext>
              </a:extLst>
            </p:cNvPr>
            <p:cNvSpPr/>
            <p:nvPr/>
          </p:nvSpPr>
          <p:spPr>
            <a:xfrm>
              <a:off x="2900218" y="6098256"/>
              <a:ext cx="8487954" cy="523220"/>
            </a:xfrm>
            <a:prstGeom prst="roundRect">
              <a:avLst/>
            </a:prstGeom>
            <a:solidFill>
              <a:schemeClr val="bg2"/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AAEAB3-FB3F-F883-E5F2-8ADD4D8683CC}"/>
                </a:ext>
              </a:extLst>
            </p:cNvPr>
            <p:cNvSpPr txBox="1"/>
            <p:nvPr/>
          </p:nvSpPr>
          <p:spPr>
            <a:xfrm>
              <a:off x="2900218" y="6174281"/>
              <a:ext cx="8445450" cy="369332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 rtl="1"/>
              <a:r>
                <a:rPr lang="fa-IR" b="1" dirty="0" err="1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الگوریتم</a:t>
              </a:r>
              <a:r>
                <a:rPr lang="en-US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</a:t>
              </a:r>
              <a:r>
                <a:rPr lang="fa-IR" b="1" dirty="0" err="1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علامت‌ساز</a:t>
              </a:r>
              <a:r>
                <a:rPr lang="fa-IR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غالب </a:t>
              </a:r>
              <a:r>
                <a:rPr lang="fa-IR" b="1" dirty="0" err="1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مدل‌های</a:t>
              </a:r>
              <a:r>
                <a:rPr lang="fa-IR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زبانی جدید نظیر</a:t>
              </a:r>
              <a:r>
                <a:rPr lang="en-US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GPT-4 </a:t>
              </a:r>
              <a:r>
                <a:rPr lang="fa-IR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، </a:t>
              </a:r>
              <a:r>
                <a:rPr lang="fa-IR" b="1" dirty="0" err="1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الگوریتم</a:t>
              </a:r>
              <a:r>
                <a:rPr lang="fa-IR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</a:t>
              </a:r>
              <a:r>
                <a:rPr lang="en-US" b="1" dirty="0">
                  <a:solidFill>
                    <a:srgbClr val="7030A0"/>
                  </a:solidFill>
                  <a:cs typeface="B Nazanin" panose="00000400000000000000" pitchFamily="2" charset="-78"/>
                </a:rPr>
                <a:t>(BPE) Byte Pair Encoding</a:t>
              </a:r>
              <a:r>
                <a:rPr lang="fa-IR" b="1" dirty="0">
                  <a:solidFill>
                    <a:srgbClr val="7030A0"/>
                  </a:solidFill>
                  <a:cs typeface="B Nazanin" panose="00000400000000000000" pitchFamily="2" charset="-78"/>
                </a:rPr>
                <a:t> </a:t>
              </a:r>
              <a:r>
                <a:rPr lang="fa-IR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است.</a:t>
              </a:r>
            </a:p>
          </p:txBody>
        </p:sp>
      </p:grpSp>
      <p:cxnSp>
        <p:nvCxnSpPr>
          <p:cNvPr id="103" name="Connector: Curved 102">
            <a:extLst>
              <a:ext uri="{FF2B5EF4-FFF2-40B4-BE49-F238E27FC236}">
                <a16:creationId xmlns:a16="http://schemas.microsoft.com/office/drawing/2014/main" id="{B0EF862A-C43F-13BF-3A2A-0543B5F1C379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10701773" y="2363636"/>
            <a:ext cx="882718" cy="906523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322BEF6A-AD29-FE3C-1A5D-FE80D4B10C33}"/>
              </a:ext>
            </a:extLst>
          </p:cNvPr>
          <p:cNvGrpSpPr/>
          <p:nvPr/>
        </p:nvGrpSpPr>
        <p:grpSpPr>
          <a:xfrm>
            <a:off x="3728085" y="3299457"/>
            <a:ext cx="494071" cy="3416320"/>
            <a:chOff x="375853" y="449104"/>
            <a:chExt cx="494071" cy="341632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2F57B67-04CA-238D-8B50-2405CA6AD8E0}"/>
                </a:ext>
              </a:extLst>
            </p:cNvPr>
            <p:cNvSpPr txBox="1"/>
            <p:nvPr/>
          </p:nvSpPr>
          <p:spPr>
            <a:xfrm>
              <a:off x="375853" y="449104"/>
              <a:ext cx="494071" cy="3416320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r>
                <a:rPr lang="en-US" b="1" dirty="0">
                  <a:solidFill>
                    <a:srgbClr val="002060"/>
                  </a:solidFill>
                </a:rPr>
                <a:t>[0</a:t>
              </a:r>
            </a:p>
            <a:p>
              <a:r>
                <a:rPr lang="en-US" b="1" dirty="0">
                  <a:solidFill>
                    <a:srgbClr val="002060"/>
                  </a:solidFill>
                </a:rPr>
                <a:t> 0</a:t>
              </a:r>
            </a:p>
            <a:p>
              <a:r>
                <a:rPr lang="en-US" b="1" dirty="0">
                  <a:solidFill>
                    <a:srgbClr val="002060"/>
                  </a:solidFill>
                </a:rPr>
                <a:t> 0</a:t>
              </a:r>
            </a:p>
            <a:p>
              <a:endParaRPr lang="en-US" b="1" dirty="0">
                <a:solidFill>
                  <a:srgbClr val="002060"/>
                </a:solidFill>
              </a:endParaRPr>
            </a:p>
            <a:p>
              <a:r>
                <a:rPr lang="en-US" b="1" dirty="0">
                  <a:solidFill>
                    <a:srgbClr val="002060"/>
                  </a:solidFill>
                </a:rPr>
                <a:t> 1</a:t>
              </a:r>
            </a:p>
            <a:p>
              <a:endParaRPr lang="en-US" b="1" dirty="0">
                <a:solidFill>
                  <a:srgbClr val="002060"/>
                </a:solidFill>
              </a:endParaRPr>
            </a:p>
            <a:p>
              <a:r>
                <a:rPr lang="en-US" b="1" dirty="0">
                  <a:solidFill>
                    <a:srgbClr val="002060"/>
                  </a:solidFill>
                </a:rPr>
                <a:t> 0</a:t>
              </a:r>
            </a:p>
            <a:p>
              <a:r>
                <a:rPr lang="en-US" b="1" dirty="0">
                  <a:solidFill>
                    <a:srgbClr val="002060"/>
                  </a:solidFill>
                </a:rPr>
                <a:t> 0]</a:t>
              </a:r>
            </a:p>
            <a:p>
              <a:endParaRPr lang="en-US" b="1" dirty="0">
                <a:solidFill>
                  <a:srgbClr val="002060"/>
                </a:solidFill>
              </a:endParaRPr>
            </a:p>
            <a:p>
              <a:endParaRPr lang="en-US" b="1" dirty="0">
                <a:solidFill>
                  <a:srgbClr val="002060"/>
                </a:solidFill>
              </a:endParaRPr>
            </a:p>
            <a:p>
              <a:endParaRPr lang="en-US" b="1" dirty="0">
                <a:solidFill>
                  <a:srgbClr val="002060"/>
                </a:solidFill>
              </a:endParaRPr>
            </a:p>
            <a:p>
              <a:endParaRPr lang="fa-IR" b="1" dirty="0">
                <a:solidFill>
                  <a:srgbClr val="002060"/>
                </a:solidFill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0592BF4-3891-8C7F-5B59-3419BE2FB6FE}"/>
                </a:ext>
              </a:extLst>
            </p:cNvPr>
            <p:cNvGrpSpPr/>
            <p:nvPr/>
          </p:nvGrpSpPr>
          <p:grpSpPr>
            <a:xfrm>
              <a:off x="455591" y="1162921"/>
              <a:ext cx="279402" cy="447202"/>
              <a:chOff x="1347693" y="1074592"/>
              <a:chExt cx="279402" cy="447202"/>
            </a:xfrm>
          </p:grpSpPr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567D3D7-3334-6BE3-EAFB-2B600E7C69DE}"/>
                  </a:ext>
                </a:extLst>
              </p:cNvPr>
              <p:cNvSpPr txBox="1"/>
              <p:nvPr/>
            </p:nvSpPr>
            <p:spPr>
              <a:xfrm>
                <a:off x="1347693" y="1074592"/>
                <a:ext cx="275690" cy="307777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r>
                  <a:rPr lang="en-US" sz="1400" b="1" dirty="0"/>
                  <a:t>.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C5D15ED-5B24-8FC8-87EE-6F540AC06093}"/>
                  </a:ext>
                </a:extLst>
              </p:cNvPr>
              <p:cNvSpPr txBox="1"/>
              <p:nvPr/>
            </p:nvSpPr>
            <p:spPr>
              <a:xfrm>
                <a:off x="1351405" y="1145446"/>
                <a:ext cx="275690" cy="307777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r>
                  <a:rPr lang="en-US" sz="1400" b="1" dirty="0"/>
                  <a:t>.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6DC957C-39CA-B68A-DD34-28FCDB7C1C9F}"/>
                  </a:ext>
                </a:extLst>
              </p:cNvPr>
              <p:cNvSpPr txBox="1"/>
              <p:nvPr/>
            </p:nvSpPr>
            <p:spPr>
              <a:xfrm>
                <a:off x="1351405" y="1214017"/>
                <a:ext cx="275690" cy="307777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r>
                  <a:rPr lang="en-US" sz="1400" b="1" dirty="0"/>
                  <a:t>.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FD84BD8-631B-B89A-7F89-70FC5B990C21}"/>
                </a:ext>
              </a:extLst>
            </p:cNvPr>
            <p:cNvGrpSpPr/>
            <p:nvPr/>
          </p:nvGrpSpPr>
          <p:grpSpPr>
            <a:xfrm>
              <a:off x="467345" y="1739905"/>
              <a:ext cx="279402" cy="447202"/>
              <a:chOff x="1347693" y="1074592"/>
              <a:chExt cx="279402" cy="447202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48F4EA9-1F94-3BA7-6C0D-40ACC70C1CB4}"/>
                  </a:ext>
                </a:extLst>
              </p:cNvPr>
              <p:cNvSpPr txBox="1"/>
              <p:nvPr/>
            </p:nvSpPr>
            <p:spPr>
              <a:xfrm>
                <a:off x="1347693" y="1074592"/>
                <a:ext cx="275690" cy="307777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r>
                  <a:rPr lang="en-US" sz="1400" b="1" dirty="0"/>
                  <a:t>.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EE04F65-EBBA-0BE6-9FC4-E32033CF5E30}"/>
                  </a:ext>
                </a:extLst>
              </p:cNvPr>
              <p:cNvSpPr txBox="1"/>
              <p:nvPr/>
            </p:nvSpPr>
            <p:spPr>
              <a:xfrm>
                <a:off x="1351405" y="1145446"/>
                <a:ext cx="275690" cy="307777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r>
                  <a:rPr lang="en-US" sz="1400" b="1" dirty="0"/>
                  <a:t>.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4EEDE60-4696-72DC-E404-D2453B4FE13B}"/>
                  </a:ext>
                </a:extLst>
              </p:cNvPr>
              <p:cNvSpPr txBox="1"/>
              <p:nvPr/>
            </p:nvSpPr>
            <p:spPr>
              <a:xfrm>
                <a:off x="1351405" y="1214017"/>
                <a:ext cx="275690" cy="307777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r>
                  <a:rPr lang="en-US" sz="1400" b="1" dirty="0"/>
                  <a:t>.</a:t>
                </a:r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AA15BE43-BCF8-0BA7-49C0-AC1B2618B8A4}"/>
              </a:ext>
            </a:extLst>
          </p:cNvPr>
          <p:cNvSpPr txBox="1"/>
          <p:nvPr/>
        </p:nvSpPr>
        <p:spPr>
          <a:xfrm>
            <a:off x="2536730" y="4422706"/>
            <a:ext cx="1277322" cy="107721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آرایه 6325</a:t>
            </a:r>
            <a:r>
              <a:rPr lang="en-US" sz="1600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1600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از50000</a:t>
            </a:r>
          </a:p>
          <a:p>
            <a:r>
              <a:rPr lang="fa-IR" sz="1600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(اندازه مجموعه واژگان)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F0F2349-004A-AF1F-93B2-A71A6199DA29}"/>
              </a:ext>
            </a:extLst>
          </p:cNvPr>
          <p:cNvCxnSpPr>
            <a:cxnSpLocks/>
          </p:cNvCxnSpPr>
          <p:nvPr/>
        </p:nvCxnSpPr>
        <p:spPr>
          <a:xfrm>
            <a:off x="3508828" y="4592239"/>
            <a:ext cx="301513" cy="202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B0C7D9F6-7B8D-B9FC-8629-F8C1717D150B}"/>
              </a:ext>
            </a:extLst>
          </p:cNvPr>
          <p:cNvSpPr/>
          <p:nvPr/>
        </p:nvSpPr>
        <p:spPr>
          <a:xfrm>
            <a:off x="2245541" y="3410962"/>
            <a:ext cx="790387" cy="365262"/>
          </a:xfrm>
          <a:prstGeom prst="rightArrow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9F46BDD6-79B3-A11A-C62A-7502E0AEDE2D}"/>
              </a:ext>
            </a:extLst>
          </p:cNvPr>
          <p:cNvSpPr/>
          <p:nvPr/>
        </p:nvSpPr>
        <p:spPr>
          <a:xfrm>
            <a:off x="350982" y="3351489"/>
            <a:ext cx="1894559" cy="457170"/>
          </a:xfrm>
          <a:prstGeom prst="ellipse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C4066C5-B60B-C3D4-0C00-FFEE2B688538}"/>
              </a:ext>
            </a:extLst>
          </p:cNvPr>
          <p:cNvGrpSpPr/>
          <p:nvPr/>
        </p:nvGrpSpPr>
        <p:grpSpPr>
          <a:xfrm>
            <a:off x="6511636" y="3265541"/>
            <a:ext cx="5242462" cy="422845"/>
            <a:chOff x="6511636" y="3265541"/>
            <a:chExt cx="5242462" cy="422845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E63F922-2DB2-C967-A722-5954529067CA}"/>
                </a:ext>
              </a:extLst>
            </p:cNvPr>
            <p:cNvSpPr txBox="1"/>
            <p:nvPr/>
          </p:nvSpPr>
          <p:spPr>
            <a:xfrm>
              <a:off x="6511636" y="3319054"/>
              <a:ext cx="5242462" cy="369332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 rtl="1"/>
              <a:r>
                <a:rPr lang="fa-IR" b="1" dirty="0">
                  <a:cs typeface="B Nazanin" panose="00000400000000000000" pitchFamily="2" charset="-78"/>
                </a:rPr>
                <a:t>اندازه این مجموعه واژگان معمولا بین 50000 الی 500000 لغت است.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19F4A9D-19BC-0DB4-9453-15C6DAE98344}"/>
                </a:ext>
              </a:extLst>
            </p:cNvPr>
            <p:cNvSpPr txBox="1"/>
            <p:nvPr/>
          </p:nvSpPr>
          <p:spPr>
            <a:xfrm>
              <a:off x="7608098" y="3272305"/>
              <a:ext cx="824276" cy="369332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r>
                <a:rPr lang="en-US" dirty="0"/>
                <a:t>,</a:t>
              </a:r>
              <a:endParaRPr lang="fa-IR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5479EB8-8808-C98A-72A2-B08060FBED78}"/>
                </a:ext>
              </a:extLst>
            </p:cNvPr>
            <p:cNvSpPr txBox="1"/>
            <p:nvPr/>
          </p:nvSpPr>
          <p:spPr>
            <a:xfrm>
              <a:off x="8395733" y="3265541"/>
              <a:ext cx="824276" cy="369332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r>
                <a:rPr lang="en-US" dirty="0"/>
                <a:t>,</a:t>
              </a:r>
              <a:endParaRPr lang="fa-IR" dirty="0"/>
            </a:p>
          </p:txBody>
        </p:sp>
      </p:grpSp>
      <p:cxnSp>
        <p:nvCxnSpPr>
          <p:cNvPr id="53" name="Connector: Curved 52">
            <a:extLst>
              <a:ext uri="{FF2B5EF4-FFF2-40B4-BE49-F238E27FC236}">
                <a16:creationId xmlns:a16="http://schemas.microsoft.com/office/drawing/2014/main" id="{15BFA5A1-1609-6042-7A83-9C6DE658257C}"/>
              </a:ext>
            </a:extLst>
          </p:cNvPr>
          <p:cNvCxnSpPr>
            <a:cxnSpLocks/>
            <a:stCxn id="33" idx="3"/>
            <a:endCxn id="101" idx="3"/>
          </p:cNvCxnSpPr>
          <p:nvPr/>
        </p:nvCxnSpPr>
        <p:spPr>
          <a:xfrm>
            <a:off x="10701773" y="2363636"/>
            <a:ext cx="1037026" cy="4004674"/>
          </a:xfrm>
          <a:prstGeom prst="curvedConnector3">
            <a:avLst>
              <a:gd name="adj1" fmla="val 122044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80524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70DA8C4-9B41-250F-1106-DFA84C99B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9494" y="135217"/>
            <a:ext cx="10515600" cy="918730"/>
          </a:xfrm>
        </p:spPr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مبدل متن به بردار معنایی چگونه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به‌دست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می‌آیند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؟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2F80226-4C4C-4297-F4C6-7BFF92C0997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512008" y="1119219"/>
            <a:ext cx="8100961" cy="490904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indent="0" algn="r" rtl="1">
              <a:buNone/>
            </a:pPr>
            <a:r>
              <a:rPr lang="fa-IR" sz="2800" b="1" dirty="0">
                <a:solidFill>
                  <a:schemeClr val="accent1"/>
                </a:solidFill>
                <a:cs typeface="B Nazanin" panose="00000400000000000000" pitchFamily="2" charset="-78"/>
              </a:rPr>
              <a:t>گام دوم – آموزش مدل بر روی داده‌ متنی عظیم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A1AD6D-9DA3-6962-5BD5-52B2BA4CDC67}"/>
              </a:ext>
            </a:extLst>
          </p:cNvPr>
          <p:cNvSpPr txBox="1"/>
          <p:nvPr/>
        </p:nvSpPr>
        <p:spPr>
          <a:xfrm>
            <a:off x="387930" y="1692760"/>
            <a:ext cx="11470314" cy="63094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1750" b="1" dirty="0">
                <a:cs typeface="B Nazanin" panose="00000400000000000000" pitchFamily="2" charset="-78"/>
              </a:rPr>
              <a:t>در این مرحله، بر اساس یک اندازه پنجره انتخابی، متن را تکه </a:t>
            </a:r>
            <a:r>
              <a:rPr lang="fa-IR" sz="1750" b="1" dirty="0" err="1">
                <a:cs typeface="B Nazanin" panose="00000400000000000000" pitchFamily="2" charset="-78"/>
              </a:rPr>
              <a:t>تکه</a:t>
            </a:r>
            <a:r>
              <a:rPr lang="fa-IR" sz="1750" b="1" dirty="0">
                <a:cs typeface="B Nazanin" panose="00000400000000000000" pitchFamily="2" charset="-78"/>
              </a:rPr>
              <a:t> </a:t>
            </a:r>
            <a:r>
              <a:rPr lang="fa-IR" sz="1750" b="1" dirty="0" err="1">
                <a:cs typeface="B Nazanin" panose="00000400000000000000" pitchFamily="2" charset="-78"/>
              </a:rPr>
              <a:t>می‌کنیم</a:t>
            </a:r>
            <a:r>
              <a:rPr lang="fa-IR" sz="1750" b="1" dirty="0">
                <a:cs typeface="B Nazanin" panose="00000400000000000000" pitchFamily="2" charset="-78"/>
              </a:rPr>
              <a:t>. سپس، روی هر تکه ، </a:t>
            </a:r>
            <a:r>
              <a:rPr lang="fa-IR" sz="1750" b="1" dirty="0">
                <a:solidFill>
                  <a:srgbClr val="FF0000"/>
                </a:solidFill>
                <a:cs typeface="B Nazanin" panose="00000400000000000000" pitchFamily="2" charset="-78"/>
              </a:rPr>
              <a:t>لغت میانی </a:t>
            </a:r>
            <a:r>
              <a:rPr lang="fa-IR" sz="1750" b="1" dirty="0">
                <a:cs typeface="B Nazanin" panose="00000400000000000000" pitchFamily="2" charset="-78"/>
              </a:rPr>
              <a:t>را بر </a:t>
            </a:r>
            <a:r>
              <a:rPr lang="fa-IR" sz="1750" b="1" dirty="0">
                <a:solidFill>
                  <a:srgbClr val="FF0000"/>
                </a:solidFill>
                <a:cs typeface="B Nazanin" panose="00000400000000000000" pitchFamily="2" charset="-78"/>
              </a:rPr>
              <a:t>باقی لغات </a:t>
            </a:r>
            <a:r>
              <a:rPr lang="fa-IR" sz="1750" b="1" dirty="0">
                <a:cs typeface="B Nazanin" panose="00000400000000000000" pitchFamily="2" charset="-78"/>
              </a:rPr>
              <a:t>آن تکه متن بر یک مدل شبکه عصبی مصنوعی (با</a:t>
            </a:r>
            <a:r>
              <a:rPr lang="en-US" sz="1750" b="1" dirty="0">
                <a:cs typeface="B Nazanin" panose="00000400000000000000" pitchFamily="2" charset="-78"/>
              </a:rPr>
              <a:t> </a:t>
            </a:r>
            <a:r>
              <a:rPr lang="fa-IR" sz="1750" b="1" dirty="0" err="1">
                <a:cs typeface="B Nazanin" panose="00000400000000000000" pitchFamily="2" charset="-78"/>
              </a:rPr>
              <a:t>فعالساز</a:t>
            </a:r>
            <a:r>
              <a:rPr lang="fa-IR" sz="1750" b="1" dirty="0">
                <a:cs typeface="B Nazanin" panose="00000400000000000000" pitchFamily="2" charset="-78"/>
              </a:rPr>
              <a:t> لایه آخر </a:t>
            </a:r>
            <a:r>
              <a:rPr lang="en-US" sz="1750" b="1" dirty="0">
                <a:cs typeface="B Nazanin" panose="00000400000000000000" pitchFamily="2" charset="-78"/>
              </a:rPr>
              <a:t>(</a:t>
            </a:r>
            <a:r>
              <a:rPr lang="en-US" sz="1750" b="1" dirty="0" err="1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Softmax</a:t>
            </a:r>
            <a:r>
              <a:rPr lang="fa-IR" sz="1750" b="1" dirty="0">
                <a:cs typeface="B Nazanin" panose="00000400000000000000" pitchFamily="2" charset="-78"/>
              </a:rPr>
              <a:t> آموزش </a:t>
            </a:r>
            <a:r>
              <a:rPr lang="fa-IR" sz="1750" b="1" dirty="0" err="1">
                <a:cs typeface="B Nazanin" panose="00000400000000000000" pitchFamily="2" charset="-78"/>
              </a:rPr>
              <a:t>می‌دهیم</a:t>
            </a:r>
            <a:r>
              <a:rPr lang="fa-IR" sz="1750" b="1" dirty="0">
                <a:cs typeface="B Nazanin" panose="00000400000000000000" pitchFamily="2" charset="-78"/>
              </a:rPr>
              <a:t>. در نهایت خروجی لایه نهایی ، </a:t>
            </a:r>
            <a:r>
              <a:rPr lang="fa-IR" sz="1750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بردار معنایی </a:t>
            </a:r>
            <a:r>
              <a:rPr lang="fa-IR" sz="1750" b="1" dirty="0">
                <a:cs typeface="B Nazanin" panose="00000400000000000000" pitchFamily="2" charset="-78"/>
              </a:rPr>
              <a:t>به </a:t>
            </a:r>
            <a:r>
              <a:rPr lang="fa-IR" sz="1750" b="1" dirty="0" err="1">
                <a:cs typeface="B Nazanin" panose="00000400000000000000" pitchFamily="2" charset="-78"/>
              </a:rPr>
              <a:t>ازای</a:t>
            </a:r>
            <a:r>
              <a:rPr lang="fa-IR" sz="1750" b="1" dirty="0">
                <a:cs typeface="B Nazanin" panose="00000400000000000000" pitchFamily="2" charset="-78"/>
              </a:rPr>
              <a:t> </a:t>
            </a:r>
            <a:r>
              <a:rPr lang="fa-IR" sz="1750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لغت ورودی </a:t>
            </a:r>
            <a:r>
              <a:rPr lang="fa-IR" sz="1750" b="1" dirty="0">
                <a:cs typeface="B Nazanin" panose="00000400000000000000" pitchFamily="2" charset="-78"/>
              </a:rPr>
              <a:t>خواهد بود. </a:t>
            </a:r>
            <a:endParaRPr lang="fa-IR" sz="1750" dirty="0">
              <a:cs typeface="B Nazanin" panose="00000400000000000000" pitchFamily="2" charset="-78"/>
            </a:endParaRP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5BCABD63-4BD4-5A86-70EA-BC319BFA16A6}"/>
              </a:ext>
            </a:extLst>
          </p:cNvPr>
          <p:cNvGrpSpPr/>
          <p:nvPr/>
        </p:nvGrpSpPr>
        <p:grpSpPr>
          <a:xfrm>
            <a:off x="1329221" y="2355395"/>
            <a:ext cx="2202872" cy="3483523"/>
            <a:chOff x="1145310" y="2687918"/>
            <a:chExt cx="2202872" cy="3483523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A5BCF66-2DCA-2EE3-F7CF-A42687D537ED}"/>
                </a:ext>
              </a:extLst>
            </p:cNvPr>
            <p:cNvCxnSpPr>
              <a:cxnSpLocks/>
              <a:stCxn id="35" idx="6"/>
              <a:endCxn id="38" idx="2"/>
            </p:cNvCxnSpPr>
            <p:nvPr/>
          </p:nvCxnSpPr>
          <p:spPr>
            <a:xfrm flipV="1">
              <a:off x="1722587" y="2915673"/>
              <a:ext cx="1152920" cy="14348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67983E7-0241-5BCE-E29A-ADB65090CC4F}"/>
                </a:ext>
              </a:extLst>
            </p:cNvPr>
            <p:cNvCxnSpPr>
              <a:cxnSpLocks/>
              <a:stCxn id="35" idx="6"/>
              <a:endCxn id="48" idx="2"/>
            </p:cNvCxnSpPr>
            <p:nvPr/>
          </p:nvCxnSpPr>
          <p:spPr>
            <a:xfrm flipV="1">
              <a:off x="1722587" y="3506879"/>
              <a:ext cx="1152921" cy="84364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751CCF5-9F97-544F-F9E5-A5855BE9AC0C}"/>
                </a:ext>
              </a:extLst>
            </p:cNvPr>
            <p:cNvCxnSpPr>
              <a:cxnSpLocks/>
              <a:stCxn id="41" idx="2"/>
              <a:endCxn id="35" idx="6"/>
            </p:cNvCxnSpPr>
            <p:nvPr/>
          </p:nvCxnSpPr>
          <p:spPr>
            <a:xfrm flipH="1" flipV="1">
              <a:off x="1722587" y="4350523"/>
              <a:ext cx="1173004" cy="159316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914AB66-2900-88DC-3C3C-971344A3E715}"/>
                </a:ext>
              </a:extLst>
            </p:cNvPr>
            <p:cNvCxnSpPr>
              <a:cxnSpLocks/>
              <a:stCxn id="35" idx="6"/>
              <a:endCxn id="49" idx="2"/>
            </p:cNvCxnSpPr>
            <p:nvPr/>
          </p:nvCxnSpPr>
          <p:spPr>
            <a:xfrm flipV="1">
              <a:off x="1722587" y="4141437"/>
              <a:ext cx="1152920" cy="20908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890137C-6B84-500C-A633-9D2C8B23F1DA}"/>
                </a:ext>
              </a:extLst>
            </p:cNvPr>
            <p:cNvCxnSpPr>
              <a:cxnSpLocks/>
              <a:stCxn id="35" idx="6"/>
              <a:endCxn id="40" idx="2"/>
            </p:cNvCxnSpPr>
            <p:nvPr/>
          </p:nvCxnSpPr>
          <p:spPr>
            <a:xfrm>
              <a:off x="1722587" y="4350523"/>
              <a:ext cx="1173004" cy="102732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506529E-1008-2591-0100-C6AF03AE8A28}"/>
                </a:ext>
              </a:extLst>
            </p:cNvPr>
            <p:cNvCxnSpPr>
              <a:cxnSpLocks/>
              <a:stCxn id="39" idx="2"/>
              <a:endCxn id="35" idx="6"/>
            </p:cNvCxnSpPr>
            <p:nvPr/>
          </p:nvCxnSpPr>
          <p:spPr>
            <a:xfrm flipH="1" flipV="1">
              <a:off x="1722587" y="4350523"/>
              <a:ext cx="1173003" cy="4091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37D3A2EE-AB6E-13B0-4CD9-626E6399423B}"/>
                </a:ext>
              </a:extLst>
            </p:cNvPr>
            <p:cNvSpPr/>
            <p:nvPr/>
          </p:nvSpPr>
          <p:spPr>
            <a:xfrm>
              <a:off x="1145310" y="4073627"/>
              <a:ext cx="577277" cy="5537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34E312E-7479-B0FF-69CF-FDCE502E147F}"/>
                </a:ext>
              </a:extLst>
            </p:cNvPr>
            <p:cNvSpPr/>
            <p:nvPr/>
          </p:nvSpPr>
          <p:spPr>
            <a:xfrm>
              <a:off x="2875507" y="2687918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F2908967-B611-E6A0-4AAF-D3464A9112CC}"/>
                </a:ext>
              </a:extLst>
            </p:cNvPr>
            <p:cNvSpPr/>
            <p:nvPr/>
          </p:nvSpPr>
          <p:spPr>
            <a:xfrm>
              <a:off x="2895590" y="4531885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B094723E-B0C5-3C3C-2A15-09C1DBD4AE02}"/>
                </a:ext>
              </a:extLst>
            </p:cNvPr>
            <p:cNvSpPr/>
            <p:nvPr/>
          </p:nvSpPr>
          <p:spPr>
            <a:xfrm>
              <a:off x="2895591" y="5150089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D808417-FE93-992B-CAF2-CE7D075F58B0}"/>
                </a:ext>
              </a:extLst>
            </p:cNvPr>
            <p:cNvSpPr/>
            <p:nvPr/>
          </p:nvSpPr>
          <p:spPr>
            <a:xfrm>
              <a:off x="2895591" y="5715932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7EAC36E-E360-5F96-392A-5B5F24CB0413}"/>
                </a:ext>
              </a:extLst>
            </p:cNvPr>
            <p:cNvSpPr/>
            <p:nvPr/>
          </p:nvSpPr>
          <p:spPr>
            <a:xfrm>
              <a:off x="2875508" y="3279124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E30581EB-88DB-5B4F-C0C3-F0FDD3FF6EE7}"/>
                </a:ext>
              </a:extLst>
            </p:cNvPr>
            <p:cNvSpPr/>
            <p:nvPr/>
          </p:nvSpPr>
          <p:spPr>
            <a:xfrm>
              <a:off x="2875507" y="3913682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CE9F8CE2-633C-F8BB-E6F8-AD29E03F2AA8}"/>
              </a:ext>
            </a:extLst>
          </p:cNvPr>
          <p:cNvSpPr txBox="1"/>
          <p:nvPr/>
        </p:nvSpPr>
        <p:spPr>
          <a:xfrm>
            <a:off x="3528522" y="3585287"/>
            <a:ext cx="1152921" cy="7078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4000" dirty="0"/>
              <a:t>......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97087D66-AF1C-4043-E102-CE77F17CB5E7}"/>
              </a:ext>
            </a:extLst>
          </p:cNvPr>
          <p:cNvSpPr txBox="1"/>
          <p:nvPr/>
        </p:nvSpPr>
        <p:spPr>
          <a:xfrm>
            <a:off x="6016158" y="4436061"/>
            <a:ext cx="1006764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b="1" dirty="0" err="1">
                <a:solidFill>
                  <a:schemeClr val="accent5">
                    <a:lumMod val="50000"/>
                  </a:schemeClr>
                </a:solidFill>
              </a:rPr>
              <a:t>Softmax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A22C100C-599B-0C3D-CEAF-5AD6CC8392E5}"/>
              </a:ext>
            </a:extLst>
          </p:cNvPr>
          <p:cNvGrpSpPr/>
          <p:nvPr/>
        </p:nvGrpSpPr>
        <p:grpSpPr>
          <a:xfrm rot="10800000">
            <a:off x="4538887" y="2355395"/>
            <a:ext cx="2202872" cy="3483523"/>
            <a:chOff x="5375563" y="2592385"/>
            <a:chExt cx="2202872" cy="3483523"/>
          </a:xfrm>
        </p:grpSpPr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A5AE18A0-6C6C-49D4-5850-577C90C4236E}"/>
                </a:ext>
              </a:extLst>
            </p:cNvPr>
            <p:cNvCxnSpPr>
              <a:cxnSpLocks/>
              <a:stCxn id="142" idx="6"/>
              <a:endCxn id="143" idx="2"/>
            </p:cNvCxnSpPr>
            <p:nvPr/>
          </p:nvCxnSpPr>
          <p:spPr>
            <a:xfrm flipV="1">
              <a:off x="5952840" y="2820140"/>
              <a:ext cx="1152920" cy="14348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037B1489-F02C-65A6-3958-7787722C8449}"/>
                </a:ext>
              </a:extLst>
            </p:cNvPr>
            <p:cNvCxnSpPr>
              <a:cxnSpLocks/>
              <a:stCxn id="142" idx="6"/>
              <a:endCxn id="147" idx="2"/>
            </p:cNvCxnSpPr>
            <p:nvPr/>
          </p:nvCxnSpPr>
          <p:spPr>
            <a:xfrm flipV="1">
              <a:off x="5952840" y="3411346"/>
              <a:ext cx="1152921" cy="84364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7BA24AEB-1B97-B68B-2D61-F1826EA7D5DB}"/>
                </a:ext>
              </a:extLst>
            </p:cNvPr>
            <p:cNvCxnSpPr>
              <a:cxnSpLocks/>
              <a:stCxn id="146" idx="2"/>
              <a:endCxn id="142" idx="6"/>
            </p:cNvCxnSpPr>
            <p:nvPr/>
          </p:nvCxnSpPr>
          <p:spPr>
            <a:xfrm flipH="1" flipV="1">
              <a:off x="5952840" y="4254990"/>
              <a:ext cx="1173004" cy="159316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47349654-3A8B-4CFC-EC8C-773838A36F64}"/>
                </a:ext>
              </a:extLst>
            </p:cNvPr>
            <p:cNvCxnSpPr>
              <a:cxnSpLocks/>
              <a:stCxn id="142" idx="6"/>
              <a:endCxn id="148" idx="2"/>
            </p:cNvCxnSpPr>
            <p:nvPr/>
          </p:nvCxnSpPr>
          <p:spPr>
            <a:xfrm flipV="1">
              <a:off x="5952840" y="4045904"/>
              <a:ext cx="1152920" cy="20908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A293C701-BD94-F7CA-E176-EB5A70B6FB45}"/>
                </a:ext>
              </a:extLst>
            </p:cNvPr>
            <p:cNvCxnSpPr>
              <a:cxnSpLocks/>
              <a:stCxn id="142" idx="6"/>
              <a:endCxn id="145" idx="2"/>
            </p:cNvCxnSpPr>
            <p:nvPr/>
          </p:nvCxnSpPr>
          <p:spPr>
            <a:xfrm>
              <a:off x="5952840" y="4254990"/>
              <a:ext cx="1173004" cy="102732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02F93D67-1575-003B-97DB-BA9EFD6B1A53}"/>
                </a:ext>
              </a:extLst>
            </p:cNvPr>
            <p:cNvCxnSpPr>
              <a:cxnSpLocks/>
              <a:stCxn id="144" idx="2"/>
              <a:endCxn id="142" idx="6"/>
            </p:cNvCxnSpPr>
            <p:nvPr/>
          </p:nvCxnSpPr>
          <p:spPr>
            <a:xfrm flipH="1" flipV="1">
              <a:off x="5952840" y="4254990"/>
              <a:ext cx="1173003" cy="4091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28207281-745F-E165-8BB8-84F56E142265}"/>
                </a:ext>
              </a:extLst>
            </p:cNvPr>
            <p:cNvSpPr/>
            <p:nvPr/>
          </p:nvSpPr>
          <p:spPr>
            <a:xfrm>
              <a:off x="5375563" y="3978094"/>
              <a:ext cx="577277" cy="5537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F2D18AB6-E64C-DC4F-CCF3-2280D1760C89}"/>
                </a:ext>
              </a:extLst>
            </p:cNvPr>
            <p:cNvSpPr/>
            <p:nvPr/>
          </p:nvSpPr>
          <p:spPr>
            <a:xfrm>
              <a:off x="7105760" y="2592385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8F3AF6F4-5C8B-3D38-20E9-DE73AECACF90}"/>
                </a:ext>
              </a:extLst>
            </p:cNvPr>
            <p:cNvSpPr/>
            <p:nvPr/>
          </p:nvSpPr>
          <p:spPr>
            <a:xfrm>
              <a:off x="7125843" y="4436352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50901EC1-9ADD-CC0D-05EA-87726F3D8E22}"/>
                </a:ext>
              </a:extLst>
            </p:cNvPr>
            <p:cNvSpPr/>
            <p:nvPr/>
          </p:nvSpPr>
          <p:spPr>
            <a:xfrm>
              <a:off x="7125844" y="5054556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8EB4515E-CF85-9DEE-51FF-D48D5316846C}"/>
                </a:ext>
              </a:extLst>
            </p:cNvPr>
            <p:cNvSpPr/>
            <p:nvPr/>
          </p:nvSpPr>
          <p:spPr>
            <a:xfrm>
              <a:off x="7125844" y="5620399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72FF4EEE-5D88-95BB-9069-45B3CFEE5E5B}"/>
                </a:ext>
              </a:extLst>
            </p:cNvPr>
            <p:cNvSpPr/>
            <p:nvPr/>
          </p:nvSpPr>
          <p:spPr>
            <a:xfrm>
              <a:off x="7105761" y="3183591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48" name="Oval 147">
              <a:extLst>
                <a:ext uri="{FF2B5EF4-FFF2-40B4-BE49-F238E27FC236}">
                  <a16:creationId xmlns:a16="http://schemas.microsoft.com/office/drawing/2014/main" id="{5501C51A-EF88-E619-873F-795327273BB8}"/>
                </a:ext>
              </a:extLst>
            </p:cNvPr>
            <p:cNvSpPr/>
            <p:nvPr/>
          </p:nvSpPr>
          <p:spPr>
            <a:xfrm>
              <a:off x="7105760" y="3818149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0520986-EF5F-1874-0055-B32229EB706E}"/>
              </a:ext>
            </a:extLst>
          </p:cNvPr>
          <p:cNvGrpSpPr/>
          <p:nvPr/>
        </p:nvGrpSpPr>
        <p:grpSpPr>
          <a:xfrm>
            <a:off x="6160910" y="1884347"/>
            <a:ext cx="5611099" cy="1826226"/>
            <a:chOff x="5938241" y="2429918"/>
            <a:chExt cx="5611099" cy="1826226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6604D09-D355-6442-4C61-EDC9793346AA}"/>
                </a:ext>
              </a:extLst>
            </p:cNvPr>
            <p:cNvSpPr txBox="1"/>
            <p:nvPr/>
          </p:nvSpPr>
          <p:spPr>
            <a:xfrm>
              <a:off x="5938241" y="3091473"/>
              <a:ext cx="5611099" cy="369332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/>
              <a:r>
                <a:rPr lang="fa-IR" b="1" dirty="0">
                  <a:solidFill>
                    <a:schemeClr val="accent5">
                      <a:lumMod val="75000"/>
                    </a:schemeClr>
                  </a:solidFill>
                  <a:cs typeface="B Nazanin" panose="00000400000000000000" pitchFamily="2" charset="-78"/>
                </a:rPr>
                <a:t>تهران، </a:t>
              </a:r>
              <a:r>
                <a:rPr lang="fa-IR" b="1" dirty="0" err="1">
                  <a:solidFill>
                    <a:schemeClr val="accent5">
                      <a:lumMod val="75000"/>
                    </a:schemeClr>
                  </a:solidFill>
                  <a:cs typeface="B Nazanin" panose="00000400000000000000" pitchFamily="2" charset="-78"/>
                </a:rPr>
                <a:t>پرجمعیت‌ترین</a:t>
              </a:r>
              <a:r>
                <a:rPr lang="fa-IR" b="1" dirty="0">
                  <a:solidFill>
                    <a:schemeClr val="accent5">
                      <a:lumMod val="75000"/>
                    </a:schemeClr>
                  </a:solidFill>
                  <a:cs typeface="B Nazanin" panose="00000400000000000000" pitchFamily="2" charset="-78"/>
                </a:rPr>
                <a:t> شهر و </a:t>
              </a:r>
              <a:r>
                <a:rPr lang="fa-IR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پایتخت</a:t>
              </a:r>
              <a:r>
                <a:rPr lang="fa-IR" b="1" dirty="0">
                  <a:cs typeface="B Nazanin" panose="00000400000000000000" pitchFamily="2" charset="-78"/>
                </a:rPr>
                <a:t> </a:t>
              </a:r>
              <a:r>
                <a:rPr lang="fa-IR" b="1" dirty="0">
                  <a:solidFill>
                    <a:schemeClr val="accent5">
                      <a:lumMod val="75000"/>
                    </a:schemeClr>
                  </a:solidFill>
                  <a:cs typeface="B Nazanin" panose="00000400000000000000" pitchFamily="2" charset="-78"/>
                </a:rPr>
                <a:t>ایران و مرکز استان تهران است.</a:t>
              </a:r>
              <a:endParaRPr lang="fa-IR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806B1D85-E0F1-7207-198D-81A00FD73C49}"/>
                </a:ext>
              </a:extLst>
            </p:cNvPr>
            <p:cNvSpPr/>
            <p:nvPr/>
          </p:nvSpPr>
          <p:spPr>
            <a:xfrm rot="6051015">
              <a:off x="8962135" y="3061057"/>
              <a:ext cx="553086" cy="681718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9" name="Arc 28">
              <a:extLst>
                <a:ext uri="{FF2B5EF4-FFF2-40B4-BE49-F238E27FC236}">
                  <a16:creationId xmlns:a16="http://schemas.microsoft.com/office/drawing/2014/main" id="{BC328F1F-50B8-83B7-D4C9-648B311F8AF1}"/>
                </a:ext>
              </a:extLst>
            </p:cNvPr>
            <p:cNvSpPr/>
            <p:nvPr/>
          </p:nvSpPr>
          <p:spPr>
            <a:xfrm rot="5400000">
              <a:off x="8999747" y="2894364"/>
              <a:ext cx="848192" cy="1052048"/>
            </a:xfrm>
            <a:prstGeom prst="arc">
              <a:avLst>
                <a:gd name="adj1" fmla="val 16460231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0" name="Arc 29">
              <a:extLst>
                <a:ext uri="{FF2B5EF4-FFF2-40B4-BE49-F238E27FC236}">
                  <a16:creationId xmlns:a16="http://schemas.microsoft.com/office/drawing/2014/main" id="{5D9C191B-F3B7-626C-8CDE-06F255FB7598}"/>
                </a:ext>
              </a:extLst>
            </p:cNvPr>
            <p:cNvSpPr/>
            <p:nvPr/>
          </p:nvSpPr>
          <p:spPr>
            <a:xfrm rot="5400000">
              <a:off x="9044510" y="2628984"/>
              <a:ext cx="1370260" cy="1663643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1" name="Arc 30">
              <a:extLst>
                <a:ext uri="{FF2B5EF4-FFF2-40B4-BE49-F238E27FC236}">
                  <a16:creationId xmlns:a16="http://schemas.microsoft.com/office/drawing/2014/main" id="{5AD3E7CC-289C-6FEF-D8FA-88B522D43B4A}"/>
                </a:ext>
              </a:extLst>
            </p:cNvPr>
            <p:cNvSpPr/>
            <p:nvPr/>
          </p:nvSpPr>
          <p:spPr>
            <a:xfrm rot="5400000">
              <a:off x="9164051" y="2163684"/>
              <a:ext cx="1814240" cy="2346708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2" name="Arc 31">
              <a:extLst>
                <a:ext uri="{FF2B5EF4-FFF2-40B4-BE49-F238E27FC236}">
                  <a16:creationId xmlns:a16="http://schemas.microsoft.com/office/drawing/2014/main" id="{E5C4F01E-BF5D-D49F-2F38-345F6AAB7E92}"/>
                </a:ext>
              </a:extLst>
            </p:cNvPr>
            <p:cNvSpPr/>
            <p:nvPr/>
          </p:nvSpPr>
          <p:spPr>
            <a:xfrm rot="5400000">
              <a:off x="7394808" y="2597678"/>
              <a:ext cx="1370260" cy="1663643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33" name="Arc 32">
              <a:extLst>
                <a:ext uri="{FF2B5EF4-FFF2-40B4-BE49-F238E27FC236}">
                  <a16:creationId xmlns:a16="http://schemas.microsoft.com/office/drawing/2014/main" id="{D443A61D-4658-6710-F83A-B62935098F96}"/>
                </a:ext>
              </a:extLst>
            </p:cNvPr>
            <p:cNvSpPr/>
            <p:nvPr/>
          </p:nvSpPr>
          <p:spPr>
            <a:xfrm rot="5400000">
              <a:off x="8355259" y="3193852"/>
              <a:ext cx="575639" cy="577278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4" name="Arc 33">
              <a:extLst>
                <a:ext uri="{FF2B5EF4-FFF2-40B4-BE49-F238E27FC236}">
                  <a16:creationId xmlns:a16="http://schemas.microsoft.com/office/drawing/2014/main" id="{25F0790C-D6CD-0501-F0E2-536C514E25B6}"/>
                </a:ext>
              </a:extLst>
            </p:cNvPr>
            <p:cNvSpPr/>
            <p:nvPr/>
          </p:nvSpPr>
          <p:spPr>
            <a:xfrm rot="5400000">
              <a:off x="7866292" y="2944090"/>
              <a:ext cx="1068654" cy="1006764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6" name="Arc 35">
              <a:extLst>
                <a:ext uri="{FF2B5EF4-FFF2-40B4-BE49-F238E27FC236}">
                  <a16:creationId xmlns:a16="http://schemas.microsoft.com/office/drawing/2014/main" id="{50D5B86B-CE4A-C241-194F-99E3E34C9453}"/>
                </a:ext>
              </a:extLst>
            </p:cNvPr>
            <p:cNvSpPr/>
            <p:nvPr/>
          </p:nvSpPr>
          <p:spPr>
            <a:xfrm rot="5400000">
              <a:off x="7059661" y="2359054"/>
              <a:ext cx="1640014" cy="2067252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B6C88CA1-3E56-317A-224B-767B855AC95C}"/>
                </a:ext>
              </a:extLst>
            </p:cNvPr>
            <p:cNvSpPr/>
            <p:nvPr/>
          </p:nvSpPr>
          <p:spPr>
            <a:xfrm rot="5400000">
              <a:off x="6790949" y="2149277"/>
              <a:ext cx="1735337" cy="2478397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5473E07C-F7C2-5FBC-0106-13D9B632C755}"/>
              </a:ext>
            </a:extLst>
          </p:cNvPr>
          <p:cNvSpPr txBox="1"/>
          <p:nvPr/>
        </p:nvSpPr>
        <p:spPr>
          <a:xfrm>
            <a:off x="0" y="3792150"/>
            <a:ext cx="1309138" cy="600164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fa-IR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پایتخت</a:t>
            </a:r>
            <a:endParaRPr lang="en-US" b="1" dirty="0">
              <a:solidFill>
                <a:schemeClr val="accent2">
                  <a:lumMod val="75000"/>
                </a:schemeClr>
              </a:solidFill>
              <a:cs typeface="B Nazanin" panose="00000400000000000000" pitchFamily="2" charset="-78"/>
            </a:endParaRPr>
          </a:p>
          <a:p>
            <a:pPr algn="r" rtl="1"/>
            <a:r>
              <a:rPr lang="fa-IR" sz="1500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(بردار یکه 4163)</a:t>
            </a:r>
          </a:p>
        </p:txBody>
      </p:sp>
      <p:cxnSp>
        <p:nvCxnSpPr>
          <p:cNvPr id="46" name="Connector: Curved 45">
            <a:extLst>
              <a:ext uri="{FF2B5EF4-FFF2-40B4-BE49-F238E27FC236}">
                <a16:creationId xmlns:a16="http://schemas.microsoft.com/office/drawing/2014/main" id="{3856741A-45CA-0D14-D1DA-3B23E7101C05}"/>
              </a:ext>
            </a:extLst>
          </p:cNvPr>
          <p:cNvCxnSpPr>
            <a:cxnSpLocks/>
            <a:stCxn id="44" idx="0"/>
            <a:endCxn id="35" idx="0"/>
          </p:cNvCxnSpPr>
          <p:nvPr/>
        </p:nvCxnSpPr>
        <p:spPr>
          <a:xfrm rot="5400000" flipH="1" flipV="1">
            <a:off x="1110691" y="3284982"/>
            <a:ext cx="51046" cy="963291"/>
          </a:xfrm>
          <a:prstGeom prst="curvedConnector3">
            <a:avLst>
              <a:gd name="adj1" fmla="val 547831"/>
            </a:avLst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Curved 46">
            <a:extLst>
              <a:ext uri="{FF2B5EF4-FFF2-40B4-BE49-F238E27FC236}">
                <a16:creationId xmlns:a16="http://schemas.microsoft.com/office/drawing/2014/main" id="{2F82B8D4-560C-5A59-44F8-91CA5D45C86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913175" y="5288915"/>
            <a:ext cx="81979" cy="777082"/>
          </a:xfrm>
          <a:prstGeom prst="curvedConnector3">
            <a:avLst>
              <a:gd name="adj1" fmla="val -274625"/>
            </a:avLst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149C7F24-A237-B859-05DC-558AA762190B}"/>
              </a:ext>
            </a:extLst>
          </p:cNvPr>
          <p:cNvSpPr txBox="1"/>
          <p:nvPr/>
        </p:nvSpPr>
        <p:spPr>
          <a:xfrm>
            <a:off x="6178703" y="5214489"/>
            <a:ext cx="115292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بردار معنایی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AEBA58AD-E192-39CF-07B6-618F67A3E640}"/>
              </a:ext>
            </a:extLst>
          </p:cNvPr>
          <p:cNvGrpSpPr/>
          <p:nvPr/>
        </p:nvGrpSpPr>
        <p:grpSpPr>
          <a:xfrm>
            <a:off x="7623731" y="5092916"/>
            <a:ext cx="4234513" cy="612477"/>
            <a:chOff x="8096541" y="4591724"/>
            <a:chExt cx="3898448" cy="1008964"/>
          </a:xfrm>
        </p:grpSpPr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BE6A9D1F-3F66-2B45-DF40-F73D814CF2B8}"/>
                </a:ext>
              </a:extLst>
            </p:cNvPr>
            <p:cNvSpPr/>
            <p:nvPr/>
          </p:nvSpPr>
          <p:spPr>
            <a:xfrm>
              <a:off x="8238224" y="4591724"/>
              <a:ext cx="3756765" cy="1008964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1D3C5887-4B62-B78A-0D04-73BB92AF6037}"/>
                </a:ext>
              </a:extLst>
            </p:cNvPr>
            <p:cNvSpPr txBox="1"/>
            <p:nvPr/>
          </p:nvSpPr>
          <p:spPr>
            <a:xfrm>
              <a:off x="8096541" y="4634119"/>
              <a:ext cx="3847387" cy="963329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 rtl="1"/>
              <a:r>
                <a:rPr lang="fa-IR" sz="1600" b="1" dirty="0">
                  <a:cs typeface="B Nazanin" panose="00000400000000000000" pitchFamily="2" charset="-78"/>
                </a:rPr>
                <a:t>سرانجام، </a:t>
              </a:r>
              <a:r>
                <a:rPr lang="fa-IR" sz="1600" b="1" dirty="0" err="1">
                  <a:cs typeface="B Nazanin" panose="00000400000000000000" pitchFamily="2" charset="-78"/>
                </a:rPr>
                <a:t>واژه‌های</a:t>
              </a:r>
              <a:r>
                <a:rPr lang="fa-IR" sz="1600" b="1" dirty="0">
                  <a:cs typeface="B Nazanin" panose="00000400000000000000" pitchFamily="2" charset="-78"/>
                </a:rPr>
                <a:t> نزدیک و مرتبط، </a:t>
              </a:r>
              <a:r>
                <a:rPr lang="fa-IR" sz="1600" b="1" dirty="0" err="1">
                  <a:cs typeface="B Nazanin" panose="00000400000000000000" pitchFamily="2" charset="-78"/>
                </a:rPr>
                <a:t>بردارهای</a:t>
              </a:r>
              <a:r>
                <a:rPr lang="fa-IR" sz="1600" b="1" dirty="0">
                  <a:cs typeface="B Nazanin" panose="00000400000000000000" pitchFamily="2" charset="-78"/>
                </a:rPr>
                <a:t> نزدیکی نیز نسبت به هم خواهند داشت. (به لحاظ فاصله برداری) </a:t>
              </a:r>
            </a:p>
          </p:txBody>
        </p:sp>
      </p:grp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3B11899C-A9EC-2D05-C7D7-8884AB91ABA6}"/>
              </a:ext>
            </a:extLst>
          </p:cNvPr>
          <p:cNvSpPr/>
          <p:nvPr/>
        </p:nvSpPr>
        <p:spPr>
          <a:xfrm>
            <a:off x="106122" y="6326181"/>
            <a:ext cx="11886937" cy="409118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B4F4D82-396E-CB2F-C1F8-47AB56FB98A9}"/>
              </a:ext>
            </a:extLst>
          </p:cNvPr>
          <p:cNvSpPr txBox="1"/>
          <p:nvPr/>
        </p:nvSpPr>
        <p:spPr>
          <a:xfrm>
            <a:off x="109418" y="6361473"/>
            <a:ext cx="11813479" cy="3231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این روش، از </a:t>
            </a:r>
            <a:r>
              <a:rPr lang="fa-IR" sz="15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پرکاربردترین</a:t>
            </a:r>
            <a:r>
              <a:rPr lang="fa-IR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روش های ساخت مدل تبدیل متن به بردار معنایی است که </a:t>
            </a:r>
            <a:r>
              <a:rPr lang="en-US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Word2Vec</a:t>
            </a:r>
            <a:r>
              <a:rPr lang="fa-IR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نام دارد و توسط دانشمند روسی</a:t>
            </a:r>
            <a:r>
              <a:rPr lang="en-US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Tomas </a:t>
            </a:r>
            <a:r>
              <a:rPr lang="en-US" sz="15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Mikolov</a:t>
            </a:r>
            <a:r>
              <a:rPr lang="en-US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در سال 2013 ارائه شده است.</a:t>
            </a:r>
            <a:endParaRPr lang="fa-IR" sz="15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DF8EB036-8706-C81D-1A58-65AD9C72B726}"/>
              </a:ext>
            </a:extLst>
          </p:cNvPr>
          <p:cNvSpPr/>
          <p:nvPr/>
        </p:nvSpPr>
        <p:spPr>
          <a:xfrm>
            <a:off x="5073630" y="2495163"/>
            <a:ext cx="696229" cy="331578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6F5B76C-30F1-F8EA-0231-707EE8A37E3C}"/>
              </a:ext>
            </a:extLst>
          </p:cNvPr>
          <p:cNvSpPr txBox="1"/>
          <p:nvPr/>
        </p:nvSpPr>
        <p:spPr>
          <a:xfrm>
            <a:off x="5049254" y="2464845"/>
            <a:ext cx="718196" cy="339580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[ 0.23</a:t>
            </a:r>
          </a:p>
          <a:p>
            <a:pPr>
              <a:spcBef>
                <a:spcPts val="200"/>
              </a:spcBef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0.74</a:t>
            </a:r>
          </a:p>
          <a:p>
            <a:pPr>
              <a:spcBef>
                <a:spcPts val="200"/>
              </a:spcBef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0.39</a:t>
            </a:r>
          </a:p>
          <a:p>
            <a:pPr>
              <a:spcBef>
                <a:spcPts val="200"/>
              </a:spcBef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0.65</a:t>
            </a:r>
          </a:p>
          <a:p>
            <a:pPr>
              <a:spcBef>
                <a:spcPts val="200"/>
              </a:spcBef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0.07</a:t>
            </a:r>
          </a:p>
          <a:p>
            <a:pPr>
              <a:spcBef>
                <a:spcPts val="200"/>
              </a:spcBef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0.51 ]</a:t>
            </a:r>
            <a:endParaRPr lang="fa-IR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6502E99-4E2E-943D-8DA9-F8BA029DD8C8}"/>
              </a:ext>
            </a:extLst>
          </p:cNvPr>
          <p:cNvGrpSpPr/>
          <p:nvPr/>
        </p:nvGrpSpPr>
        <p:grpSpPr>
          <a:xfrm>
            <a:off x="7239009" y="3885451"/>
            <a:ext cx="4610656" cy="635736"/>
            <a:chOff x="7447696" y="4111273"/>
            <a:chExt cx="4610656" cy="641085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791FB403-3B1D-8757-DD68-613023863E6D}"/>
                </a:ext>
              </a:extLst>
            </p:cNvPr>
            <p:cNvSpPr/>
            <p:nvPr/>
          </p:nvSpPr>
          <p:spPr>
            <a:xfrm>
              <a:off x="7447696" y="4111273"/>
              <a:ext cx="4610656" cy="641085"/>
            </a:xfrm>
            <a:prstGeom prst="roundRect">
              <a:avLst/>
            </a:prstGeom>
            <a:solidFill>
              <a:srgbClr val="FDCBCB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9B0A97B-C263-DC3A-87A9-C6DD80B43B6A}"/>
                </a:ext>
              </a:extLst>
            </p:cNvPr>
            <p:cNvSpPr txBox="1"/>
            <p:nvPr/>
          </p:nvSpPr>
          <p:spPr>
            <a:xfrm>
              <a:off x="7447696" y="4136808"/>
              <a:ext cx="4610656" cy="584775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 rtl="1"/>
              <a:r>
                <a:rPr lang="fa-IR" sz="1600" b="1" dirty="0">
                  <a:solidFill>
                    <a:srgbClr val="7E0000"/>
                  </a:solidFill>
                  <a:cs typeface="B Nazanin" panose="00000400000000000000" pitchFamily="2" charset="-78"/>
                </a:rPr>
                <a:t>تابع هزینه:</a:t>
              </a:r>
            </a:p>
            <a:p>
              <a:pPr algn="r" rtl="1"/>
              <a:r>
                <a:rPr lang="fa-IR" sz="1600" b="1" dirty="0">
                  <a:solidFill>
                    <a:srgbClr val="7E0000"/>
                  </a:solidFill>
                  <a:cs typeface="B Nazanin" panose="00000400000000000000" pitchFamily="2" charset="-78"/>
                </a:rPr>
                <a:t>میانگین </a:t>
              </a:r>
              <a:r>
                <a:rPr lang="fa-IR" sz="1600" b="1" dirty="0" err="1">
                  <a:solidFill>
                    <a:srgbClr val="7E0000"/>
                  </a:solidFill>
                  <a:cs typeface="B Nazanin" panose="00000400000000000000" pitchFamily="2" charset="-78"/>
                </a:rPr>
                <a:t>مربعات</a:t>
              </a:r>
              <a:r>
                <a:rPr lang="fa-IR" sz="1600" b="1" dirty="0">
                  <a:solidFill>
                    <a:srgbClr val="7E0000"/>
                  </a:solidFill>
                  <a:cs typeface="B Nazanin" panose="00000400000000000000" pitchFamily="2" charset="-78"/>
                </a:rPr>
                <a:t> خطا </a:t>
              </a:r>
              <a:r>
                <a:rPr lang="en-US" sz="1600" b="1" dirty="0">
                  <a:solidFill>
                    <a:srgbClr val="7E0000"/>
                  </a:solidFill>
                  <a:cs typeface="B Nazanin" panose="00000400000000000000" pitchFamily="2" charset="-78"/>
                </a:rPr>
                <a:t>)</a:t>
              </a:r>
              <a:r>
                <a:rPr lang="fa-IR" sz="1600" b="1" dirty="0">
                  <a:solidFill>
                    <a:srgbClr val="7E0000"/>
                  </a:solidFill>
                  <a:cs typeface="B Nazanin" panose="00000400000000000000" pitchFamily="2" charset="-78"/>
                </a:rPr>
                <a:t>بردار یکه "تهران" ، بردار یکه "پایتخت“</a:t>
              </a:r>
              <a:r>
                <a:rPr lang="en-US" sz="1600" b="1" dirty="0">
                  <a:solidFill>
                    <a:srgbClr val="7E0000"/>
                  </a:solidFill>
                  <a:cs typeface="B Nazanin" panose="00000400000000000000" pitchFamily="2" charset="-78"/>
                </a:rPr>
                <a:t>(</a:t>
              </a:r>
              <a:endParaRPr lang="fa-IR" sz="1600" b="1" dirty="0">
                <a:solidFill>
                  <a:srgbClr val="7E0000"/>
                </a:solidFill>
                <a:cs typeface="B Nazanin" panose="00000400000000000000" pitchFamily="2" charset="-78"/>
              </a:endParaRP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6CABF742-1182-5AB5-FE97-2A6F76E6DB2E}"/>
              </a:ext>
            </a:extLst>
          </p:cNvPr>
          <p:cNvSpPr txBox="1"/>
          <p:nvPr/>
        </p:nvSpPr>
        <p:spPr>
          <a:xfrm>
            <a:off x="932873" y="5958019"/>
            <a:ext cx="3435125" cy="338554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16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تعداد </a:t>
            </a:r>
            <a:r>
              <a:rPr lang="fa-IR" sz="1600" b="1" dirty="0" err="1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نورون‌های</a:t>
            </a:r>
            <a:r>
              <a:rPr lang="fa-IR" sz="16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 این لایه: اندازه مجموعه واژگان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1F486F3-97F5-B05B-D581-6E605CEB6E8A}"/>
              </a:ext>
            </a:extLst>
          </p:cNvPr>
          <p:cNvSpPr txBox="1"/>
          <p:nvPr/>
        </p:nvSpPr>
        <p:spPr>
          <a:xfrm rot="5400000">
            <a:off x="4697824" y="5622688"/>
            <a:ext cx="307064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3200" dirty="0"/>
              <a:t>{</a:t>
            </a:r>
          </a:p>
        </p:txBody>
      </p:sp>
      <p:cxnSp>
        <p:nvCxnSpPr>
          <p:cNvPr id="73" name="Connector: Curved 72">
            <a:extLst>
              <a:ext uri="{FF2B5EF4-FFF2-40B4-BE49-F238E27FC236}">
                <a16:creationId xmlns:a16="http://schemas.microsoft.com/office/drawing/2014/main" id="{8C95D6E3-C9F3-862C-7D5E-199C188FB62F}"/>
              </a:ext>
            </a:extLst>
          </p:cNvPr>
          <p:cNvCxnSpPr>
            <a:cxnSpLocks/>
            <a:stCxn id="53" idx="3"/>
            <a:endCxn id="52" idx="3"/>
          </p:cNvCxnSpPr>
          <p:nvPr/>
        </p:nvCxnSpPr>
        <p:spPr>
          <a:xfrm rot="5400000">
            <a:off x="4580333" y="5856273"/>
            <a:ext cx="58688" cy="483358"/>
          </a:xfrm>
          <a:prstGeom prst="curvedConnector4">
            <a:avLst>
              <a:gd name="adj1" fmla="val 389517"/>
              <a:gd name="adj2" fmla="val 65882"/>
            </a:avLst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9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/>
      <p:bldP spid="54" grpId="0"/>
      <p:bldP spid="67" grpId="0" animBg="1"/>
      <p:bldP spid="4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24BA2-EFED-7EF0-FD56-1DDC45D4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sz="4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شِمای</a:t>
            </a:r>
            <a:r>
              <a:rPr lang="fa-IR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کلی فرآیند </a:t>
            </a:r>
            <a:r>
              <a:rPr lang="en-US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Fine-tuning</a:t>
            </a:r>
            <a:br>
              <a:rPr lang="fa-IR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</a:br>
            <a:endParaRPr lang="fa-IR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06C3D-0A3A-5130-3BAE-C3F6242B4F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873"/>
            <a:ext cx="10515600" cy="4736090"/>
          </a:xfrm>
        </p:spPr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89615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0751-D6F9-8204-5F56-650410C25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7538" y="0"/>
            <a:ext cx="11558591" cy="750588"/>
          </a:xfrm>
        </p:spPr>
        <p:txBody>
          <a:bodyPr>
            <a:normAutofit/>
          </a:bodyPr>
          <a:lstStyle/>
          <a:p>
            <a:pPr algn="r" rtl="1"/>
            <a:r>
              <a:rPr lang="fa-IR" sz="3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مقایسه راهکارهای ایجاد دانش جدید در </a:t>
            </a:r>
            <a:r>
              <a:rPr lang="fa-IR" sz="3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  <a:endParaRPr lang="fa-IR" sz="3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81F7A35-33E6-1D7F-927A-A00B253186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81175435"/>
              </p:ext>
            </p:extLst>
          </p:nvPr>
        </p:nvGraphicFramePr>
        <p:xfrm>
          <a:off x="178469" y="750588"/>
          <a:ext cx="11835062" cy="5899352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388622">
                  <a:extLst>
                    <a:ext uri="{9D8B030D-6E8A-4147-A177-3AD203B41FA5}">
                      <a16:colId xmlns:a16="http://schemas.microsoft.com/office/drawing/2014/main" val="3606271277"/>
                    </a:ext>
                  </a:extLst>
                </a:gridCol>
                <a:gridCol w="3568327">
                  <a:extLst>
                    <a:ext uri="{9D8B030D-6E8A-4147-A177-3AD203B41FA5}">
                      <a16:colId xmlns:a16="http://schemas.microsoft.com/office/drawing/2014/main" val="3450439336"/>
                    </a:ext>
                  </a:extLst>
                </a:gridCol>
                <a:gridCol w="3138815">
                  <a:extLst>
                    <a:ext uri="{9D8B030D-6E8A-4147-A177-3AD203B41FA5}">
                      <a16:colId xmlns:a16="http://schemas.microsoft.com/office/drawing/2014/main" val="1743241370"/>
                    </a:ext>
                  </a:extLst>
                </a:gridCol>
                <a:gridCol w="3739298">
                  <a:extLst>
                    <a:ext uri="{9D8B030D-6E8A-4147-A177-3AD203B41FA5}">
                      <a16:colId xmlns:a16="http://schemas.microsoft.com/office/drawing/2014/main" val="4055511178"/>
                    </a:ext>
                  </a:extLst>
                </a:gridCol>
              </a:tblGrid>
              <a:tr h="447697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kern="12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شاخصه / روش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Pre-training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Fine-tuning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RAG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483953"/>
                  </a:ext>
                </a:extLst>
              </a:tr>
              <a:tr h="451529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تعریف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آموزش مدل زبانی از ابتدا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تنظیم دقیق مدل ‌زبانی روی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داده‌های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جدید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تقویت ورودی مدل ‌زبانی با اطلاعات</a:t>
                      </a:r>
                      <a:r>
                        <a:rPr lang="en-US" sz="15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مرتبط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1915678"/>
                  </a:ext>
                </a:extLst>
              </a:tr>
              <a:tr h="138212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هزینه </a:t>
                      </a:r>
                      <a:r>
                        <a:rPr lang="fa-IR" sz="17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محاسباتی</a:t>
                      </a: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 و زمانی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صدها هزار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چندین ماه یا سال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متخصص و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داده(</a:t>
                      </a:r>
                      <a:r>
                        <a:rPr lang="en-US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Dataset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)‌ عظیم 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چندین ساعت یا روز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یک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داده‌ پرسش و پاسخ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fa-IR" sz="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قابلیت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بهره‌برداری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آنی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تهیه مجموعه داده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افزودن منابع دانش و اطلاعات 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008050"/>
                  </a:ext>
                </a:extLst>
              </a:tr>
              <a:tr h="1277498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نکات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0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فرآیندی بسیار پرهزینه و تخصصی‌ است.</a:t>
                      </a: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افزودن هر بار اطلاعات به مدل با این روش، علاوه بر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زمان‌بر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بودن، نیاز به تخصص دارد.</a:t>
                      </a: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امکان افزودن سریع و آسان منابع علمی و اطلاعات توسط مدیر و کاربران</a:t>
                      </a:r>
                    </a:p>
                    <a:p>
                      <a:pPr marL="0" indent="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215576"/>
                  </a:ext>
                </a:extLst>
              </a:tr>
              <a:tr h="2313145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2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موارد مناسب برای استفاده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تهیه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مدل‌زبانی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بر روی زبانی که تا به حال کار نشده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تهیه مدلی بهتر نسبت به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زبانی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متن‌باز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موجود، با از بین بردن نقاط ضعف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آن‌ها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توسعه علمی و تحقیقاتی حوزه پردازش زبان طبیعی/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بومی‌سازی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دانش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زبانی و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تربیت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وظیفه‌ای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(مثل متخصص ترجمه،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خلاصه‌نویسی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نگارش آکادمیک،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شعرسرایی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برنامه‌نویسی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و ...)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تغییر ادبیات و بیان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شخصیت‌سازی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ربات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پرسش و پاسخ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فرازمینه‌ای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     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Open-domain Q&amp;A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دستیار تحقیقاتی</a:t>
                      </a:r>
                      <a:endParaRPr lang="fa-IR" sz="12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مدیریت دانش سازمانی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جستجوی اسناد</a:t>
                      </a:r>
                      <a:r>
                        <a:rPr lang="en-US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 منابع اطلاعاتی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گزارش تحلیلی بر پایه اطلاعات از منابع مختلف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19477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72F3F76-9ABE-3C93-BEA7-0365DAF2DB01}"/>
              </a:ext>
            </a:extLst>
          </p:cNvPr>
          <p:cNvSpPr txBox="1"/>
          <p:nvPr/>
        </p:nvSpPr>
        <p:spPr>
          <a:xfrm>
            <a:off x="3897745" y="1984485"/>
            <a:ext cx="1533242" cy="24622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en-US" sz="1000" b="1" kern="1200" dirty="0">
                <a:solidFill>
                  <a:schemeClr val="dk1"/>
                </a:solidFill>
                <a:latin typeface="+mn-lt"/>
                <a:ea typeface="+mn-ea"/>
                <a:cs typeface="+mj-cs"/>
              </a:rPr>
              <a:t>8 * 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N_model</a:t>
            </a:r>
            <a:r>
              <a:rPr lang="en-US" sz="1000" b="1" dirty="0" err="1">
                <a:solidFill>
                  <a:schemeClr val="dk1"/>
                </a:solidFill>
                <a:cs typeface="+mj-cs"/>
              </a:rPr>
              <a:t>_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parameters</a:t>
            </a:r>
            <a:endParaRPr lang="fa-IR" sz="1000" dirty="0">
              <a:cs typeface="+mj-cs"/>
            </a:endParaRP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21DAF1BF-507C-6713-3752-E36BBE3B9EDB}"/>
              </a:ext>
            </a:extLst>
          </p:cNvPr>
          <p:cNvCxnSpPr>
            <a:cxnSpLocks/>
          </p:cNvCxnSpPr>
          <p:nvPr/>
        </p:nvCxnSpPr>
        <p:spPr>
          <a:xfrm rot="10800000" flipV="1">
            <a:off x="5366339" y="2021430"/>
            <a:ext cx="221676" cy="86165"/>
          </a:xfrm>
          <a:prstGeom prst="curvedConnector3">
            <a:avLst>
              <a:gd name="adj1" fmla="val 2083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7358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AB6C1-B27D-8A14-DA33-11A17B57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D92D2-C91B-9937-1162-C9FA09274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104" y="389602"/>
            <a:ext cx="10515600" cy="1325563"/>
          </a:xfrm>
        </p:spPr>
        <p:txBody>
          <a:bodyPr/>
          <a:lstStyle/>
          <a:p>
            <a:pPr algn="r" rtl="1"/>
            <a:r>
              <a:rPr lang="fa-IR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چرا </a:t>
            </a:r>
            <a:r>
              <a:rPr lang="en-US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RAG</a:t>
            </a:r>
            <a:r>
              <a:rPr lang="fa-IR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 </a:t>
            </a:r>
            <a:r>
              <a:rPr lang="fa-IR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cs typeface="B Roya" panose="00000400000000000000" pitchFamily="2" charset="-78"/>
              </a:rPr>
              <a:t>؟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D505F06-E5C9-19CF-09EF-31F4B01C67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0540617"/>
              </p:ext>
            </p:extLst>
          </p:nvPr>
        </p:nvGraphicFramePr>
        <p:xfrm>
          <a:off x="5329240" y="1690688"/>
          <a:ext cx="1799355" cy="19581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6F48053-AED1-D9DB-FA80-0FB8CA66158E}"/>
              </a:ext>
            </a:extLst>
          </p:cNvPr>
          <p:cNvSpPr txBox="1">
            <a:spLocks/>
          </p:cNvSpPr>
          <p:nvPr/>
        </p:nvSpPr>
        <p:spPr>
          <a:xfrm>
            <a:off x="1231900" y="1690688"/>
            <a:ext cx="10515600" cy="46081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بهره‌مندی</a:t>
            </a:r>
            <a:r>
              <a:rPr lang="fa-IR" sz="2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از قابلیت ‌های یک مدل زبانی پیشرفته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سرعت بالا در افزودن منابع و اطلاعات</a:t>
            </a: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کنترل بالای دسترسی کاربران توسط مدیر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هزینه </a:t>
            </a:r>
            <a:r>
              <a:rPr lang="fa-IR" sz="2000" b="1" dirty="0" err="1">
                <a:cs typeface="B Nazanin" panose="00000400000000000000" pitchFamily="2" charset="-78"/>
              </a:rPr>
              <a:t>محاسباتی</a:t>
            </a:r>
            <a:r>
              <a:rPr lang="fa-IR" sz="2000" b="1" dirty="0">
                <a:cs typeface="B Nazanin" panose="00000400000000000000" pitchFamily="2" charset="-78"/>
              </a:rPr>
              <a:t> (و اقتصادی) پایین</a:t>
            </a:r>
          </a:p>
          <a:p>
            <a:pPr algn="r" rtl="1"/>
            <a:endParaRPr lang="fa-IR" sz="1400" dirty="0"/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</p:txBody>
      </p:sp>
      <p:sp>
        <p:nvSpPr>
          <p:cNvPr id="10" name="Cross 9">
            <a:extLst>
              <a:ext uri="{FF2B5EF4-FFF2-40B4-BE49-F238E27FC236}">
                <a16:creationId xmlns:a16="http://schemas.microsoft.com/office/drawing/2014/main" id="{30213B54-C08B-4026-F33C-AF8DD197F837}"/>
              </a:ext>
            </a:extLst>
          </p:cNvPr>
          <p:cNvSpPr/>
          <p:nvPr/>
        </p:nvSpPr>
        <p:spPr>
          <a:xfrm>
            <a:off x="4046033" y="2143611"/>
            <a:ext cx="1088160" cy="1083762"/>
          </a:xfrm>
          <a:prstGeom prst="plus">
            <a:avLst>
              <a:gd name="adj" fmla="val 42774"/>
            </a:avLst>
          </a:prstGeom>
          <a:gradFill flip="none" rotWithShape="1">
            <a:gsLst>
              <a:gs pos="0">
                <a:schemeClr val="accent6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6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6">
                  <a:lumMod val="60000"/>
                  <a:lumOff val="40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86ADEB2C-C55B-CFE0-2879-37C99269FD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4846956"/>
              </p:ext>
            </p:extLst>
          </p:nvPr>
        </p:nvGraphicFramePr>
        <p:xfrm>
          <a:off x="444500" y="2454660"/>
          <a:ext cx="3406487" cy="4616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3933278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17B7-0BDC-47F3-5396-E81FD66A3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3836" y="198437"/>
            <a:ext cx="10515600" cy="1325563"/>
          </a:xfrm>
        </p:spPr>
        <p:txBody>
          <a:bodyPr>
            <a:normAutofit/>
          </a:bodyPr>
          <a:lstStyle/>
          <a:p>
            <a:pPr algn="r" rtl="1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متغیرهای موثر بر کیفیت پاسخ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مدل‌زبانی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با </a:t>
            </a:r>
            <a:r>
              <a:rPr lang="en-US" sz="40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RAG</a:t>
            </a:r>
            <a:endParaRPr lang="fa-IR" sz="4000" b="1" dirty="0">
              <a:solidFill>
                <a:schemeClr val="accent1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FECF-C53F-7E00-90C0-6919419B52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8345" y="1357745"/>
            <a:ext cx="10515600" cy="4652963"/>
          </a:xfrm>
        </p:spPr>
        <p:txBody>
          <a:bodyPr>
            <a:normAutofit/>
          </a:bodyPr>
          <a:lstStyle/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نوع مدل زبانی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اندازه </a:t>
            </a:r>
            <a:r>
              <a:rPr lang="fa-IR" sz="2400" b="1" dirty="0" err="1">
                <a:cs typeface="B Nazanin" panose="00000400000000000000" pitchFamily="2" charset="-78"/>
              </a:rPr>
              <a:t>تکه‌متن‌ها</a:t>
            </a:r>
            <a:r>
              <a:rPr lang="fa-IR" sz="2400" b="1" dirty="0">
                <a:cs typeface="B Nazanin" panose="00000400000000000000" pitchFamily="2" charset="-78"/>
              </a:rPr>
              <a:t> (</a:t>
            </a:r>
            <a:r>
              <a:rPr lang="en-US" sz="2400" b="1" dirty="0">
                <a:cs typeface="B Nazanin" panose="00000400000000000000" pitchFamily="2" charset="-78"/>
              </a:rPr>
              <a:t>Chunk size</a:t>
            </a:r>
            <a:r>
              <a:rPr lang="fa-IR" sz="2400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درصد آستانه تشابه (</a:t>
            </a:r>
            <a:r>
              <a:rPr lang="en-US" sz="2400" b="1" dirty="0">
                <a:cs typeface="B Nazanin" panose="00000400000000000000" pitchFamily="2" charset="-78"/>
              </a:rPr>
              <a:t>Similarity threshold</a:t>
            </a:r>
            <a:r>
              <a:rPr lang="fa-IR" sz="2400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حداکثر تعداد متون انتخابی </a:t>
            </a:r>
            <a:r>
              <a:rPr lang="en-US" sz="2400" b="1" dirty="0">
                <a:cs typeface="B Nazanin" panose="00000400000000000000" pitchFamily="2" charset="-78"/>
              </a:rPr>
              <a:t>RAG</a:t>
            </a:r>
            <a:r>
              <a:rPr lang="fa-IR" sz="2400" b="1" dirty="0">
                <a:cs typeface="B Nazanin" panose="00000400000000000000" pitchFamily="2" charset="-78"/>
              </a:rPr>
              <a:t> (</a:t>
            </a:r>
            <a:r>
              <a:rPr lang="en-US" sz="2400" b="1" dirty="0" err="1">
                <a:cs typeface="B Nazanin" panose="00000400000000000000" pitchFamily="2" charset="-78"/>
              </a:rPr>
              <a:t>Top_k</a:t>
            </a:r>
            <a:r>
              <a:rPr lang="fa-IR" sz="2400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حداکثر طول مجاز متن ورودی به </a:t>
            </a:r>
            <a:r>
              <a:rPr lang="fa-IR" sz="2400" b="1" dirty="0" err="1">
                <a:cs typeface="B Nazanin" panose="00000400000000000000" pitchFamily="2" charset="-78"/>
              </a:rPr>
              <a:t>مدل‌زبانی</a:t>
            </a:r>
            <a:r>
              <a:rPr lang="fa-IR" sz="2400" b="1" dirty="0">
                <a:cs typeface="B Nazanin" panose="00000400000000000000" pitchFamily="2" charset="-78"/>
              </a:rPr>
              <a:t> 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دستور توجیهی به مدل (</a:t>
            </a:r>
            <a:r>
              <a:rPr lang="en-US" sz="2400" b="1" dirty="0">
                <a:cs typeface="B Nazanin" panose="00000400000000000000" pitchFamily="2" charset="-78"/>
              </a:rPr>
              <a:t>System prompt</a:t>
            </a:r>
            <a:r>
              <a:rPr lang="fa-IR" sz="2400" b="1" dirty="0">
                <a:cs typeface="B Nazanin" panose="00000400000000000000" pitchFamily="2" charset="-78"/>
              </a:rPr>
              <a:t>)</a:t>
            </a:r>
            <a:endParaRPr lang="en-US" sz="2400" b="1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4923330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53F25-7463-D548-EE2C-C9550824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D1490-5436-296E-78F4-36876CF98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57580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1916</TotalTime>
  <Words>1426</Words>
  <Application>Microsoft Office PowerPoint</Application>
  <PresentationFormat>Widescreen</PresentationFormat>
  <Paragraphs>244</Paragraphs>
  <Slides>13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Arial Black</vt:lpstr>
      <vt:lpstr>B Nazanin</vt:lpstr>
      <vt:lpstr>Calibri</vt:lpstr>
      <vt:lpstr>Calibri Light</vt:lpstr>
      <vt:lpstr>lists-font</vt:lpstr>
      <vt:lpstr>Poppins</vt:lpstr>
      <vt:lpstr>Office Theme</vt:lpstr>
      <vt:lpstr>Contents</vt:lpstr>
      <vt:lpstr>RAG </vt:lpstr>
      <vt:lpstr>ضعف دانشی مدل‌های زبانی</vt:lpstr>
      <vt:lpstr>راه‌های افزودن دانش و اطلاعات جدید به مدل‌های زبانی</vt:lpstr>
      <vt:lpstr>نحوه افزوده شدن یک مدرک به پایگاه داده برداری</vt:lpstr>
      <vt:lpstr>PowerPoint Presentation</vt:lpstr>
      <vt:lpstr>مدل‌های مبدل متن به بردار معنایی چگونه به‌دست می‌آیند؟</vt:lpstr>
      <vt:lpstr>مدل‌های مبدل متن به بردار معنایی چگونه به‌دست می‌آیند؟</vt:lpstr>
      <vt:lpstr>شِمای کلی فرآیند Fine-tuning </vt:lpstr>
      <vt:lpstr>مقایسه راهکارهای ایجاد دانش جدید در مدل‌های زبانی</vt:lpstr>
      <vt:lpstr>چرا RAG ؟</vt:lpstr>
      <vt:lpstr>متغیرهای موثر بر کیفیت پاسخ مدل‌زبانی با RAG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</dc:title>
  <dc:creator>Farshad Amiri</dc:creator>
  <cp:lastModifiedBy>Farshad Amiri</cp:lastModifiedBy>
  <cp:revision>572</cp:revision>
  <dcterms:created xsi:type="dcterms:W3CDTF">2024-02-19T06:46:45Z</dcterms:created>
  <dcterms:modified xsi:type="dcterms:W3CDTF">2024-04-16T10:34:01Z</dcterms:modified>
</cp:coreProperties>
</file>