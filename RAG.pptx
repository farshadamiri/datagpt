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6" r:id="rId4"/>
    <p:sldId id="258" r:id="rId5"/>
    <p:sldId id="260" r:id="rId6"/>
    <p:sldId id="271" r:id="rId7"/>
    <p:sldId id="269" r:id="rId8"/>
    <p:sldId id="272" r:id="rId9"/>
    <p:sldId id="261" r:id="rId10"/>
    <p:sldId id="270" r:id="rId11"/>
    <p:sldId id="268" r:id="rId12"/>
    <p:sldId id="262" r:id="rId13"/>
    <p:sldId id="263" r:id="rId14"/>
    <p:sldId id="264" r:id="rId15"/>
    <p:sldId id="265" r:id="rId16"/>
    <p:sldId id="259" r:id="rId17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CEEA"/>
    <a:srgbClr val="A6B7E2"/>
    <a:srgbClr val="BCC7E6"/>
    <a:srgbClr val="B0BDE2"/>
    <a:srgbClr val="94A9DC"/>
    <a:srgbClr val="D4BC0E"/>
    <a:srgbClr val="93E3FF"/>
    <a:srgbClr val="33CAFF"/>
    <a:srgbClr val="FFE07D"/>
    <a:srgbClr val="E3B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68216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71115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135946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88447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3200" b="1" dirty="0">
                <a:cs typeface="B Nazanin" panose="00000400000000000000" pitchFamily="2" charset="-78"/>
              </a:rPr>
              <a:t>مراحل افزوده شدن یک مدرک به پایگاه داده برداری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D8B0A84-65F9-4E3C-2541-24A1C1BF5F67}"/>
              </a:ext>
            </a:extLst>
          </p:cNvPr>
          <p:cNvGrpSpPr/>
          <p:nvPr/>
        </p:nvGrpSpPr>
        <p:grpSpPr>
          <a:xfrm>
            <a:off x="1275040" y="2254488"/>
            <a:ext cx="3444742" cy="3088025"/>
            <a:chOff x="1819985" y="1746488"/>
            <a:chExt cx="3444742" cy="3088025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F50FA88-43A9-B9D1-694A-0437344F5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268" y="2033561"/>
              <a:ext cx="1522314" cy="11936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AE6DC54-F24D-BC66-5668-25725BD5FF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268" y="2378675"/>
              <a:ext cx="1522314" cy="8485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6B88ACD-334E-F01D-D4C0-7413D5754B1D}"/>
                </a:ext>
              </a:extLst>
            </p:cNvPr>
            <p:cNvCxnSpPr>
              <a:cxnSpLocks/>
            </p:cNvCxnSpPr>
            <p:nvPr/>
          </p:nvCxnSpPr>
          <p:spPr>
            <a:xfrm>
              <a:off x="2519008" y="3290500"/>
              <a:ext cx="1489574" cy="8751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F07367B-B0EE-5466-27A9-3C44681A4F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268" y="2755562"/>
              <a:ext cx="1565985" cy="4716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DC25095D-FD1D-25BF-BE8F-ABCCDFBD0FEB}"/>
                </a:ext>
              </a:extLst>
            </p:cNvPr>
            <p:cNvCxnSpPr>
              <a:cxnSpLocks/>
            </p:cNvCxnSpPr>
            <p:nvPr/>
          </p:nvCxnSpPr>
          <p:spPr>
            <a:xfrm>
              <a:off x="2344566" y="3241263"/>
              <a:ext cx="1707687" cy="268555"/>
            </a:xfrm>
            <a:prstGeom prst="straightConnector1">
              <a:avLst/>
            </a:prstGeom>
            <a:ln w="9525" cap="flat" cmpd="sng" algn="ctr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B237CBAB-C665-C702-3046-8975FCC1D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5122" y="3140364"/>
              <a:ext cx="1607131" cy="100899"/>
            </a:xfrm>
            <a:prstGeom prst="straightConnector1">
              <a:avLst/>
            </a:prstGeom>
            <a:ln w="9525" cap="flat" cmpd="sng" algn="ctr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B08D44-9631-85E9-B3F7-6721842F79E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22" y="3255280"/>
              <a:ext cx="1563460" cy="587047"/>
            </a:xfrm>
            <a:prstGeom prst="straightConnector1">
              <a:avLst/>
            </a:prstGeom>
            <a:ln w="9525" cap="flat" cmpd="sng" algn="ctr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136540F-01CF-8287-502D-463495BDEF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19985" y="2801840"/>
              <a:ext cx="819104" cy="819104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975F05-7064-D0D3-EE94-9559F1AF0FDC}"/>
                </a:ext>
              </a:extLst>
            </p:cNvPr>
            <p:cNvSpPr txBox="1"/>
            <p:nvPr/>
          </p:nvSpPr>
          <p:spPr>
            <a:xfrm>
              <a:off x="4008582" y="1746488"/>
              <a:ext cx="1256145" cy="3088025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600" dirty="0"/>
                <a:t>Chunk 1</a:t>
              </a:r>
            </a:p>
            <a:p>
              <a:pPr>
                <a:lnSpc>
                  <a:spcPct val="150000"/>
                </a:lnSpc>
              </a:pPr>
              <a:r>
                <a:rPr lang="en-US" sz="1600" dirty="0"/>
                <a:t>Chunk 1</a:t>
              </a:r>
              <a:endParaRPr lang="fa-IR" sz="1600" dirty="0"/>
            </a:p>
            <a:p>
              <a:pPr>
                <a:lnSpc>
                  <a:spcPct val="150000"/>
                </a:lnSpc>
              </a:pPr>
              <a:r>
                <a:rPr lang="en-US" sz="1600" dirty="0"/>
                <a:t>Chunk 1</a:t>
              </a:r>
              <a:endParaRPr lang="fa-IR" sz="1600" dirty="0"/>
            </a:p>
            <a:p>
              <a:pPr>
                <a:lnSpc>
                  <a:spcPct val="150000"/>
                </a:lnSpc>
              </a:pPr>
              <a:r>
                <a:rPr lang="en-US" sz="1600" dirty="0"/>
                <a:t>.</a:t>
              </a:r>
            </a:p>
            <a:p>
              <a:pPr>
                <a:lnSpc>
                  <a:spcPct val="150000"/>
                </a:lnSpc>
              </a:pPr>
              <a:r>
                <a:rPr lang="en-US" sz="1600" dirty="0"/>
                <a:t>.</a:t>
              </a:r>
            </a:p>
            <a:p>
              <a:pPr>
                <a:lnSpc>
                  <a:spcPct val="150000"/>
                </a:lnSpc>
              </a:pPr>
              <a:r>
                <a:rPr lang="en-US" sz="1600" dirty="0"/>
                <a:t>.</a:t>
              </a:r>
            </a:p>
            <a:p>
              <a:pPr>
                <a:lnSpc>
                  <a:spcPct val="150000"/>
                </a:lnSpc>
              </a:pPr>
              <a:r>
                <a:rPr lang="en-US" sz="1600" dirty="0"/>
                <a:t>Chunk N</a:t>
              </a:r>
              <a:endParaRPr lang="fa-IR" sz="1600" dirty="0"/>
            </a:p>
            <a:p>
              <a:pPr>
                <a:lnSpc>
                  <a:spcPct val="150000"/>
                </a:lnSpc>
              </a:pPr>
              <a:endParaRPr lang="fa-IR" sz="1600" dirty="0"/>
            </a:p>
          </p:txBody>
        </p:sp>
      </p:grp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AB27AFBA-7D5A-EEB7-9AE7-7866C577AFAE}"/>
              </a:ext>
            </a:extLst>
          </p:cNvPr>
          <p:cNvSpPr/>
          <p:nvPr/>
        </p:nvSpPr>
        <p:spPr>
          <a:xfrm>
            <a:off x="5160698" y="2765451"/>
            <a:ext cx="2533193" cy="1252367"/>
          </a:xfrm>
          <a:prstGeom prst="roundRect">
            <a:avLst/>
          </a:prstGeom>
          <a:gradFill>
            <a:gsLst>
              <a:gs pos="0">
                <a:srgbClr val="BCC7E6"/>
              </a:gs>
              <a:gs pos="50000">
                <a:srgbClr val="C4CEEA"/>
              </a:gs>
              <a:gs pos="100000">
                <a:srgbClr val="A6B7E2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معنا به بردار 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CFBC88-EAA2-C3F4-17B1-0906DB0458C1}"/>
              </a:ext>
            </a:extLst>
          </p:cNvPr>
          <p:cNvSpPr txBox="1"/>
          <p:nvPr/>
        </p:nvSpPr>
        <p:spPr>
          <a:xfrm>
            <a:off x="1303171" y="4174669"/>
            <a:ext cx="743102" cy="112338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900" b="1" dirty="0">
                <a:solidFill>
                  <a:srgbClr val="0070C0"/>
                </a:solidFill>
                <a:cs typeface="B Nazanin" panose="00000400000000000000" pitchFamily="2" charset="-78"/>
              </a:rPr>
              <a:t>مدرک </a:t>
            </a:r>
          </a:p>
          <a:p>
            <a:pPr rtl="1"/>
            <a:r>
              <a:rPr lang="en-US" sz="1600" b="1" dirty="0">
                <a:cs typeface="B Nazanin" panose="00000400000000000000" pitchFamily="2" charset="-78"/>
              </a:rPr>
              <a:t>.pdf</a:t>
            </a:r>
          </a:p>
          <a:p>
            <a:pPr rtl="1"/>
            <a:r>
              <a:rPr lang="en-US" sz="1600" b="1" dirty="0">
                <a:cs typeface="B Nazanin" panose="00000400000000000000" pitchFamily="2" charset="-78"/>
              </a:rPr>
              <a:t>.docx</a:t>
            </a:r>
          </a:p>
          <a:p>
            <a:pPr rtl="1"/>
            <a:r>
              <a:rPr lang="en-US" sz="1600" b="1" dirty="0">
                <a:cs typeface="B Nazanin" panose="00000400000000000000" pitchFamily="2" charset="-78"/>
              </a:rPr>
              <a:t>.txt</a:t>
            </a:r>
            <a:endParaRPr lang="fa-IR" sz="16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7" name="Rectangle: Top Corners Snipped 6">
            <a:extLst>
              <a:ext uri="{FF2B5EF4-FFF2-40B4-BE49-F238E27FC236}">
                <a16:creationId xmlns:a16="http://schemas.microsoft.com/office/drawing/2014/main" id="{6C7FD831-AF60-FFC2-5B6E-982A9415CFDF}"/>
              </a:ext>
            </a:extLst>
          </p:cNvPr>
          <p:cNvSpPr/>
          <p:nvPr/>
        </p:nvSpPr>
        <p:spPr>
          <a:xfrm>
            <a:off x="4574952" y="4485459"/>
            <a:ext cx="2010742" cy="1296411"/>
          </a:xfrm>
          <a:prstGeom prst="snip2Same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endParaRPr lang="fa-IR" b="1" dirty="0">
              <a:cs typeface="B Nazanin" panose="00000400000000000000" pitchFamily="2" charset="-78"/>
            </a:endParaRPr>
          </a:p>
          <a:p>
            <a:pPr algn="ctr"/>
            <a:r>
              <a:rPr lang="en-US" dirty="0"/>
              <a:t>Vector Database</a:t>
            </a:r>
            <a:endParaRPr lang="fa-I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3328977">
            <a:off x="809669" y="3747921"/>
            <a:ext cx="1650910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976625" y="4596689"/>
            <a:ext cx="2216879" cy="1180831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معنا به بردار 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dirty="0"/>
                <a:t>Retrieved contexts</a:t>
              </a:r>
              <a:endParaRPr lang="fa-IR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29974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User query</a:t>
            </a:r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93504" y="5012248"/>
            <a:ext cx="1310576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860145" y="421735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cs typeface="B Nazanin" panose="00000400000000000000" pitchFamily="2" charset="-78"/>
              </a:rPr>
              <a:t> کلی کار </a:t>
            </a:r>
            <a:r>
              <a:rPr lang="en-US" sz="2800" b="1" dirty="0">
                <a:cs typeface="B Nazanin" panose="00000400000000000000" pitchFamily="2" charset="-78"/>
              </a:rPr>
              <a:t>RAG</a:t>
            </a:r>
            <a:endParaRPr lang="fa-IR" sz="2800" b="1" dirty="0"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713547" y="4411114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688267" y="384113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267083" y="584045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6341302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5178742"/>
              </p:ext>
            </p:extLst>
          </p:nvPr>
        </p:nvGraphicFramePr>
        <p:xfrm>
          <a:off x="5316108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39467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</TotalTime>
  <Words>960</Words>
  <Application>Microsoft Office PowerPoint</Application>
  <PresentationFormat>Widescreen</PresentationFormat>
  <Paragraphs>154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مراحل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244</cp:revision>
  <dcterms:created xsi:type="dcterms:W3CDTF">2024-02-19T06:46:45Z</dcterms:created>
  <dcterms:modified xsi:type="dcterms:W3CDTF">2024-02-21T09:04:01Z</dcterms:modified>
</cp:coreProperties>
</file>