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3" r:id="rId8"/>
    <p:sldId id="274" r:id="rId9"/>
    <p:sldId id="272" r:id="rId10"/>
    <p:sldId id="261" r:id="rId11"/>
    <p:sldId id="270" r:id="rId12"/>
    <p:sldId id="263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7E0000"/>
    <a:srgbClr val="FDCBCB"/>
    <a:srgbClr val="FCB2B2"/>
    <a:srgbClr val="FB9393"/>
    <a:srgbClr val="E7E6E6"/>
    <a:srgbClr val="6600FF"/>
    <a:srgbClr val="FF00FF"/>
    <a:srgbClr val="008000"/>
    <a:srgbClr val="B0D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17/08/1445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77818"/>
            <a:ext cx="2994892" cy="570022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: Top Corners Snipped 39">
            <a:extLst>
              <a:ext uri="{FF2B5EF4-FFF2-40B4-BE49-F238E27FC236}">
                <a16:creationId xmlns:a16="http://schemas.microsoft.com/office/drawing/2014/main" id="{3B791696-EB2D-7401-DC40-CE5FE483A2BD}"/>
              </a:ext>
            </a:extLst>
          </p:cNvPr>
          <p:cNvSpPr/>
          <p:nvPr/>
        </p:nvSpPr>
        <p:spPr>
          <a:xfrm rot="10800000">
            <a:off x="2536731" y="3216499"/>
            <a:ext cx="1930985" cy="2376298"/>
          </a:xfrm>
          <a:prstGeom prst="snip2Same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567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" y="2009693"/>
            <a:ext cx="10701772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 (با </a:t>
            </a:r>
            <a:r>
              <a:rPr lang="fa-IR" sz="2000" b="1" dirty="0" err="1">
                <a:cs typeface="B Nazanin" panose="00000400000000000000" pitchFamily="2" charset="-78"/>
              </a:rPr>
              <a:t>الگوریتم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fa-IR" sz="2000" b="1" dirty="0" err="1">
                <a:cs typeface="B Nazanin" panose="00000400000000000000" pitchFamily="2" charset="-78"/>
              </a:rPr>
              <a:t>علامت‌ساز</a:t>
            </a:r>
            <a:r>
              <a:rPr lang="fa-IR" sz="2000" b="1" dirty="0">
                <a:cs typeface="B Nazanin" panose="00000400000000000000" pitchFamily="2" charset="-78"/>
              </a:rPr>
              <a:t>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1" y="4890474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3" y="2363636"/>
            <a:ext cx="84931" cy="575501"/>
          </a:xfrm>
          <a:prstGeom prst="curvedConnector3">
            <a:avLst>
              <a:gd name="adj1" fmla="val 3691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708304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4506209" y="3951564"/>
            <a:ext cx="5108362" cy="615553"/>
            <a:chOff x="1828124" y="3816522"/>
            <a:chExt cx="5201634" cy="1083899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1828124" y="3824754"/>
              <a:ext cx="5201634" cy="1016601"/>
            </a:xfrm>
            <a:prstGeom prst="leftArrowCallout">
              <a:avLst>
                <a:gd name="adj1" fmla="val 51818"/>
                <a:gd name="adj2" fmla="val 25909"/>
                <a:gd name="adj3" fmla="val 25000"/>
                <a:gd name="adj4" fmla="val 97132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1935330" y="3816522"/>
              <a:ext cx="5092772" cy="108389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تبدیل علامت (</a:t>
              </a:r>
              <a:r>
                <a:rPr lang="en-US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Token</a:t>
              </a:r>
              <a:r>
                <a:rPr lang="fa-IR" sz="1700" b="1" dirty="0">
                  <a:solidFill>
                    <a:schemeClr val="accent2">
                      <a:lumMod val="50000"/>
                    </a:schemeClr>
                  </a:solidFill>
                  <a:cs typeface="B Nazanin" panose="00000400000000000000" pitchFamily="2" charset="-78"/>
                </a:rPr>
                <a:t>) به بردار یکه: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هر لغت را بردار یکه آن نمایندگی خواهد کرد. (</a:t>
              </a:r>
              <a:r>
                <a:rPr lang="en-US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One-hot vector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)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3250845" y="6106700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GPT-4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،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3" y="2363636"/>
            <a:ext cx="882718" cy="9065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BEF6A-AD29-FE3C-1A5D-FE80D4B10C33}"/>
              </a:ext>
            </a:extLst>
          </p:cNvPr>
          <p:cNvGrpSpPr/>
          <p:nvPr/>
        </p:nvGrpSpPr>
        <p:grpSpPr>
          <a:xfrm>
            <a:off x="3728085" y="3299457"/>
            <a:ext cx="494071" cy="3416320"/>
            <a:chOff x="375853" y="449104"/>
            <a:chExt cx="494071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F57B67-04CA-238D-8B50-2405CA6AD8E0}"/>
                </a:ext>
              </a:extLst>
            </p:cNvPr>
            <p:cNvSpPr txBox="1"/>
            <p:nvPr/>
          </p:nvSpPr>
          <p:spPr>
            <a:xfrm>
              <a:off x="375853" y="449104"/>
              <a:ext cx="494071" cy="3416320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b="1" dirty="0">
                  <a:solidFill>
                    <a:srgbClr val="002060"/>
                  </a:solidFill>
                </a:rPr>
                <a:t>[0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1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r>
                <a:rPr lang="en-US" b="1" dirty="0">
                  <a:solidFill>
                    <a:srgbClr val="002060"/>
                  </a:solidFill>
                </a:rPr>
                <a:t> 0</a:t>
              </a:r>
            </a:p>
            <a:p>
              <a:r>
                <a:rPr lang="en-US" b="1" dirty="0">
                  <a:solidFill>
                    <a:srgbClr val="002060"/>
                  </a:solidFill>
                </a:rPr>
                <a:t> 0]</a:t>
              </a: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en-US" b="1" dirty="0">
                <a:solidFill>
                  <a:srgbClr val="002060"/>
                </a:solidFill>
              </a:endParaRPr>
            </a:p>
            <a:p>
              <a:endParaRPr lang="fa-IR" b="1" dirty="0">
                <a:solidFill>
                  <a:srgbClr val="002060"/>
                </a:solidFill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0592BF4-3891-8C7F-5B59-3419BE2FB6FE}"/>
                </a:ext>
              </a:extLst>
            </p:cNvPr>
            <p:cNvGrpSpPr/>
            <p:nvPr/>
          </p:nvGrpSpPr>
          <p:grpSpPr>
            <a:xfrm>
              <a:off x="455591" y="1162921"/>
              <a:ext cx="279402" cy="447202"/>
              <a:chOff x="1347693" y="1074592"/>
              <a:chExt cx="279402" cy="447202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567D3D7-3334-6BE3-EAFB-2B600E7C69DE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5D15ED-5B24-8FC8-87EE-6F540AC06093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6DC957C-39CA-B68A-DD34-28FCDB7C1C9F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FD84BD8-631B-B89A-7F89-70FC5B990C21}"/>
                </a:ext>
              </a:extLst>
            </p:cNvPr>
            <p:cNvGrpSpPr/>
            <p:nvPr/>
          </p:nvGrpSpPr>
          <p:grpSpPr>
            <a:xfrm>
              <a:off x="467345" y="1739905"/>
              <a:ext cx="279402" cy="447202"/>
              <a:chOff x="1347693" y="1074592"/>
              <a:chExt cx="279402" cy="447202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8F4EA9-1F94-3BA7-6C0D-40ACC70C1CB4}"/>
                  </a:ext>
                </a:extLst>
              </p:cNvPr>
              <p:cNvSpPr txBox="1"/>
              <p:nvPr/>
            </p:nvSpPr>
            <p:spPr>
              <a:xfrm>
                <a:off x="1347693" y="1074592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E04F65-EBBA-0BE6-9FC4-E32033CF5E30}"/>
                  </a:ext>
                </a:extLst>
              </p:cNvPr>
              <p:cNvSpPr txBox="1"/>
              <p:nvPr/>
            </p:nvSpPr>
            <p:spPr>
              <a:xfrm>
                <a:off x="1351405" y="1145446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EEDE60-4696-72DC-E404-D2453B4FE13B}"/>
                  </a:ext>
                </a:extLst>
              </p:cNvPr>
              <p:cNvSpPr txBox="1"/>
              <p:nvPr/>
            </p:nvSpPr>
            <p:spPr>
              <a:xfrm>
                <a:off x="1351405" y="1214017"/>
                <a:ext cx="275690" cy="307777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r>
                  <a:rPr lang="en-US" sz="1400" b="1" dirty="0"/>
                  <a:t>.</a:t>
                </a: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A15BE43-BCF8-0BA7-49C0-AC1B2618B8A4}"/>
              </a:ext>
            </a:extLst>
          </p:cNvPr>
          <p:cNvSpPr txBox="1"/>
          <p:nvPr/>
        </p:nvSpPr>
        <p:spPr>
          <a:xfrm>
            <a:off x="2536730" y="4422706"/>
            <a:ext cx="1277322" cy="10772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آرایه 6325</a:t>
            </a: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از50000</a:t>
            </a:r>
          </a:p>
          <a:p>
            <a:r>
              <a:rPr lang="fa-IR" sz="1600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(اندازه مجموعه واژگان)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0F2349-004A-AF1F-93B2-A71A6199DA29}"/>
              </a:ext>
            </a:extLst>
          </p:cNvPr>
          <p:cNvCxnSpPr>
            <a:cxnSpLocks/>
          </p:cNvCxnSpPr>
          <p:nvPr/>
        </p:nvCxnSpPr>
        <p:spPr>
          <a:xfrm>
            <a:off x="3508828" y="4592239"/>
            <a:ext cx="301513" cy="20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B0C7D9F6-7B8D-B9FC-8629-F8C1717D150B}"/>
              </a:ext>
            </a:extLst>
          </p:cNvPr>
          <p:cNvSpPr/>
          <p:nvPr/>
        </p:nvSpPr>
        <p:spPr>
          <a:xfrm>
            <a:off x="2245541" y="3410962"/>
            <a:ext cx="790387" cy="365262"/>
          </a:xfrm>
          <a:prstGeom prst="right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F46BDD6-79B3-A11A-C62A-7502E0AEDE2D}"/>
              </a:ext>
            </a:extLst>
          </p:cNvPr>
          <p:cNvSpPr/>
          <p:nvPr/>
        </p:nvSpPr>
        <p:spPr>
          <a:xfrm>
            <a:off x="350982" y="3351489"/>
            <a:ext cx="1894559" cy="457170"/>
          </a:xfrm>
          <a:prstGeom prst="ellipse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C4066C5-B60B-C3D4-0C00-FFEE2B688538}"/>
              </a:ext>
            </a:extLst>
          </p:cNvPr>
          <p:cNvGrpSpPr/>
          <p:nvPr/>
        </p:nvGrpSpPr>
        <p:grpSpPr>
          <a:xfrm>
            <a:off x="6511636" y="3265541"/>
            <a:ext cx="5242462" cy="422845"/>
            <a:chOff x="6511636" y="3265541"/>
            <a:chExt cx="5242462" cy="422845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E63F922-2DB2-C967-A722-5954529067CA}"/>
                </a:ext>
              </a:extLst>
            </p:cNvPr>
            <p:cNvSpPr txBox="1"/>
            <p:nvPr/>
          </p:nvSpPr>
          <p:spPr>
            <a:xfrm>
              <a:off x="6511636" y="3319054"/>
              <a:ext cx="5242462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b="1" dirty="0">
                  <a:cs typeface="B Nazanin" panose="00000400000000000000" pitchFamily="2" charset="-78"/>
                </a:rPr>
                <a:t>اندازه این مجموعه واژگان معمولا بین 50000 الی 500000 لغت است.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19F4A9D-19BC-0DB4-9453-15C6DAE98344}"/>
                </a:ext>
              </a:extLst>
            </p:cNvPr>
            <p:cNvSpPr txBox="1"/>
            <p:nvPr/>
          </p:nvSpPr>
          <p:spPr>
            <a:xfrm>
              <a:off x="7608098" y="3272305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5479EB8-8808-C98A-72A2-B08060FBED78}"/>
                </a:ext>
              </a:extLst>
            </p:cNvPr>
            <p:cNvSpPr txBox="1"/>
            <p:nvPr/>
          </p:nvSpPr>
          <p:spPr>
            <a:xfrm>
              <a:off x="8395733" y="3265541"/>
              <a:ext cx="824276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r>
                <a:rPr lang="en-US" dirty="0"/>
                <a:t>,</a:t>
              </a:r>
              <a:endParaRPr lang="fa-IR" dirty="0"/>
            </a:p>
          </p:txBody>
        </p:sp>
      </p:grp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15BFA5A1-1609-6042-7A83-9C6DE658257C}"/>
              </a:ext>
            </a:extLst>
          </p:cNvPr>
          <p:cNvCxnSpPr>
            <a:cxnSpLocks/>
            <a:stCxn id="33" idx="3"/>
            <a:endCxn id="101" idx="3"/>
          </p:cNvCxnSpPr>
          <p:nvPr/>
        </p:nvCxnSpPr>
        <p:spPr>
          <a:xfrm>
            <a:off x="10701773" y="2363636"/>
            <a:ext cx="1037026" cy="4004674"/>
          </a:xfrm>
          <a:prstGeom prst="curvedConnector3">
            <a:avLst>
              <a:gd name="adj1" fmla="val 12204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9494" y="135217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12008" y="1119219"/>
            <a:ext cx="8100961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387930" y="1692760"/>
            <a:ext cx="11470314" cy="63094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750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sz="1750" b="1" dirty="0" err="1">
                <a:cs typeface="B Nazanin" panose="00000400000000000000" pitchFamily="2" charset="-78"/>
              </a:rPr>
              <a:t>تکه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می‌کنیم</a:t>
            </a:r>
            <a:r>
              <a:rPr lang="fa-IR" sz="1750" b="1" dirty="0">
                <a:cs typeface="B Nazanin" panose="00000400000000000000" pitchFamily="2" charset="-78"/>
              </a:rPr>
              <a:t>. سپس، روی هر تکه ،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لغت میانی </a:t>
            </a:r>
            <a:r>
              <a:rPr lang="fa-IR" sz="1750" b="1" dirty="0">
                <a:cs typeface="B Nazanin" panose="00000400000000000000" pitchFamily="2" charset="-78"/>
              </a:rPr>
              <a:t>را بر </a:t>
            </a:r>
            <a:r>
              <a:rPr lang="fa-IR" sz="1750" b="1" dirty="0">
                <a:solidFill>
                  <a:srgbClr val="FF0000"/>
                </a:solidFill>
                <a:cs typeface="B Nazanin" panose="00000400000000000000" pitchFamily="2" charset="-78"/>
              </a:rPr>
              <a:t>باقی لغات </a:t>
            </a:r>
            <a:r>
              <a:rPr lang="fa-IR" sz="1750" b="1" dirty="0">
                <a:cs typeface="B Nazanin" panose="00000400000000000000" pitchFamily="2" charset="-78"/>
              </a:rPr>
              <a:t>آن تکه متن بر یک مدل شبکه عصبی مصنوعی (با</a:t>
            </a:r>
            <a:r>
              <a:rPr lang="en-US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 err="1">
                <a:cs typeface="B Nazanin" panose="00000400000000000000" pitchFamily="2" charset="-78"/>
              </a:rPr>
              <a:t>فعالساز</a:t>
            </a:r>
            <a:r>
              <a:rPr lang="fa-IR" sz="1750" b="1" dirty="0">
                <a:cs typeface="B Nazanin" panose="00000400000000000000" pitchFamily="2" charset="-78"/>
              </a:rPr>
              <a:t> لایه آخر </a:t>
            </a:r>
            <a:r>
              <a:rPr lang="en-US" sz="1750" b="1" dirty="0">
                <a:cs typeface="B Nazanin" panose="00000400000000000000" pitchFamily="2" charset="-78"/>
              </a:rPr>
              <a:t>(</a:t>
            </a:r>
            <a:r>
              <a:rPr lang="en-US" sz="1750" b="1" dirty="0" err="1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Softmax</a:t>
            </a:r>
            <a:r>
              <a:rPr lang="fa-IR" sz="1750" b="1" dirty="0">
                <a:cs typeface="B Nazanin" panose="00000400000000000000" pitchFamily="2" charset="-78"/>
              </a:rPr>
              <a:t> آموزش </a:t>
            </a:r>
            <a:r>
              <a:rPr lang="fa-IR" sz="1750" b="1" dirty="0" err="1">
                <a:cs typeface="B Nazanin" panose="00000400000000000000" pitchFamily="2" charset="-78"/>
              </a:rPr>
              <a:t>می‌دهیم</a:t>
            </a:r>
            <a:r>
              <a:rPr lang="fa-IR" sz="1750" b="1" dirty="0">
                <a:cs typeface="B Nazanin" panose="00000400000000000000" pitchFamily="2" charset="-78"/>
              </a:rPr>
              <a:t>. در نهایت خروجی لایه نهایی ،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 </a:t>
            </a:r>
            <a:r>
              <a:rPr lang="fa-IR" sz="1750" b="1" dirty="0">
                <a:cs typeface="B Nazanin" panose="00000400000000000000" pitchFamily="2" charset="-78"/>
              </a:rPr>
              <a:t>به </a:t>
            </a:r>
            <a:r>
              <a:rPr lang="fa-IR" sz="1750" b="1" dirty="0" err="1">
                <a:cs typeface="B Nazanin" panose="00000400000000000000" pitchFamily="2" charset="-78"/>
              </a:rPr>
              <a:t>ازای</a:t>
            </a:r>
            <a:r>
              <a:rPr lang="fa-IR" sz="1750" b="1" dirty="0">
                <a:cs typeface="B Nazanin" panose="00000400000000000000" pitchFamily="2" charset="-78"/>
              </a:rPr>
              <a:t> </a:t>
            </a:r>
            <a:r>
              <a:rPr lang="fa-IR" sz="175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لغت ورودی </a:t>
            </a:r>
            <a:r>
              <a:rPr lang="fa-IR" sz="1750" b="1" dirty="0">
                <a:cs typeface="B Nazanin" panose="00000400000000000000" pitchFamily="2" charset="-78"/>
              </a:rPr>
              <a:t>خواهد بود. </a:t>
            </a:r>
            <a:endParaRPr lang="fa-IR" sz="1750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528522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Softmax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60910" y="1884347"/>
            <a:ext cx="5611099" cy="1826226"/>
            <a:chOff x="5938241" y="2429918"/>
            <a:chExt cx="5611099" cy="182622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</a:t>
              </a:r>
              <a:r>
                <a:rPr lang="fa-IR" b="1" dirty="0">
                  <a:solidFill>
                    <a:schemeClr val="accent5">
                      <a:lumMod val="75000"/>
                    </a:schemeClr>
                  </a:solidFill>
                  <a:cs typeface="B Nazanin" panose="00000400000000000000" pitchFamily="2" charset="-78"/>
                </a:rPr>
                <a:t>ایران و مرکز استان تهران است.</a:t>
              </a:r>
              <a:endParaRPr lang="fa-IR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164051" y="2163684"/>
              <a:ext cx="1814240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0" y="3792150"/>
            <a:ext cx="1309138" cy="6001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پایتخت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sz="15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(بردار یکه 4163)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10691" y="3284982"/>
            <a:ext cx="51046" cy="963291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7623731" y="5092916"/>
            <a:ext cx="4234513" cy="612477"/>
            <a:chOff x="8096541" y="4591724"/>
            <a:chExt cx="3898448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238224" y="4591724"/>
              <a:ext cx="37567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096541" y="4634119"/>
              <a:ext cx="3847387" cy="96332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6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 و مرتبط، </a:t>
              </a:r>
              <a:r>
                <a:rPr lang="fa-IR" sz="16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600" b="1" dirty="0">
                  <a:cs typeface="B Nazanin" panose="00000400000000000000" pitchFamily="2" charset="-78"/>
                </a:rPr>
                <a:t> نزدیکی نیز نسبت به هم خواهند داشت. (به لحاظ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06122" y="6326181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9418" y="6361473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توسط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73630" y="2495163"/>
            <a:ext cx="696229" cy="331578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49254" y="2464845"/>
            <a:ext cx="718196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6502E99-4E2E-943D-8DA9-F8BA029DD8C8}"/>
              </a:ext>
            </a:extLst>
          </p:cNvPr>
          <p:cNvGrpSpPr/>
          <p:nvPr/>
        </p:nvGrpSpPr>
        <p:grpSpPr>
          <a:xfrm>
            <a:off x="7239009" y="3885451"/>
            <a:ext cx="4610656" cy="635736"/>
            <a:chOff x="7447696" y="4111273"/>
            <a:chExt cx="4610656" cy="64108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91FB403-3B1D-8757-DD68-613023863E6D}"/>
                </a:ext>
              </a:extLst>
            </p:cNvPr>
            <p:cNvSpPr/>
            <p:nvPr/>
          </p:nvSpPr>
          <p:spPr>
            <a:xfrm>
              <a:off x="7447696" y="4111273"/>
              <a:ext cx="4610656" cy="641085"/>
            </a:xfrm>
            <a:prstGeom prst="roundRect">
              <a:avLst/>
            </a:prstGeom>
            <a:solidFill>
              <a:srgbClr val="FDCBC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9B0A97B-C263-DC3A-87A9-C6DD80B43B6A}"/>
                </a:ext>
              </a:extLst>
            </p:cNvPr>
            <p:cNvSpPr txBox="1"/>
            <p:nvPr/>
          </p:nvSpPr>
          <p:spPr>
            <a:xfrm>
              <a:off x="7447696" y="4136808"/>
              <a:ext cx="4610656" cy="584775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تابع هزینه:</a:t>
              </a:r>
            </a:p>
            <a:p>
              <a:pPr algn="r" rtl="1"/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میانگین </a:t>
              </a:r>
              <a:r>
                <a:rPr lang="fa-IR" sz="1600" b="1" dirty="0" err="1">
                  <a:solidFill>
                    <a:srgbClr val="7E0000"/>
                  </a:solidFill>
                  <a:cs typeface="B Nazanin" panose="00000400000000000000" pitchFamily="2" charset="-78"/>
                </a:rPr>
                <a:t>مربعات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 خطا 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)</a:t>
              </a:r>
              <a:r>
                <a:rPr lang="fa-IR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بردار یکه "تهران" ، بردار یکه "پایتخت“</a:t>
              </a:r>
              <a:r>
                <a:rPr lang="en-US" sz="1600" b="1" dirty="0">
                  <a:solidFill>
                    <a:srgbClr val="7E0000"/>
                  </a:solidFill>
                  <a:cs typeface="B Nazanin" panose="00000400000000000000" pitchFamily="2" charset="-78"/>
                </a:rPr>
                <a:t>(</a:t>
              </a:r>
              <a:endParaRPr lang="fa-IR" sz="1600" b="1" dirty="0">
                <a:solidFill>
                  <a:srgbClr val="7E0000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6CABF742-1182-5AB5-FE97-2A6F76E6DB2E}"/>
              </a:ext>
            </a:extLst>
          </p:cNvPr>
          <p:cNvSpPr txBox="1"/>
          <p:nvPr/>
        </p:nvSpPr>
        <p:spPr>
          <a:xfrm>
            <a:off x="932873" y="5958019"/>
            <a:ext cx="3435125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تعداد </a:t>
            </a:r>
            <a:r>
              <a:rPr lang="fa-IR" sz="16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نورون‌های</a:t>
            </a:r>
            <a:r>
              <a:rPr lang="fa-IR" sz="16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این لایه: اندازه مجموعه واژگان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F486F3-97F5-B05B-D581-6E605CEB6E8A}"/>
              </a:ext>
            </a:extLst>
          </p:cNvPr>
          <p:cNvSpPr txBox="1"/>
          <p:nvPr/>
        </p:nvSpPr>
        <p:spPr>
          <a:xfrm rot="5400000">
            <a:off x="4697824" y="5622688"/>
            <a:ext cx="307064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3200" dirty="0"/>
              <a:t>{</a:t>
            </a:r>
          </a:p>
        </p:txBody>
      </p: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8C95D6E3-C9F3-862C-7D5E-199C188FB62F}"/>
              </a:ext>
            </a:extLst>
          </p:cNvPr>
          <p:cNvCxnSpPr>
            <a:cxnSpLocks/>
            <a:stCxn id="53" idx="3"/>
            <a:endCxn id="52" idx="3"/>
          </p:cNvCxnSpPr>
          <p:nvPr/>
        </p:nvCxnSpPr>
        <p:spPr>
          <a:xfrm rot="5400000">
            <a:off x="4580333" y="5856273"/>
            <a:ext cx="58688" cy="483358"/>
          </a:xfrm>
          <a:prstGeom prst="curvedConnector4">
            <a:avLst>
              <a:gd name="adj1" fmla="val 389517"/>
              <a:gd name="adj2" fmla="val 6588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1915</TotalTime>
  <Words>1426</Words>
  <Application>Microsoft Office PowerPoint</Application>
  <PresentationFormat>Widescreen</PresentationFormat>
  <Paragraphs>244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571</cp:revision>
  <dcterms:created xsi:type="dcterms:W3CDTF">2024-02-19T06:46:45Z</dcterms:created>
  <dcterms:modified xsi:type="dcterms:W3CDTF">2024-02-26T07:01:44Z</dcterms:modified>
</cp:coreProperties>
</file>