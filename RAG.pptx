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6" r:id="rId4"/>
    <p:sldId id="258" r:id="rId5"/>
    <p:sldId id="260" r:id="rId6"/>
    <p:sldId id="269" r:id="rId7"/>
    <p:sldId id="261" r:id="rId8"/>
    <p:sldId id="267" r:id="rId9"/>
    <p:sldId id="268" r:id="rId10"/>
    <p:sldId id="262" r:id="rId11"/>
    <p:sldId id="263" r:id="rId12"/>
    <p:sldId id="264" r:id="rId13"/>
    <p:sldId id="265" r:id="rId14"/>
    <p:sldId id="259" r:id="rId15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FAAF4"/>
    <a:srgbClr val="944402"/>
    <a:srgbClr val="008EC0"/>
    <a:srgbClr val="33CAFF"/>
    <a:srgbClr val="6D91D1"/>
    <a:srgbClr val="A2B9E2"/>
    <a:srgbClr val="4674C6"/>
    <a:srgbClr val="3A67B8"/>
    <a:srgbClr val="305598"/>
    <a:srgbClr val="27457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854" autoAdjust="0"/>
  </p:normalViewPr>
  <p:slideViewPr>
    <p:cSldViewPr snapToGrid="0">
      <p:cViewPr varScale="1">
        <p:scale>
          <a:sx n="104" d="100"/>
          <a:sy n="104" d="100"/>
        </p:scale>
        <p:origin x="1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DD9737E2-E5A7-4798-8CE4-635A842BA6E2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B1A1FC86-6D43-4743-9C66-42764E3FFE4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500205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A1FC86-6D43-4743-9C66-42764E3FFE4E}" type="slidenum">
              <a:rPr lang="fa-IR" smtClean="0"/>
              <a:t>6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51503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D24C1-02E5-D959-1048-D50D1000E1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6221"/>
            <a:ext cx="9144000" cy="831943"/>
          </a:xfrm>
        </p:spPr>
        <p:txBody>
          <a:bodyPr>
            <a:normAutofit fontScale="90000"/>
          </a:bodyPr>
          <a:lstStyle/>
          <a:p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5C100C-1CBC-2D96-6416-B45A5AFF18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7458" y="2413281"/>
            <a:ext cx="9144000" cy="521727"/>
          </a:xfrm>
        </p:spPr>
        <p:txBody>
          <a:bodyPr/>
          <a:lstStyle/>
          <a:p>
            <a:r>
              <a:rPr lang="en-US" b="0" i="0" dirty="0">
                <a:solidFill>
                  <a:srgbClr val="4B4F58"/>
                </a:solidFill>
                <a:effectLst/>
                <a:latin typeface="lists-font"/>
              </a:rPr>
              <a:t>Retrieval-Augmented Generation</a:t>
            </a:r>
            <a:endParaRPr lang="fa-I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5B90CAB-F0F4-F1F4-2F22-A3227EFB4176}"/>
              </a:ext>
            </a:extLst>
          </p:cNvPr>
          <p:cNvSpPr txBox="1">
            <a:spLocks/>
          </p:cNvSpPr>
          <p:nvPr/>
        </p:nvSpPr>
        <p:spPr>
          <a:xfrm>
            <a:off x="1524000" y="1228164"/>
            <a:ext cx="9144000" cy="7620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تولید پاسخ توسط مدل زبانی با تکنیک تقویت زمینه دانشی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07E24E0-2EFC-7FCF-A5F9-43E02F8DC4B0}"/>
              </a:ext>
            </a:extLst>
          </p:cNvPr>
          <p:cNvSpPr txBox="1">
            <a:spLocks/>
          </p:cNvSpPr>
          <p:nvPr/>
        </p:nvSpPr>
        <p:spPr>
          <a:xfrm>
            <a:off x="1407458" y="3541992"/>
            <a:ext cx="9144000" cy="65349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4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تقویت کیفیت پاسخ مدل زبانی با ضمیمه کردن دانش </a:t>
            </a:r>
            <a:r>
              <a:rPr lang="fa-IR" dirty="0" err="1"/>
              <a:t>واطلاعات</a:t>
            </a:r>
            <a:r>
              <a:rPr lang="fa-IR" dirty="0"/>
              <a:t> مرتبط با سوال به ورودی مدل زبانی</a:t>
            </a:r>
          </a:p>
        </p:txBody>
      </p:sp>
    </p:spTree>
    <p:extLst>
      <p:ext uri="{BB962C8B-B14F-4D97-AF65-F5344CB8AC3E}">
        <p14:creationId xmlns:p14="http://schemas.microsoft.com/office/powerpoint/2010/main" val="66990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419097"/>
            <a:ext cx="2998510" cy="628743"/>
          </a:xfrm>
          <a:noFill/>
        </p:spPr>
        <p:txBody>
          <a:bodyPr>
            <a:noAutofit/>
          </a:bodyPr>
          <a:lstStyle/>
          <a:p>
            <a:r>
              <a:rPr lang="en-US" sz="8800" dirty="0">
                <a:gradFill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</a:gradFill>
                <a:effectLst>
                  <a:reflection stA="70000" endPos="12000" dir="5400000" sy="-100000" algn="bl" rotWithShape="0"/>
                </a:effectLst>
                <a:latin typeface="Arial Black" panose="020B0A04020102020204" pitchFamily="34" charset="0"/>
              </a:rPr>
              <a:t>RAG</a:t>
            </a:r>
            <a:r>
              <a:rPr lang="en-US" sz="8000" dirty="0">
                <a:gradFill flip="none" rotWithShape="1">
                  <a:gsLst>
                    <a:gs pos="0">
                      <a:schemeClr val="accent1">
                        <a:lumMod val="60000"/>
                        <a:lumOff val="40000"/>
                      </a:schemeClr>
                    </a:gs>
                    <a:gs pos="46000">
                      <a:schemeClr val="accent1">
                        <a:lumMod val="95000"/>
                        <a:lumOff val="5000"/>
                      </a:schemeClr>
                    </a:gs>
                    <a:gs pos="100000">
                      <a:schemeClr val="accent1">
                        <a:lumMod val="60000"/>
                      </a:schemeClr>
                    </a:gs>
                  </a:gsLst>
                  <a:lin ang="10800000" scaled="1"/>
                  <a:tileRect/>
                </a:gradFill>
                <a:latin typeface="Arial Black" panose="020B0A04020102020204" pitchFamily="34" charset="0"/>
              </a:rPr>
              <a:t> </a:t>
            </a:r>
            <a:endParaRPr lang="fa-IR" sz="8000" dirty="0"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46000">
                    <a:schemeClr val="accent1">
                      <a:lumMod val="95000"/>
                      <a:lumOff val="5000"/>
                    </a:schemeClr>
                  </a:gs>
                  <a:gs pos="100000">
                    <a:schemeClr val="accent1">
                      <a:lumMod val="60000"/>
                    </a:schemeClr>
                  </a:gs>
                </a:gsLst>
                <a:lin ang="10800000" scaled="1"/>
                <a:tileRect/>
              </a:gradFill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3054285" y="3697326"/>
            <a:ext cx="8485810" cy="61763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تقویت پاسخ مدل زبانی بزرگ (</a:t>
            </a:r>
            <a:r>
              <a:rPr lang="en-US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latin typeface="+mn-lt"/>
              </a:rPr>
              <a:t>LLM</a:t>
            </a:r>
            <a:r>
              <a:rPr lang="fa-IR" sz="3200" b="1" dirty="0">
                <a:gradFill flip="none" rotWithShape="1">
                  <a:gsLst>
                    <a:gs pos="0">
                      <a:schemeClr val="accent1">
                        <a:lumMod val="89000"/>
                      </a:schemeClr>
                    </a:gs>
                    <a:gs pos="23000">
                      <a:schemeClr val="accent1">
                        <a:lumMod val="89000"/>
                      </a:schemeClr>
                    </a:gs>
                    <a:gs pos="69000">
                      <a:schemeClr val="accent1">
                        <a:lumMod val="75000"/>
                      </a:schemeClr>
                    </a:gs>
                    <a:gs pos="97000">
                      <a:schemeClr val="accent1">
                        <a:lumMod val="70000"/>
                      </a:schemeClr>
                    </a:gs>
                  </a:gsLst>
                  <a:path path="circle">
                    <a:fillToRect l="50000" t="50000" r="50000" b="50000"/>
                  </a:path>
                  <a:tileRect/>
                </a:gradFill>
                <a:effectLst>
                  <a:glow>
                    <a:schemeClr val="accent5">
                      <a:satMod val="175000"/>
                      <a:alpha val="40000"/>
                    </a:schemeClr>
                  </a:glow>
                </a:effectLst>
                <a:cs typeface="B Nazanin" panose="00000400000000000000" pitchFamily="2" charset="-78"/>
              </a:rPr>
              <a:t>) با افزودن دانش و اطلاعات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605251" y="189056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 </a:t>
            </a:r>
            <a:r>
              <a:rPr lang="fa-IR" b="1" dirty="0">
                <a:ln w="6350" cmpd="sng">
                  <a:noFill/>
                  <a:prstDash val="solid"/>
                  <a:round/>
                </a:ln>
                <a:gradFill flip="none" rotWithShape="1">
                  <a:gsLst>
                    <a:gs pos="0">
                      <a:srgbClr val="002060"/>
                    </a:gs>
                    <a:gs pos="48000">
                      <a:schemeClr val="accent1">
                        <a:lumMod val="75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</a:schemeClr>
                    </a:gs>
                  </a:gsLst>
                  <a:lin ang="16200000" scaled="1"/>
                  <a:tileRect/>
                </a:gradFill>
                <a:cs typeface="B Nazanin" panose="00000400000000000000" pitchFamily="2" charset="-78"/>
              </a:rPr>
              <a:t>تعالی</a:t>
            </a:r>
            <a:endParaRPr lang="fa-IR" sz="1600" b="1" dirty="0">
              <a:ln w="6350" cmpd="sng">
                <a:noFill/>
                <a:prstDash val="solid"/>
                <a:round/>
              </a:ln>
              <a:gradFill flip="none" rotWithShape="1">
                <a:gsLst>
                  <a:gs pos="0">
                    <a:srgbClr val="002060"/>
                  </a:gs>
                  <a:gs pos="48000">
                    <a:schemeClr val="accent1">
                      <a:lumMod val="75000"/>
                    </a:schemeClr>
                  </a:gs>
                  <a:gs pos="100000">
                    <a:schemeClr val="accent1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85334" y="2332587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800" b="1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sz="3800" b="1" dirty="0">
              <a:latin typeface="Arial Black" panose="020B0A040201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B7A88DB-9AC8-D0B3-D9B6-D1393842B9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2061" y="-258526"/>
            <a:ext cx="3789696" cy="3726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3675638"/>
          </a:xfrm>
        </p:spPr>
        <p:txBody>
          <a:bodyPr>
            <a:normAutofit lnSpcReduction="10000"/>
          </a:bodyPr>
          <a:lstStyle/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نداشتن دانش و اطلاعات به روز (احتمال ارائه اطلاعات منسوخ)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توهم (</a:t>
            </a:r>
            <a:r>
              <a:rPr lang="en-US" sz="2000" b="1" dirty="0" err="1">
                <a:cs typeface="B Nazanin" panose="00000400000000000000" pitchFamily="2" charset="-78"/>
              </a:rPr>
              <a:t>Halluincation</a:t>
            </a:r>
            <a:r>
              <a:rPr lang="fa-IR" sz="2000" b="1" dirty="0">
                <a:cs typeface="B Nazanin" panose="00000400000000000000" pitchFamily="2" charset="-78"/>
              </a:rPr>
              <a:t>): احتمال ارائه پاسخ نادرست </a:t>
            </a:r>
            <a:r>
              <a:rPr lang="fa-IR" sz="2000" b="1" dirty="0" err="1">
                <a:cs typeface="B Nazanin" panose="00000400000000000000" pitchFamily="2" charset="-78"/>
              </a:rPr>
              <a:t>علی‌رغم</a:t>
            </a:r>
            <a:r>
              <a:rPr lang="fa-IR" sz="2000" b="1" dirty="0">
                <a:cs typeface="B Nazanin" panose="00000400000000000000" pitchFamily="2" charset="-78"/>
              </a:rPr>
              <a:t> قاطعیت در بیان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پیروی از </a:t>
            </a:r>
            <a:r>
              <a:rPr lang="fa-IR" sz="2000" b="1" dirty="0" err="1">
                <a:cs typeface="B Nazanin" panose="00000400000000000000" pitchFamily="2" charset="-78"/>
              </a:rPr>
              <a:t>جهت‌گیری</a:t>
            </a:r>
            <a:r>
              <a:rPr lang="fa-IR" sz="2000" b="1" dirty="0">
                <a:cs typeface="B Nazanin" panose="00000400000000000000" pitchFamily="2" charset="-78"/>
              </a:rPr>
              <a:t>‎ (</a:t>
            </a:r>
            <a:r>
              <a:rPr lang="en-US" sz="2000" b="1" dirty="0">
                <a:cs typeface="B Nazanin" panose="00000400000000000000" pitchFamily="2" charset="-78"/>
              </a:rPr>
              <a:t>Bias</a:t>
            </a:r>
            <a:r>
              <a:rPr lang="fa-IR" sz="2000" b="1" dirty="0">
                <a:cs typeface="B Nazanin" panose="00000400000000000000" pitchFamily="2" charset="-78"/>
              </a:rPr>
              <a:t>) و ادبیات </a:t>
            </a:r>
            <a:r>
              <a:rPr lang="fa-IR" sz="2000" b="1" dirty="0" err="1">
                <a:cs typeface="B Nazanin" panose="00000400000000000000" pitchFamily="2" charset="-78"/>
              </a:rPr>
              <a:t>داده‌های</a:t>
            </a:r>
            <a:r>
              <a:rPr lang="fa-IR" sz="2000" b="1" dirty="0">
                <a:cs typeface="B Nazanin" panose="00000400000000000000" pitchFamily="2" charset="-78"/>
              </a:rPr>
              <a:t> آموزش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000" b="1" dirty="0" err="1">
                <a:cs typeface="B Nazanin" panose="00000400000000000000" pitchFamily="2" charset="-78"/>
              </a:rPr>
              <a:t>ناهمگونی</a:t>
            </a:r>
            <a:r>
              <a:rPr lang="fa-IR" sz="20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و کاربر</a:t>
            </a:r>
          </a:p>
          <a:p>
            <a:pPr algn="r" rtl="1">
              <a:lnSpc>
                <a:spcPct val="210000"/>
              </a:lnSpc>
            </a:pPr>
            <a:r>
              <a:rPr lang="fa-IR" sz="20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  <a:p>
            <a:pPr algn="r" rtl="1"/>
            <a:endParaRPr lang="fa-IR" sz="1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949037" y="5862791"/>
            <a:ext cx="10735642" cy="445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اطلاعات و دانش مدل‌ زبانی محدود به </a:t>
            </a:r>
            <a:r>
              <a:rPr lang="fa-IR" sz="24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648470" y="2306639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ورودی مدل زبانی با ضمیمه کردن دانش و اطلاعات مربوط به سوال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648470" y="3541713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116624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0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D14C018E-445C-BBD5-46C0-7C13A31E8215}"/>
              </a:ext>
            </a:extLst>
          </p:cNvPr>
          <p:cNvSpPr/>
          <p:nvPr/>
        </p:nvSpPr>
        <p:spPr>
          <a:xfrm>
            <a:off x="9773029" y="2141495"/>
            <a:ext cx="1539189" cy="1443317"/>
          </a:xfrm>
          <a:prstGeom prst="ellipse">
            <a:avLst/>
          </a:prstGeom>
          <a:solidFill>
            <a:srgbClr val="DFAAF4"/>
          </a:solidFill>
          <a:ln>
            <a:solidFill>
              <a:schemeClr val="bg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600" b="1" dirty="0">
                <a:solidFill>
                  <a:schemeClr val="tx1"/>
                </a:solidFill>
                <a:cs typeface="B Nazanin" panose="00000400000000000000" pitchFamily="2" charset="-78"/>
              </a:rPr>
              <a:t>پاسخ</a:t>
            </a:r>
          </a:p>
        </p:txBody>
      </p:sp>
      <p:sp>
        <p:nvSpPr>
          <p:cNvPr id="7" name="Rectangle: Top Corners Snipped 6">
            <a:extLst>
              <a:ext uri="{FF2B5EF4-FFF2-40B4-BE49-F238E27FC236}">
                <a16:creationId xmlns:a16="http://schemas.microsoft.com/office/drawing/2014/main" id="{6C7FD831-AF60-FFC2-5B6E-982A9415CFDF}"/>
              </a:ext>
            </a:extLst>
          </p:cNvPr>
          <p:cNvSpPr/>
          <p:nvPr/>
        </p:nvSpPr>
        <p:spPr>
          <a:xfrm>
            <a:off x="4181809" y="4495739"/>
            <a:ext cx="2010742" cy="1296411"/>
          </a:xfrm>
          <a:prstGeom prst="snip2Same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000" b="1" dirty="0">
                <a:cs typeface="B Nazanin" panose="00000400000000000000" pitchFamily="2" charset="-78"/>
              </a:rPr>
              <a:t>پایگاه داده برداری</a:t>
            </a:r>
          </a:p>
          <a:p>
            <a:pPr algn="ctr"/>
            <a:endParaRPr lang="fa-IR" sz="2000" b="1" dirty="0">
              <a:cs typeface="B Nazanin" panose="00000400000000000000" pitchFamily="2" charset="-78"/>
            </a:endParaRPr>
          </a:p>
          <a:p>
            <a:pPr algn="ctr"/>
            <a:r>
              <a:rPr lang="en-US" dirty="0"/>
              <a:t>Vector Database</a:t>
            </a:r>
            <a:endParaRPr lang="fa-IR" dirty="0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51FC2D48-6718-497F-AA64-B0CBCFDDAB23}"/>
              </a:ext>
            </a:extLst>
          </p:cNvPr>
          <p:cNvSpPr/>
          <p:nvPr/>
        </p:nvSpPr>
        <p:spPr>
          <a:xfrm rot="3620871">
            <a:off x="1224599" y="3857868"/>
            <a:ext cx="1454918" cy="337487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227C395-9A62-0269-D519-C715B5C3AFE2}"/>
              </a:ext>
            </a:extLst>
          </p:cNvPr>
          <p:cNvSpPr/>
          <p:nvPr/>
        </p:nvSpPr>
        <p:spPr>
          <a:xfrm>
            <a:off x="1181263" y="4656999"/>
            <a:ext cx="2216879" cy="1180831"/>
          </a:xfrm>
          <a:prstGeom prst="roundRect">
            <a:avLst/>
          </a:prstGeom>
          <a:solidFill>
            <a:srgbClr val="008E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b="1" dirty="0">
                <a:cs typeface="B Nazanin" panose="00000400000000000000" pitchFamily="2" charset="-78"/>
              </a:rPr>
              <a:t>مدل مبدل معنا به بردار </a:t>
            </a:r>
            <a:endParaRPr lang="en-US" b="1" dirty="0">
              <a:cs typeface="B Nazanin" panose="00000400000000000000" pitchFamily="2" charset="-78"/>
            </a:endParaRPr>
          </a:p>
          <a:p>
            <a:pPr algn="ctr"/>
            <a:endParaRPr lang="en-US" dirty="0"/>
          </a:p>
          <a:p>
            <a:pPr algn="ctr"/>
            <a:r>
              <a:rPr lang="en-US" dirty="0"/>
              <a:t>Embedding model</a:t>
            </a:r>
            <a:endParaRPr lang="fa-IR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B8C538AB-8859-E96F-61C4-C95ABE1E7F37}"/>
              </a:ext>
            </a:extLst>
          </p:cNvPr>
          <p:cNvGrpSpPr/>
          <p:nvPr/>
        </p:nvGrpSpPr>
        <p:grpSpPr>
          <a:xfrm>
            <a:off x="4381921" y="2278212"/>
            <a:ext cx="1748950" cy="1544468"/>
            <a:chOff x="5554862" y="2758085"/>
            <a:chExt cx="1586831" cy="1350815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72FDC58-394B-674D-35EA-88F52172055C}"/>
                </a:ext>
              </a:extLst>
            </p:cNvPr>
            <p:cNvSpPr/>
            <p:nvPr/>
          </p:nvSpPr>
          <p:spPr>
            <a:xfrm>
              <a:off x="5771104" y="2758085"/>
              <a:ext cx="1370589" cy="1029494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468D31C-E7A4-2243-153E-2D9831D1AD59}"/>
                </a:ext>
              </a:extLst>
            </p:cNvPr>
            <p:cNvSpPr/>
            <p:nvPr/>
          </p:nvSpPr>
          <p:spPr>
            <a:xfrm>
              <a:off x="5667837" y="2871363"/>
              <a:ext cx="1370589" cy="1029494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D0E21A20-FC60-B3F4-E52D-434BC2487277}"/>
                </a:ext>
              </a:extLst>
            </p:cNvPr>
            <p:cNvSpPr/>
            <p:nvPr/>
          </p:nvSpPr>
          <p:spPr>
            <a:xfrm>
              <a:off x="5554862" y="2985133"/>
              <a:ext cx="1370589" cy="1123767"/>
            </a:xfrm>
            <a:prstGeom prst="rect">
              <a:avLst/>
            </a:prstGeom>
            <a:ln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r>
                <a:rPr lang="fa-IR" b="1" dirty="0">
                  <a:cs typeface="B Nazanin" panose="00000400000000000000" pitchFamily="2" charset="-78"/>
                </a:rPr>
                <a:t>مضامین مرتبط</a:t>
              </a:r>
            </a:p>
            <a:p>
              <a:pPr algn="ctr"/>
              <a:endParaRPr lang="fa-IR" dirty="0"/>
            </a:p>
            <a:p>
              <a:pPr algn="ctr"/>
              <a:r>
                <a:rPr lang="en-US" dirty="0"/>
                <a:t>Retrieved contexts</a:t>
              </a:r>
              <a:endParaRPr lang="fa-IR" dirty="0"/>
            </a:p>
          </p:txBody>
        </p:sp>
      </p:grpSp>
      <p:sp>
        <p:nvSpPr>
          <p:cNvPr id="35" name="Diamond 34">
            <a:extLst>
              <a:ext uri="{FF2B5EF4-FFF2-40B4-BE49-F238E27FC236}">
                <a16:creationId xmlns:a16="http://schemas.microsoft.com/office/drawing/2014/main" id="{E9705E75-6B1D-8AD9-14D9-757D6948F738}"/>
              </a:ext>
            </a:extLst>
          </p:cNvPr>
          <p:cNvSpPr/>
          <p:nvPr/>
        </p:nvSpPr>
        <p:spPr>
          <a:xfrm>
            <a:off x="6890028" y="1939614"/>
            <a:ext cx="2142202" cy="1913593"/>
          </a:xfrm>
          <a:prstGeom prst="diamond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sz="2000" b="1" dirty="0">
              <a:solidFill>
                <a:schemeClr val="tx1"/>
              </a:solidFill>
              <a:cs typeface="B Nazanin" panose="00000400000000000000" pitchFamily="2" charset="-78"/>
            </a:endParaRPr>
          </a:p>
          <a:p>
            <a:pPr algn="ctr"/>
            <a:r>
              <a:rPr lang="fa-IR" sz="2000" b="1" dirty="0">
                <a:solidFill>
                  <a:schemeClr val="tx1"/>
                </a:solidFill>
                <a:cs typeface="B Nazanin" panose="00000400000000000000" pitchFamily="2" charset="-78"/>
              </a:rPr>
              <a:t>مدل زبانی بزرگ</a:t>
            </a:r>
          </a:p>
          <a:p>
            <a:pPr algn="ctr"/>
            <a:r>
              <a:rPr lang="en-US" sz="1600" b="1" dirty="0">
                <a:solidFill>
                  <a:schemeClr val="tx1"/>
                </a:solidFill>
                <a:latin typeface="Arial Black" panose="020B0A04020102020204" pitchFamily="34" charset="0"/>
                <a:cs typeface="+mj-cs"/>
              </a:rPr>
              <a:t>(LLM)</a:t>
            </a:r>
            <a:endParaRPr lang="fa-IR" sz="1600" b="1" dirty="0">
              <a:solidFill>
                <a:schemeClr val="tx1"/>
              </a:solidFill>
              <a:latin typeface="Arial Black" panose="020B0A04020102020204" pitchFamily="34" charset="0"/>
              <a:cs typeface="+mj-cs"/>
            </a:endParaRPr>
          </a:p>
          <a:p>
            <a:pPr algn="ctr"/>
            <a:endParaRPr lang="fa-IR" sz="2000" b="1" dirty="0">
              <a:solidFill>
                <a:schemeClr val="tx1"/>
              </a:solidFill>
              <a:cs typeface="B Nazanin" panose="00000400000000000000" pitchFamily="2" charset="-78"/>
            </a:endParaRPr>
          </a:p>
        </p:txBody>
      </p:sp>
      <p:sp>
        <p:nvSpPr>
          <p:cNvPr id="39" name="Arrow: Curved Down 38">
            <a:extLst>
              <a:ext uri="{FF2B5EF4-FFF2-40B4-BE49-F238E27FC236}">
                <a16:creationId xmlns:a16="http://schemas.microsoft.com/office/drawing/2014/main" id="{3F63B1EB-BD85-DE5A-0E9B-DD512A4DDE05}"/>
              </a:ext>
            </a:extLst>
          </p:cNvPr>
          <p:cNvSpPr/>
          <p:nvPr/>
        </p:nvSpPr>
        <p:spPr>
          <a:xfrm rot="21302420">
            <a:off x="841104" y="453210"/>
            <a:ext cx="7300256" cy="1753890"/>
          </a:xfrm>
          <a:prstGeom prst="curvedDownArrow">
            <a:avLst>
              <a:gd name="adj1" fmla="val 9223"/>
              <a:gd name="adj2" fmla="val 27328"/>
              <a:gd name="adj3" fmla="val 24773"/>
            </a:avLst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solidFill>
                <a:schemeClr val="tx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489D919-6574-5CE1-D5FE-EFB31CEF32CE}"/>
              </a:ext>
            </a:extLst>
          </p:cNvPr>
          <p:cNvSpPr/>
          <p:nvPr/>
        </p:nvSpPr>
        <p:spPr>
          <a:xfrm>
            <a:off x="239950" y="2363825"/>
            <a:ext cx="1456817" cy="1065175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000" b="1" dirty="0">
                <a:solidFill>
                  <a:schemeClr val="tx1"/>
                </a:solidFill>
                <a:cs typeface="B Nazanin" panose="00000400000000000000" pitchFamily="2" charset="-78"/>
              </a:rPr>
              <a:t>سوال کاربر</a:t>
            </a:r>
          </a:p>
          <a:p>
            <a:pPr algn="ctr"/>
            <a:endParaRPr lang="fa-IR" sz="2000" dirty="0">
              <a:solidFill>
                <a:schemeClr val="tx1"/>
              </a:solidFill>
              <a:cs typeface="B Nazanin" panose="00000400000000000000" pitchFamily="2" charset="-78"/>
            </a:endParaRPr>
          </a:p>
          <a:p>
            <a:pPr algn="ctr"/>
            <a:r>
              <a:rPr lang="en-US" sz="2000" dirty="0">
                <a:solidFill>
                  <a:schemeClr val="tx1"/>
                </a:solidFill>
              </a:rPr>
              <a:t>User query</a:t>
            </a:r>
            <a:endParaRPr lang="fa-IR" sz="2000" dirty="0">
              <a:solidFill>
                <a:schemeClr val="tx1"/>
              </a:solidFill>
            </a:endParaRP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9692C625-027B-5A93-F37C-56583E07D0A4}"/>
              </a:ext>
            </a:extLst>
          </p:cNvPr>
          <p:cNvSpPr/>
          <p:nvPr/>
        </p:nvSpPr>
        <p:spPr>
          <a:xfrm>
            <a:off x="3418341" y="5039734"/>
            <a:ext cx="743269" cy="415359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67F6738F-0F6E-43E3-A844-8DC6AF9A11CB}"/>
              </a:ext>
            </a:extLst>
          </p:cNvPr>
          <p:cNvSpPr/>
          <p:nvPr/>
        </p:nvSpPr>
        <p:spPr>
          <a:xfrm rot="16200000">
            <a:off x="4867761" y="3932682"/>
            <a:ext cx="642532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C722032-AB4E-9523-B558-4043A13FEE56}"/>
              </a:ext>
            </a:extLst>
          </p:cNvPr>
          <p:cNvSpPr/>
          <p:nvPr/>
        </p:nvSpPr>
        <p:spPr>
          <a:xfrm>
            <a:off x="6153308" y="2679597"/>
            <a:ext cx="727484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596350C9-1CF9-467F-8D67-1091778C3DB8}"/>
              </a:ext>
            </a:extLst>
          </p:cNvPr>
          <p:cNvSpPr/>
          <p:nvPr/>
        </p:nvSpPr>
        <p:spPr>
          <a:xfrm>
            <a:off x="9038887" y="2675910"/>
            <a:ext cx="727484" cy="441000"/>
          </a:xfrm>
          <a:prstGeom prst="rightArrow">
            <a:avLst/>
          </a:prstGeom>
          <a:solidFill>
            <a:schemeClr val="accent4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967135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6702" y="57370"/>
            <a:ext cx="11558591" cy="750588"/>
          </a:xfrm>
        </p:spPr>
        <p:txBody>
          <a:bodyPr>
            <a:normAutofit/>
          </a:bodyPr>
          <a:lstStyle/>
          <a:p>
            <a:pPr algn="r" rtl="1"/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مقایسه راهکارهای ایجاد دانش جدید در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  <a:endParaRPr lang="fa-IR" sz="36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39241291"/>
              </p:ext>
            </p:extLst>
          </p:nvPr>
        </p:nvGraphicFramePr>
        <p:xfrm>
          <a:off x="241479" y="858983"/>
          <a:ext cx="11709039" cy="5830811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559846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803812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186545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3158836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46022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8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00000"/>
                        </a:lnSpc>
                      </a:pPr>
                      <a:r>
                        <a:rPr lang="en-US" sz="2800" b="1" kern="1200" dirty="0">
                          <a:solidFill>
                            <a:srgbClr val="007CA8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800" b="1" kern="1200" dirty="0">
                        <a:solidFill>
                          <a:srgbClr val="007CA8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>
                    <a:solidFill>
                      <a:schemeClr val="accent5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460221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تقویت ورودی مدل ‌زبانی با اطلاعات</a:t>
                      </a:r>
                      <a:r>
                        <a:rPr lang="en-US" sz="16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مرتبط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466655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1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محاسباتی</a:t>
                      </a: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endParaRPr lang="fa-IR" sz="4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تهیه مجموعه داده</a:t>
                      </a: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عدم نیاز به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افزودن منابع دانشی و اطلاعات 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408727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05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فرآیندی بسیار پرهزینه و تخصصی‌ است.</a:t>
                      </a: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افزودن هر بار اطلاعات به مدل با این روش، علاوه بر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زمان‌بر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بودن، نیاز به تخصص دارد.</a:t>
                      </a: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عدم 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endParaRPr lang="fa-IR" sz="6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افزودن سریع و آسان منابع دانشی و اطلاعات توسط مدیر و کاربران</a:t>
                      </a:r>
                    </a:p>
                    <a:p>
                      <a:pPr marL="0" indent="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None/>
                      </a:pP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0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امکان کنترل دسترسی کاربران به اطلاعات توسط مدیر</a:t>
                      </a:r>
                    </a:p>
                  </a:txBody>
                  <a:tcPr>
                    <a:solidFill>
                      <a:srgbClr val="D9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1822886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sz="1200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مناسب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بر روی زبانی که تا به حال کار نشده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تهیه مدلی بهتر نسبت به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متن‌باز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موجود، با از بین بردن نقاط ضعف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آن‌ها</a:t>
                      </a:r>
                      <a:endParaRPr lang="fa-IR" sz="1500" b="1" dirty="0">
                        <a:cs typeface="B Nazanin" panose="00000400000000000000" pitchFamily="2" charset="-78"/>
                      </a:endParaRP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dirty="0">
                          <a:cs typeface="B Nazanin" panose="00000400000000000000" pitchFamily="2" charset="-78"/>
                        </a:rPr>
                        <a:t>توسعه علمی و تحقیقاتی حوزه پردازش زبان طبیعی/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بومی‌سازی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دانش </a:t>
                      </a:r>
                      <a:r>
                        <a:rPr lang="fa-IR" sz="1500" b="1" dirty="0" err="1"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dirty="0">
                          <a:cs typeface="B Nazanin" panose="00000400000000000000" pitchFamily="2" charset="-78"/>
                        </a:rPr>
                        <a:t> زبانی و ...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5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تقویت دانش مدل در </a:t>
                      </a:r>
                      <a:r>
                        <a:rPr lang="fa-IR" sz="15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زمینه‌ای</a:t>
                      </a:r>
                      <a:r>
                        <a:rPr lang="fa-IR" sz="15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خاص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250000"/>
                        </a:lnSpc>
                      </a:pPr>
                      <a:endParaRPr lang="fa-IR" sz="1500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72F3F76-9ABE-3C93-BEA7-0365DAF2DB01}"/>
              </a:ext>
            </a:extLst>
          </p:cNvPr>
          <p:cNvSpPr txBox="1"/>
          <p:nvPr/>
        </p:nvSpPr>
        <p:spPr>
          <a:xfrm>
            <a:off x="3209636" y="2162916"/>
            <a:ext cx="1671783" cy="246221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/>
            <a:r>
              <a:rPr lang="en-US" sz="1000" b="1" kern="1200" dirty="0">
                <a:solidFill>
                  <a:schemeClr val="dk1"/>
                </a:solidFill>
                <a:latin typeface="+mn-lt"/>
                <a:ea typeface="+mn-ea"/>
                <a:cs typeface="+mj-cs"/>
              </a:rPr>
              <a:t>8 * 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N_model</a:t>
            </a:r>
            <a:r>
              <a:rPr lang="en-US" sz="1000" b="1" dirty="0" err="1">
                <a:solidFill>
                  <a:schemeClr val="dk1"/>
                </a:solidFill>
                <a:cs typeface="+mj-cs"/>
              </a:rPr>
              <a:t>_</a:t>
            </a:r>
            <a:r>
              <a:rPr lang="en-US" sz="1000" b="1" kern="1200" dirty="0" err="1">
                <a:solidFill>
                  <a:schemeClr val="dk1"/>
                </a:solidFill>
                <a:latin typeface="+mn-lt"/>
                <a:ea typeface="+mn-ea"/>
                <a:cs typeface="+mj-cs"/>
              </a:rPr>
              <a:t>parameters</a:t>
            </a:r>
            <a:endParaRPr lang="fa-IR" sz="1000" dirty="0">
              <a:cs typeface="+mj-cs"/>
            </a:endParaRP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21DAF1BF-507C-6713-3752-E36BBE3B9EDB}"/>
              </a:ext>
            </a:extLst>
          </p:cNvPr>
          <p:cNvCxnSpPr>
            <a:cxnSpLocks/>
          </p:cNvCxnSpPr>
          <p:nvPr/>
        </p:nvCxnSpPr>
        <p:spPr>
          <a:xfrm rot="10800000" flipV="1">
            <a:off x="4835243" y="2221375"/>
            <a:ext cx="267855" cy="69248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479D0-88FE-F28A-E61A-8E58FB181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dirty="0"/>
              <a:t>چرا </a:t>
            </a:r>
            <a:r>
              <a:rPr lang="en-US" dirty="0"/>
              <a:t>RAG</a:t>
            </a:r>
            <a:r>
              <a:rPr lang="fa-IR" dirty="0"/>
              <a:t>؟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F4A23D-98D7-EBD0-0C6E-FBABC69569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8824"/>
            <a:ext cx="10515600" cy="4608139"/>
          </a:xfrm>
        </p:spPr>
        <p:txBody>
          <a:bodyPr>
            <a:normAutofit/>
          </a:bodyPr>
          <a:lstStyle/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مدل‌های</a:t>
            </a:r>
            <a:r>
              <a:rPr lang="fa-IR" sz="2000" b="1" dirty="0">
                <a:cs typeface="B Nazanin" panose="00000400000000000000" pitchFamily="2" charset="-78"/>
              </a:rPr>
              <a:t> زبانی موجود به خوبی درک زبانی، </a:t>
            </a:r>
            <a:r>
              <a:rPr lang="fa-IR" sz="2000" b="1" dirty="0" err="1">
                <a:cs typeface="B Nazanin" panose="00000400000000000000" pitchFamily="2" charset="-78"/>
              </a:rPr>
              <a:t>دانش‌های</a:t>
            </a:r>
            <a:r>
              <a:rPr lang="fa-IR" sz="2000" b="1" dirty="0">
                <a:cs typeface="B Nazanin" panose="00000400000000000000" pitchFamily="2" charset="-78"/>
              </a:rPr>
              <a:t> پایه و استدلال منطقی را </a:t>
            </a:r>
            <a:r>
              <a:rPr lang="fa-IR" sz="2000" b="1" dirty="0" err="1">
                <a:cs typeface="B Nazanin" panose="00000400000000000000" pitchFamily="2" charset="-78"/>
              </a:rPr>
              <a:t>فراگرفته‌اند</a:t>
            </a:r>
            <a:r>
              <a:rPr lang="fa-IR" sz="2000" b="1" dirty="0">
                <a:cs typeface="B Nazanin" panose="00000400000000000000" pitchFamily="2" charset="-78"/>
              </a:rPr>
              <a:t> و آموزش یک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جدید صرفا برای فراگیری دانش و اطلاعات خاص، توجیه عملیاتی ندارد.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عملکرد مطلوب: کیفیت </a:t>
            </a:r>
            <a:r>
              <a:rPr lang="fa-IR" sz="2000" b="1" dirty="0" err="1">
                <a:cs typeface="B Nazanin" panose="00000400000000000000" pitchFamily="2" charset="-78"/>
              </a:rPr>
              <a:t>پاسخ‌دهی</a:t>
            </a:r>
            <a:r>
              <a:rPr lang="fa-IR" sz="2000" b="1" dirty="0">
                <a:cs typeface="B Nazanin" panose="00000400000000000000" pitchFamily="2" charset="-78"/>
              </a:rPr>
              <a:t> </a:t>
            </a:r>
            <a:r>
              <a:rPr lang="en-US" sz="2000" b="1" dirty="0">
                <a:cs typeface="B Nazanin" panose="00000400000000000000" pitchFamily="2" charset="-78"/>
              </a:rPr>
              <a:t>RAG</a:t>
            </a:r>
            <a:r>
              <a:rPr lang="fa-IR" sz="2000" b="1" dirty="0">
                <a:cs typeface="B Nazanin" panose="00000400000000000000" pitchFamily="2" charset="-78"/>
              </a:rPr>
              <a:t> در صورت در اختیار داشتن اطلاعات مورد نیاز، تفاوت قابل توجهی با مدل آموزش دیده بر آن داده ها ندارد.</a:t>
            </a:r>
          </a:p>
          <a:p>
            <a:pPr marL="0" indent="0" algn="r" rtl="1">
              <a:buNone/>
            </a:pPr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به‌روز</a:t>
            </a:r>
            <a:r>
              <a:rPr lang="fa-IR" sz="2000" b="1" dirty="0">
                <a:cs typeface="B Nazanin" panose="00000400000000000000" pitchFamily="2" charset="-78"/>
              </a:rPr>
              <a:t> رسانی سریع منابع اطلاعات و دانش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کنترل بالای </a:t>
            </a:r>
            <a:r>
              <a:rPr lang="fa-IR" sz="2000" b="1" dirty="0" err="1">
                <a:cs typeface="B Nazanin" panose="00000400000000000000" pitchFamily="2" charset="-78"/>
              </a:rPr>
              <a:t>توسعه‌دهنده</a:t>
            </a:r>
            <a:r>
              <a:rPr lang="fa-IR" sz="2000" b="1" dirty="0">
                <a:cs typeface="B Nazanin" panose="00000400000000000000" pitchFamily="2" charset="-78"/>
              </a:rPr>
              <a:t> و مدیر بر جریان اطلاعات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r>
              <a:rPr lang="fa-IR" sz="2000" b="1" dirty="0">
                <a:cs typeface="B Nazanin" panose="00000400000000000000" pitchFamily="2" charset="-78"/>
              </a:rPr>
              <a:t>هزینه اقتصادی و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پایین</a:t>
            </a: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  <a:p>
            <a:pPr algn="r" rtl="1"/>
            <a:endParaRPr lang="fa-IR" sz="2000" b="1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8137893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A9D63-0D5C-6DEC-CA13-74CC6717A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dirty="0"/>
              <a:t>موارد استفاده </a:t>
            </a:r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D5725-6D96-2B6B-C5B1-FBACB654A1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3019295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EE280-61D4-C51E-550B-D6416CEC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4000" b="1" dirty="0">
                <a:cs typeface="B Nazanin" panose="00000400000000000000" pitchFamily="2" charset="-78"/>
              </a:rPr>
              <a:t>نحوه عملکرد </a:t>
            </a:r>
            <a:r>
              <a:rPr lang="en-US" sz="4000" b="1" dirty="0"/>
              <a:t>RAG</a:t>
            </a:r>
            <a:endParaRPr lang="fa-IR" sz="4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A5400-804E-F8B5-03A3-429E51912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156347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2620-32EF-ED06-86F4-F45D4D2DE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09014-3E9C-3A54-C1CE-4FC924A4F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226294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99FBF-A5B5-58B6-5DBF-49008626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63A0-3C26-B4A0-17C9-9E6666A0B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1449570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838</TotalTime>
  <Words>897</Words>
  <Application>Microsoft Office PowerPoint</Application>
  <PresentationFormat>Widescreen</PresentationFormat>
  <Paragraphs>111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RAG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PowerPoint Presentation</vt:lpstr>
      <vt:lpstr>مقایسه راهکارهای ایجاد دانش جدید در مدل‌های زبانی</vt:lpstr>
      <vt:lpstr>چرا RAG؟</vt:lpstr>
      <vt:lpstr>موارد استفاده RAG</vt:lpstr>
      <vt:lpstr>نحوه عملکرد RAG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150</cp:revision>
  <dcterms:created xsi:type="dcterms:W3CDTF">2024-02-19T06:46:45Z</dcterms:created>
  <dcterms:modified xsi:type="dcterms:W3CDTF">2024-02-20T12:44:02Z</dcterms:modified>
</cp:coreProperties>
</file>