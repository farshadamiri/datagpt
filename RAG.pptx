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3" r:id="rId8"/>
    <p:sldId id="274" r:id="rId9"/>
    <p:sldId id="272" r:id="rId10"/>
    <p:sldId id="261" r:id="rId11"/>
    <p:sldId id="270" r:id="rId12"/>
    <p:sldId id="263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6E6"/>
    <a:srgbClr val="6600FF"/>
    <a:srgbClr val="FF00FF"/>
    <a:srgbClr val="008000"/>
    <a:srgbClr val="B0DD7F"/>
    <a:srgbClr val="A2CAEC"/>
    <a:srgbClr val="CCFFCC"/>
    <a:srgbClr val="FFFF99"/>
    <a:srgbClr val="99FF99"/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36.03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1,'1339'0,"-1310"0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42.919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1,'637'0,"-620"0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1.59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1,'887'0,"-877"0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3.95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1,'1078'0,"-1056"0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6.27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1,'1129'0,"-1107"0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7.727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1,'4'0,"11"0,6 0,5 0,2 0,0 0,0 0,0 0,-5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0.03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1,'541'0,"-532"0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2.67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1,'1260'0,"-1238"0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5.71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1,'4'0,"6"0,6 0,4 0,3 0,2 0,6 0,6 0,-3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8.15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1,'1275'0,"-1275"0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11.65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1,'1326'0,"-1310"0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47.06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0,'1340'0,"-1306"0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7:16.31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1,'725'0,"-709"0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8:03.48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1,'659'0,"-645"0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59:04.88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1,'804'0,"-794"0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06.86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1,'953'0,"-937"0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52.801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1,'400'0,"-391"0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2017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53645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image" Target="../media/image1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customXml" Target="../ink/ink17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31" Type="http://schemas.openxmlformats.org/officeDocument/2006/relationships/customXml" Target="../ink/ink16.xml"/><Relationship Id="rId4" Type="http://schemas.openxmlformats.org/officeDocument/2006/relationships/image" Target="../media/image20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customXml" Target="../ink/ink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034329"/>
            <a:chOff x="1099548" y="2263724"/>
            <a:chExt cx="4082436" cy="3034329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034329"/>
              <a:chOff x="1275040" y="2263724"/>
              <a:chExt cx="3481309" cy="3034329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001334"/>
                <a:chOff x="1819985" y="1755724"/>
                <a:chExt cx="3481309" cy="3001334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001334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A5CDF1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solidFill>
              <a:srgbClr val="B0DD7F"/>
            </a:solidFill>
            <a:ln>
              <a:solidFill>
                <a:schemeClr val="accent6">
                  <a:lumMod val="75000"/>
                </a:schemeClr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Semantic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2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2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solidFill>
            <a:srgbClr val="A2CAEC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>
              <a:lnSpc>
                <a:spcPct val="150000"/>
              </a:lnSpc>
            </a:pPr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12863-AE5E-348D-AB22-F02F12F9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8567" y="131415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4B2926-C427-46EC-8610-9198B114C15D}"/>
              </a:ext>
            </a:extLst>
          </p:cNvPr>
          <p:cNvSpPr txBox="1"/>
          <p:nvPr/>
        </p:nvSpPr>
        <p:spPr>
          <a:xfrm>
            <a:off x="1987910" y="2009693"/>
            <a:ext cx="8713862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تهیه یک مجموعه واژگان از تمام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یک زبان و اختصاص یک علامت (عدد) به هر کدام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21DCBC4-AE27-6B36-2ED1-765793FC35AA}"/>
              </a:ext>
            </a:extLst>
          </p:cNvPr>
          <p:cNvGrpSpPr/>
          <p:nvPr/>
        </p:nvGrpSpPr>
        <p:grpSpPr>
          <a:xfrm>
            <a:off x="2245540" y="4871706"/>
            <a:ext cx="9100127" cy="551849"/>
            <a:chOff x="2623127" y="1274620"/>
            <a:chExt cx="9100127" cy="551849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2C50B10-C3B4-7430-4406-BDACE18FA733}"/>
                </a:ext>
              </a:extLst>
            </p:cNvPr>
            <p:cNvGrpSpPr/>
            <p:nvPr/>
          </p:nvGrpSpPr>
          <p:grpSpPr>
            <a:xfrm>
              <a:off x="2623127" y="1274620"/>
              <a:ext cx="9100127" cy="551849"/>
              <a:chOff x="2724727" y="1265384"/>
              <a:chExt cx="9100127" cy="55184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57B862-80D0-175E-E70C-1F0F8720F9F9}"/>
                  </a:ext>
                </a:extLst>
              </p:cNvPr>
              <p:cNvSpPr txBox="1"/>
              <p:nvPr/>
            </p:nvSpPr>
            <p:spPr>
              <a:xfrm>
                <a:off x="2724727" y="1265384"/>
                <a:ext cx="9100127" cy="461665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، </a:t>
                </a:r>
                <a:r>
                  <a:rPr lang="fa-IR" sz="2400" dirty="0" err="1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پر</a:t>
                </a:r>
                <a:r>
                  <a:rPr lang="fa-IR" sz="2400" dirty="0" err="1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جمع</a:t>
                </a:r>
                <a:r>
                  <a:rPr lang="fa-IR" sz="2400" dirty="0" err="1">
                    <a:solidFill>
                      <a:schemeClr val="accent3">
                        <a:lumMod val="50000"/>
                      </a:schemeClr>
                    </a:solidFill>
                    <a:cs typeface="B Nazanin" panose="00000400000000000000" pitchFamily="2" charset="-78"/>
                  </a:rPr>
                  <a:t>یت</a:t>
                </a:r>
                <a:r>
                  <a:rPr lang="fa-IR" sz="2400" dirty="0" err="1">
                    <a:cs typeface="B Nazanin" panose="00000400000000000000" pitchFamily="2" charset="-78"/>
                  </a:rPr>
                  <a:t>‌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تر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ین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شهر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پایتخت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ایران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6600FF"/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مرکز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 استان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می‌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باش</a:t>
                </a:r>
                <a:r>
                  <a:rPr lang="fa-IR" sz="2400" dirty="0" err="1">
                    <a:solidFill>
                      <a:srgbClr val="00B050"/>
                    </a:solidFill>
                    <a:cs typeface="B Nazanin" panose="00000400000000000000" pitchFamily="2" charset="-78"/>
                  </a:rPr>
                  <a:t>د</a:t>
                </a:r>
                <a:r>
                  <a:rPr lang="fa-IR" sz="2400" dirty="0">
                    <a:cs typeface="B Nazanin" panose="00000400000000000000" pitchFamily="2" charset="-78"/>
                  </a:rPr>
                  <a:t>. </a:t>
                </a: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14:cNvPr>
                  <p14:cNvContentPartPr/>
                  <p14:nvPr/>
                </p14:nvContentPartPr>
                <p14:xfrm>
                  <a:off x="11259079" y="1816873"/>
                  <a:ext cx="492840" cy="36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1252959" y="1810753"/>
                    <a:ext cx="50508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14:cNvPr>
                  <p14:cNvContentPartPr/>
                  <p14:nvPr/>
                </p14:nvContentPartPr>
                <p14:xfrm>
                  <a:off x="10944799" y="1816873"/>
                  <a:ext cx="236160" cy="36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938679" y="1810753"/>
                    <a:ext cx="248400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F8473EF-4941-9705-DBE6-A36D5E5C09A5}"/>
                  </a:ext>
                </a:extLst>
              </p:cNvPr>
              <p:cNvGrpSpPr/>
              <p:nvPr/>
            </p:nvGrpSpPr>
            <p:grpSpPr>
              <a:xfrm>
                <a:off x="7887803" y="1807525"/>
                <a:ext cx="3010556" cy="9596"/>
                <a:chOff x="7416749" y="1816761"/>
                <a:chExt cx="3010556" cy="9596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104291" y="1825997"/>
                    <a:ext cx="323014" cy="3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10098176" y="1819877"/>
                      <a:ext cx="335244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37945" y="1825997"/>
                    <a:ext cx="396360" cy="36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9331825" y="1819877"/>
                      <a:ext cx="408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29985" y="1816761"/>
                    <a:ext cx="414720" cy="36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8823865" y="1810641"/>
                      <a:ext cx="426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700385" y="1816761"/>
                    <a:ext cx="72720" cy="36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8694265" y="1810641"/>
                      <a:ext cx="84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403865" y="1816761"/>
                    <a:ext cx="197879" cy="3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8397749" y="1810641"/>
                      <a:ext cx="210112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416749" y="1816761"/>
                    <a:ext cx="461880" cy="36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7410629" y="1810641"/>
                      <a:ext cx="4741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F54C0632-9B5C-4652-2687-8D6CDE89B517}"/>
                  </a:ext>
                </a:extLst>
              </p:cNvPr>
              <p:cNvGrpSpPr/>
              <p:nvPr/>
            </p:nvGrpSpPr>
            <p:grpSpPr>
              <a:xfrm>
                <a:off x="7204399" y="1807525"/>
                <a:ext cx="598680" cy="360"/>
                <a:chOff x="6733345" y="1825997"/>
                <a:chExt cx="598680" cy="36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59665" y="1825997"/>
                    <a:ext cx="72360" cy="36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7253545" y="1819877"/>
                      <a:ext cx="84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1">
                  <p14:nvContentPartPr>
                    <p14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733345" y="1825997"/>
                    <a:ext cx="459360" cy="360"/>
                  </p14:xfrm>
                </p:contentPart>
              </mc:Choice>
              <mc:Fallback xmlns="">
                <p:pic>
                  <p:nvPicPr>
                    <p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:cNvPr>
                    <p:cNvPicPr/>
                    <p:nvPr/>
                  </p:nvPicPr>
                  <p:blipFill>
                    <a:blip r:embed="rId22"/>
                    <a:stretch>
                      <a:fillRect/>
                    </a:stretch>
                  </p:blipFill>
                  <p:spPr>
                    <a:xfrm>
                      <a:off x="6727225" y="1819877"/>
                      <a:ext cx="471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17BD9F6-433A-05F6-223E-62D0D130B07A}"/>
                  </a:ext>
                </a:extLst>
              </p:cNvPr>
              <p:cNvGrpSpPr/>
              <p:nvPr/>
            </p:nvGrpSpPr>
            <p:grpSpPr>
              <a:xfrm>
                <a:off x="6054323" y="1807153"/>
                <a:ext cx="1083960" cy="484"/>
                <a:chOff x="5569465" y="1825997"/>
                <a:chExt cx="1083960" cy="484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23">
                  <p14:nvContentPartPr>
                    <p14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9945" y="1825997"/>
                    <a:ext cx="483480" cy="360"/>
                  </p14:xfrm>
                </p:contentPart>
              </mc:Choice>
              <mc:Fallback xmlns="">
                <p:pic>
                  <p:nvPicPr>
                    <p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:cNvPr>
                    <p:cNvPicPr/>
                    <p:nvPr/>
                  </p:nvPicPr>
                  <p:blipFill>
                    <a:blip r:embed="rId24"/>
                    <a:stretch>
                      <a:fillRect/>
                    </a:stretch>
                  </p:blipFill>
                  <p:spPr>
                    <a:xfrm>
                      <a:off x="6163825" y="1819877"/>
                      <a:ext cx="4957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5">
                  <p14:nvContentPartPr>
                    <p14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69465" y="1826121"/>
                    <a:ext cx="495000" cy="360"/>
                  </p14:xfrm>
                </p:contentPart>
              </mc:Choice>
              <mc:Fallback xmlns="">
                <p:pic>
                  <p:nvPicPr>
                    <p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:cNvPr>
                    <p:cNvPicPr/>
                    <p:nvPr/>
                  </p:nvPicPr>
                  <p:blipFill>
                    <a:blip r:embed="rId26"/>
                    <a:stretch>
                      <a:fillRect/>
                    </a:stretch>
                  </p:blipFill>
                  <p:spPr>
                    <a:xfrm>
                      <a:off x="5563345" y="1820001"/>
                      <a:ext cx="50724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14:cNvPr>
                  <p14:cNvContentPartPr/>
                  <p14:nvPr/>
                </p14:nvContentPartPr>
                <p14:xfrm>
                  <a:off x="5403273" y="1807277"/>
                  <a:ext cx="266776" cy="36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397153" y="1801157"/>
                    <a:ext cx="27901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14:cNvPr>
                  <p14:cNvContentPartPr/>
                  <p14:nvPr/>
                </p14:nvContentPartPr>
                <p14:xfrm>
                  <a:off x="5715552" y="1806917"/>
                  <a:ext cx="242457" cy="36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709437" y="1800797"/>
                    <a:ext cx="254688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14:cNvPr>
                <p14:cNvContentPartPr/>
                <p14:nvPr/>
              </p14:nvContentPartPr>
              <p14:xfrm>
                <a:off x="10134309" y="1825997"/>
                <a:ext cx="292996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128197" y="1819877"/>
                  <a:ext cx="305219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14:cNvPr>
                <p14:cNvContentPartPr/>
                <p14:nvPr/>
              </p14:nvContentPartPr>
              <p14:xfrm>
                <a:off x="8351280" y="1816153"/>
                <a:ext cx="349106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345162" y="1810033"/>
                  <a:ext cx="361343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14:cNvPr>
                <p14:cNvContentPartPr/>
                <p14:nvPr/>
              </p14:nvContentPartPr>
              <p14:xfrm>
                <a:off x="5088716" y="1815793"/>
                <a:ext cx="14724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082611" y="1809673"/>
                  <a:ext cx="15945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E56C6C0B-B669-C96D-2267-69C8F20A1E89}"/>
              </a:ext>
            </a:extLst>
          </p:cNvPr>
          <p:cNvSpPr txBox="1"/>
          <p:nvPr/>
        </p:nvSpPr>
        <p:spPr>
          <a:xfrm>
            <a:off x="735957" y="969246"/>
            <a:ext cx="11095181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اول - </a:t>
            </a:r>
            <a:r>
              <a:rPr lang="en-US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endParaRPr lang="fa-IR" sz="2800" b="1" dirty="0">
              <a:solidFill>
                <a:schemeClr val="accent1"/>
              </a:solidFill>
              <a:cs typeface="B Nazanin" panose="00000400000000000000" pitchFamily="2" charset="-78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9F3B0D-DE63-277C-DA8E-4D26818A9641}"/>
              </a:ext>
            </a:extLst>
          </p:cNvPr>
          <p:cNvSpPr txBox="1"/>
          <p:nvPr/>
        </p:nvSpPr>
        <p:spPr>
          <a:xfrm>
            <a:off x="7045581" y="1471718"/>
            <a:ext cx="4058722" cy="41549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</a:t>
            </a:r>
            <a:r>
              <a:rPr lang="fa-IR" sz="2100" b="1" dirty="0" err="1">
                <a:solidFill>
                  <a:schemeClr val="accent1"/>
                </a:solidFill>
                <a:cs typeface="B Nazanin" panose="00000400000000000000" pitchFamily="2" charset="-78"/>
              </a:rPr>
              <a:t>علامت‌سازی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(</a:t>
            </a:r>
            <a:r>
              <a:rPr lang="en-US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) چیست؟ </a:t>
            </a:r>
          </a:p>
        </p:txBody>
      </p:sp>
      <p:cxnSp>
        <p:nvCxnSpPr>
          <p:cNvPr id="77" name="Connector: Curved 76">
            <a:extLst>
              <a:ext uri="{FF2B5EF4-FFF2-40B4-BE49-F238E27FC236}">
                <a16:creationId xmlns:a16="http://schemas.microsoft.com/office/drawing/2014/main" id="{C8F1E050-9A04-20A8-DB58-BC3DA2D2ACA7}"/>
              </a:ext>
            </a:extLst>
          </p:cNvPr>
          <p:cNvCxnSpPr>
            <a:cxnSpLocks/>
            <a:stCxn id="33" idx="3"/>
            <a:endCxn id="78" idx="3"/>
          </p:cNvCxnSpPr>
          <p:nvPr/>
        </p:nvCxnSpPr>
        <p:spPr>
          <a:xfrm>
            <a:off x="10701772" y="2209748"/>
            <a:ext cx="84932" cy="618485"/>
          </a:xfrm>
          <a:prstGeom prst="curvedConnector3">
            <a:avLst>
              <a:gd name="adj1" fmla="val 369157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B79FB899-4196-DFFD-92B0-0382FFB98744}"/>
              </a:ext>
            </a:extLst>
          </p:cNvPr>
          <p:cNvSpPr txBox="1"/>
          <p:nvPr/>
        </p:nvSpPr>
        <p:spPr>
          <a:xfrm>
            <a:off x="865339" y="2597400"/>
            <a:ext cx="9921365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400" b="1" dirty="0">
                <a:solidFill>
                  <a:schemeClr val="accent1"/>
                </a:solidFill>
                <a:cs typeface="B Nazanin" panose="00000400000000000000" pitchFamily="2" charset="-78"/>
              </a:rPr>
              <a:t>هدف:   </a:t>
            </a:r>
            <a:r>
              <a:rPr lang="fa-IR" sz="2000" b="1" dirty="0">
                <a:cs typeface="B Nazanin" panose="00000400000000000000" pitchFamily="2" charset="-78"/>
              </a:rPr>
              <a:t>ایجاد یک علامت ساز (</a:t>
            </a:r>
            <a:r>
              <a:rPr lang="en-US" sz="2000" b="1" dirty="0">
                <a:cs typeface="B Nazanin" panose="00000400000000000000" pitchFamily="2" charset="-78"/>
              </a:rPr>
              <a:t>Tokenizer</a:t>
            </a:r>
            <a:r>
              <a:rPr lang="fa-IR" sz="2000" b="1" dirty="0">
                <a:cs typeface="B Nazanin" panose="00000400000000000000" pitchFamily="2" charset="-78"/>
              </a:rPr>
              <a:t>) که جملات را شکسته و به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ادبی تقسیم‌ کند.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CAB574-9E5F-90D3-1A0F-0A02C193A697}"/>
              </a:ext>
            </a:extLst>
          </p:cNvPr>
          <p:cNvSpPr txBox="1"/>
          <p:nvPr/>
        </p:nvSpPr>
        <p:spPr>
          <a:xfrm>
            <a:off x="453201" y="3440545"/>
            <a:ext cx="824276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تهران</a:t>
            </a:r>
          </a:p>
          <a:p>
            <a:r>
              <a:rPr lang="fa-IR" b="1" dirty="0">
                <a:cs typeface="B Nazanin" panose="00000400000000000000" pitchFamily="2" charset="-78"/>
              </a:rPr>
              <a:t>پر</a:t>
            </a:r>
          </a:p>
          <a:p>
            <a:r>
              <a:rPr lang="fa-IR" b="1" dirty="0">
                <a:cs typeface="B Nazanin" panose="00000400000000000000" pitchFamily="2" charset="-78"/>
              </a:rPr>
              <a:t>جمع</a:t>
            </a:r>
          </a:p>
          <a:p>
            <a:r>
              <a:rPr lang="fa-IR" b="1" dirty="0" err="1">
                <a:cs typeface="B Nazanin" panose="00000400000000000000" pitchFamily="2" charset="-78"/>
              </a:rPr>
              <a:t>یت</a:t>
            </a:r>
            <a:endParaRPr lang="fa-IR" b="1" dirty="0">
              <a:cs typeface="B Nazanin" panose="00000400000000000000" pitchFamily="2" charset="-78"/>
            </a:endParaRPr>
          </a:p>
          <a:p>
            <a:r>
              <a:rPr lang="fa-IR" b="1" dirty="0">
                <a:cs typeface="B Nazanin" panose="00000400000000000000" pitchFamily="2" charset="-78"/>
              </a:rPr>
              <a:t>تر</a:t>
            </a:r>
          </a:p>
          <a:p>
            <a:r>
              <a:rPr lang="fa-IR" b="1" dirty="0">
                <a:cs typeface="B Nazanin" panose="00000400000000000000" pitchFamily="2" charset="-78"/>
              </a:rPr>
              <a:t>ین</a:t>
            </a:r>
          </a:p>
          <a:p>
            <a:r>
              <a:rPr lang="fa-IR" b="1" dirty="0">
                <a:cs typeface="B Nazanin" panose="00000400000000000000" pitchFamily="2" charset="-78"/>
              </a:rPr>
              <a:t>شهر</a:t>
            </a:r>
          </a:p>
          <a:p>
            <a:r>
              <a:rPr lang="fa-IR" b="1" dirty="0">
                <a:cs typeface="B Nazanin" panose="00000400000000000000" pitchFamily="2" charset="-78"/>
              </a:rPr>
              <a:t>و </a:t>
            </a:r>
          </a:p>
          <a:p>
            <a:r>
              <a:rPr lang="fa-IR" b="1" dirty="0">
                <a:cs typeface="B Nazanin" panose="00000400000000000000" pitchFamily="2" charset="-78"/>
              </a:rPr>
              <a:t>پایتخت</a:t>
            </a:r>
          </a:p>
          <a:p>
            <a:r>
              <a:rPr lang="fa-IR" b="1" dirty="0">
                <a:cs typeface="B Nazanin" panose="00000400000000000000" pitchFamily="2" charset="-78"/>
              </a:rPr>
              <a:t>...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23A0F3-C829-733E-0309-983AF5B4FF5A}"/>
              </a:ext>
            </a:extLst>
          </p:cNvPr>
          <p:cNvSpPr txBox="1"/>
          <p:nvPr/>
        </p:nvSpPr>
        <p:spPr>
          <a:xfrm>
            <a:off x="1588289" y="3440545"/>
            <a:ext cx="1084098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6325</a:t>
            </a:r>
          </a:p>
          <a:p>
            <a:r>
              <a:rPr lang="fa-IR" b="1" dirty="0">
                <a:cs typeface="B Nazanin" panose="00000400000000000000" pitchFamily="2" charset="-78"/>
              </a:rPr>
              <a:t>4521</a:t>
            </a:r>
          </a:p>
          <a:p>
            <a:r>
              <a:rPr lang="fa-IR" b="1" dirty="0">
                <a:cs typeface="B Nazanin" panose="00000400000000000000" pitchFamily="2" charset="-78"/>
              </a:rPr>
              <a:t>8240</a:t>
            </a:r>
          </a:p>
          <a:p>
            <a:r>
              <a:rPr lang="fa-IR" b="1" dirty="0">
                <a:cs typeface="B Nazanin" panose="00000400000000000000" pitchFamily="2" charset="-78"/>
              </a:rPr>
              <a:t>46231</a:t>
            </a:r>
          </a:p>
          <a:p>
            <a:r>
              <a:rPr lang="fa-IR" b="1" dirty="0">
                <a:cs typeface="B Nazanin" panose="00000400000000000000" pitchFamily="2" charset="-78"/>
              </a:rPr>
              <a:t>5812</a:t>
            </a:r>
          </a:p>
          <a:p>
            <a:r>
              <a:rPr lang="fa-IR" b="1" dirty="0">
                <a:cs typeface="B Nazanin" panose="00000400000000000000" pitchFamily="2" charset="-78"/>
              </a:rPr>
              <a:t>46790</a:t>
            </a:r>
          </a:p>
          <a:p>
            <a:r>
              <a:rPr lang="fa-IR" b="1" dirty="0">
                <a:cs typeface="B Nazanin" panose="00000400000000000000" pitchFamily="2" charset="-78"/>
              </a:rPr>
              <a:t>29746</a:t>
            </a:r>
          </a:p>
          <a:p>
            <a:r>
              <a:rPr lang="fa-IR" b="1" dirty="0">
                <a:cs typeface="B Nazanin" panose="00000400000000000000" pitchFamily="2" charset="-78"/>
              </a:rPr>
              <a:t>42032</a:t>
            </a:r>
          </a:p>
          <a:p>
            <a:r>
              <a:rPr lang="fa-IR" b="1" dirty="0">
                <a:cs typeface="B Nazanin" panose="00000400000000000000" pitchFamily="2" charset="-78"/>
              </a:rPr>
              <a:t>4163</a:t>
            </a:r>
          </a:p>
          <a:p>
            <a:r>
              <a:rPr lang="fa-IR" b="1" dirty="0">
                <a:cs typeface="B Nazanin" panose="00000400000000000000" pitchFamily="2" charset="-78"/>
              </a:rPr>
              <a:t>....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F01D7DB-4481-194F-F744-4200DFE6C211}"/>
              </a:ext>
            </a:extLst>
          </p:cNvPr>
          <p:cNvGrpSpPr/>
          <p:nvPr/>
        </p:nvGrpSpPr>
        <p:grpSpPr>
          <a:xfrm>
            <a:off x="2350793" y="3514737"/>
            <a:ext cx="5338184" cy="1016601"/>
            <a:chOff x="2554296" y="3667463"/>
            <a:chExt cx="5338184" cy="1016601"/>
          </a:xfrm>
        </p:grpSpPr>
        <p:sp>
          <p:nvSpPr>
            <p:cNvPr id="92" name="Callout: Left Arrow 91">
              <a:extLst>
                <a:ext uri="{FF2B5EF4-FFF2-40B4-BE49-F238E27FC236}">
                  <a16:creationId xmlns:a16="http://schemas.microsoft.com/office/drawing/2014/main" id="{433193C1-9D6C-DE90-75EE-37C44A2BF010}"/>
                </a:ext>
              </a:extLst>
            </p:cNvPr>
            <p:cNvSpPr/>
            <p:nvPr/>
          </p:nvSpPr>
          <p:spPr>
            <a:xfrm>
              <a:off x="2554296" y="3667463"/>
              <a:ext cx="5338184" cy="1016601"/>
            </a:xfrm>
            <a:prstGeom prst="leftArrowCallout">
              <a:avLst>
                <a:gd name="adj1" fmla="val 25000"/>
                <a:gd name="adj2" fmla="val 25909"/>
                <a:gd name="adj3" fmla="val 25000"/>
                <a:gd name="adj4" fmla="val 89777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6405D8B-3A4A-AC10-44FD-BC327A157A11}"/>
                </a:ext>
              </a:extLst>
            </p:cNvPr>
            <p:cNvSpPr txBox="1"/>
            <p:nvPr/>
          </p:nvSpPr>
          <p:spPr>
            <a:xfrm>
              <a:off x="2976534" y="3743181"/>
              <a:ext cx="4835661" cy="877163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مقدار عدد هر لغت در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علامت‌گذاری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اهمیت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محاسباتی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ندارد.</a:t>
              </a:r>
            </a:p>
            <a:p>
              <a:pPr algn="r" rtl="1"/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در واقع، اعداد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شمارشی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و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غیرترتیبی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هستند.</a:t>
              </a:r>
            </a:p>
            <a:p>
              <a:pPr algn="r" rtl="1"/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علامت‌گذاری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لغات معمولا به ترتیب حروف الفبا انجام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می‌شود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.</a:t>
              </a:r>
              <a:endParaRPr lang="en-US" sz="17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7D5AB795-BA43-7986-F298-2612D598A205}"/>
              </a:ext>
            </a:extLst>
          </p:cNvPr>
          <p:cNvSpPr txBox="1"/>
          <p:nvPr/>
        </p:nvSpPr>
        <p:spPr>
          <a:xfrm>
            <a:off x="3975959" y="5474035"/>
            <a:ext cx="7426036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cs typeface="B Nazanin" panose="00000400000000000000" pitchFamily="2" charset="-78"/>
              </a:rPr>
              <a:t>6325 – 4521-8240-46231-5812-46790-29746-42032-4163- ..................................................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E7461EC-92F1-C08E-FF13-AE001323EA24}"/>
              </a:ext>
            </a:extLst>
          </p:cNvPr>
          <p:cNvGrpSpPr/>
          <p:nvPr/>
        </p:nvGrpSpPr>
        <p:grpSpPr>
          <a:xfrm>
            <a:off x="2900218" y="6098256"/>
            <a:ext cx="8487954" cy="523220"/>
            <a:chOff x="2900218" y="6098256"/>
            <a:chExt cx="8487954" cy="523220"/>
          </a:xfrm>
        </p:grpSpPr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86B6D41C-7165-1503-1349-F84B86A66409}"/>
                </a:ext>
              </a:extLst>
            </p:cNvPr>
            <p:cNvSpPr/>
            <p:nvPr/>
          </p:nvSpPr>
          <p:spPr>
            <a:xfrm>
              <a:off x="2900218" y="6098256"/>
              <a:ext cx="8487954" cy="523220"/>
            </a:xfrm>
            <a:prstGeom prst="roundRect">
              <a:avLst/>
            </a:prstGeom>
            <a:solidFill>
              <a:schemeClr val="bg2"/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AAEAB3-FB3F-F883-E5F2-8ADD4D8683CC}"/>
                </a:ext>
              </a:extLst>
            </p:cNvPr>
            <p:cNvSpPr txBox="1"/>
            <p:nvPr/>
          </p:nvSpPr>
          <p:spPr>
            <a:xfrm>
              <a:off x="2900218" y="6174281"/>
              <a:ext cx="8445450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en-US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(BPE) Byte Pair Encoding</a:t>
              </a:r>
              <a:r>
                <a:rPr lang="fa-IR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علامت‌ساز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غالب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مدل‌های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زبانی جدید نظیر 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GPT-4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است.</a:t>
              </a:r>
            </a:p>
          </p:txBody>
        </p:sp>
      </p:grpSp>
      <p:cxnSp>
        <p:nvCxnSpPr>
          <p:cNvPr id="103" name="Connector: Curved 102">
            <a:extLst>
              <a:ext uri="{FF2B5EF4-FFF2-40B4-BE49-F238E27FC236}">
                <a16:creationId xmlns:a16="http://schemas.microsoft.com/office/drawing/2014/main" id="{B0EF862A-C43F-13BF-3A2A-0543B5F1C379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10701772" y="2209748"/>
            <a:ext cx="882719" cy="1060411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6E63F922-2DB2-C967-A722-5954529067CA}"/>
              </a:ext>
            </a:extLst>
          </p:cNvPr>
          <p:cNvSpPr txBox="1"/>
          <p:nvPr/>
        </p:nvSpPr>
        <p:spPr>
          <a:xfrm>
            <a:off x="8970926" y="3319054"/>
            <a:ext cx="2783172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اندازه این مجموعه واژگان معمولا بین 50000 تا 500000 لغت است.</a:t>
            </a:r>
          </a:p>
        </p:txBody>
      </p:sp>
    </p:spTree>
    <p:extLst>
      <p:ext uri="{BB962C8B-B14F-4D97-AF65-F5344CB8AC3E}">
        <p14:creationId xmlns:p14="http://schemas.microsoft.com/office/powerpoint/2010/main" val="2928052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70DA8C4-9B41-250F-1106-DFA84C99B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9494" y="134802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F80226-4C4C-4297-F4C6-7BFF92C0997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004455" y="1163397"/>
            <a:ext cx="10515600" cy="49090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indent="0" algn="r" rtl="1">
              <a:buNone/>
            </a:pPr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دوم – آموزش مدل بر روی داده‌ متنی عظیم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AD6D-9DA3-6962-5BD5-52B2BA4CDC67}"/>
              </a:ext>
            </a:extLst>
          </p:cNvPr>
          <p:cNvSpPr txBox="1"/>
          <p:nvPr/>
        </p:nvSpPr>
        <p:spPr>
          <a:xfrm>
            <a:off x="847405" y="1692760"/>
            <a:ext cx="10621819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در این مرحله، بر اساس یک اندازه پنجره انتخابی، متن را تکه </a:t>
            </a:r>
            <a:r>
              <a:rPr lang="fa-IR" b="1" dirty="0" err="1">
                <a:cs typeface="B Nazanin" panose="00000400000000000000" pitchFamily="2" charset="-78"/>
              </a:rPr>
              <a:t>تکه</a:t>
            </a:r>
            <a:r>
              <a:rPr lang="fa-IR" b="1" dirty="0">
                <a:cs typeface="B Nazanin" panose="00000400000000000000" pitchFamily="2" charset="-78"/>
              </a:rPr>
              <a:t> </a:t>
            </a:r>
            <a:r>
              <a:rPr lang="fa-IR" b="1" dirty="0" err="1">
                <a:cs typeface="B Nazanin" panose="00000400000000000000" pitchFamily="2" charset="-78"/>
              </a:rPr>
              <a:t>می‌کنیم</a:t>
            </a:r>
            <a:r>
              <a:rPr lang="fa-IR" b="1" dirty="0">
                <a:cs typeface="B Nazanin" panose="00000400000000000000" pitchFamily="2" charset="-78"/>
              </a:rPr>
              <a:t>. سپس، روی هر تکه ، لغت میانی را بر باقی لغات آن تکه متن بر یک مدل شبکه عصبی مصنوعی (با لایه آخر </a:t>
            </a:r>
            <a:r>
              <a:rPr lang="en-US" b="1" dirty="0">
                <a:cs typeface="B Nazanin" panose="00000400000000000000" pitchFamily="2" charset="-78"/>
              </a:rPr>
              <a:t>(</a:t>
            </a:r>
            <a:r>
              <a:rPr lang="en-US" b="1" dirty="0" err="1">
                <a:cs typeface="B Nazanin" panose="00000400000000000000" pitchFamily="2" charset="-78"/>
              </a:rPr>
              <a:t>Softmax</a:t>
            </a:r>
            <a:r>
              <a:rPr lang="fa-IR" b="1" dirty="0">
                <a:cs typeface="B Nazanin" panose="00000400000000000000" pitchFamily="2" charset="-78"/>
              </a:rPr>
              <a:t> آموزش </a:t>
            </a:r>
            <a:r>
              <a:rPr lang="fa-IR" b="1" dirty="0" err="1">
                <a:cs typeface="B Nazanin" panose="00000400000000000000" pitchFamily="2" charset="-78"/>
              </a:rPr>
              <a:t>می‌دهیم</a:t>
            </a:r>
            <a:r>
              <a:rPr lang="fa-IR" b="1" dirty="0">
                <a:cs typeface="B Nazanin" panose="00000400000000000000" pitchFamily="2" charset="-78"/>
              </a:rPr>
              <a:t>. در نهایت، خروجی لایه قبل از </a:t>
            </a:r>
            <a:r>
              <a:rPr lang="en-US" b="1" dirty="0" err="1">
                <a:cs typeface="B Nazanin" panose="00000400000000000000" pitchFamily="2" charset="-78"/>
              </a:rPr>
              <a:t>Softmax</a:t>
            </a:r>
            <a:r>
              <a:rPr lang="fa-IR" b="1" dirty="0">
                <a:cs typeface="B Nazanin" panose="00000400000000000000" pitchFamily="2" charset="-78"/>
              </a:rPr>
              <a:t> ، بردار معنایی به </a:t>
            </a:r>
            <a:r>
              <a:rPr lang="fa-IR" b="1" dirty="0" err="1">
                <a:cs typeface="B Nazanin" panose="00000400000000000000" pitchFamily="2" charset="-78"/>
              </a:rPr>
              <a:t>ازای</a:t>
            </a:r>
            <a:r>
              <a:rPr lang="fa-IR" b="1" dirty="0">
                <a:cs typeface="B Nazanin" panose="00000400000000000000" pitchFamily="2" charset="-78"/>
              </a:rPr>
              <a:t> لغت ورودی است. </a:t>
            </a:r>
            <a:endParaRPr lang="fa-IR" dirty="0">
              <a:cs typeface="B Nazanin" panose="00000400000000000000" pitchFamily="2" charset="-78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BCABD63-4BD4-5A86-70EA-BC319BFA16A6}"/>
              </a:ext>
            </a:extLst>
          </p:cNvPr>
          <p:cNvGrpSpPr/>
          <p:nvPr/>
        </p:nvGrpSpPr>
        <p:grpSpPr>
          <a:xfrm>
            <a:off x="1329221" y="2355395"/>
            <a:ext cx="2202872" cy="3483523"/>
            <a:chOff x="1145310" y="2687918"/>
            <a:chExt cx="2202872" cy="3483523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A5BCF66-2DCA-2EE3-F7CF-A42687D537ED}"/>
                </a:ext>
              </a:extLst>
            </p:cNvPr>
            <p:cNvCxnSpPr>
              <a:cxnSpLocks/>
              <a:stCxn id="35" idx="6"/>
              <a:endCxn id="38" idx="2"/>
            </p:cNvCxnSpPr>
            <p:nvPr/>
          </p:nvCxnSpPr>
          <p:spPr>
            <a:xfrm flipV="1">
              <a:off x="1722587" y="2915673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7983E7-0241-5BCE-E29A-ADB65090CC4F}"/>
                </a:ext>
              </a:extLst>
            </p:cNvPr>
            <p:cNvCxnSpPr>
              <a:cxnSpLocks/>
              <a:stCxn id="35" idx="6"/>
              <a:endCxn id="48" idx="2"/>
            </p:cNvCxnSpPr>
            <p:nvPr/>
          </p:nvCxnSpPr>
          <p:spPr>
            <a:xfrm flipV="1">
              <a:off x="1722587" y="3506879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751CCF5-9F97-544F-F9E5-A5855BE9AC0C}"/>
                </a:ext>
              </a:extLst>
            </p:cNvPr>
            <p:cNvCxnSpPr>
              <a:cxnSpLocks/>
              <a:stCxn id="41" idx="2"/>
              <a:endCxn id="35" idx="6"/>
            </p:cNvCxnSpPr>
            <p:nvPr/>
          </p:nvCxnSpPr>
          <p:spPr>
            <a:xfrm flipH="1" flipV="1">
              <a:off x="1722587" y="4350523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14AB66-2900-88DC-3C3C-971344A3E715}"/>
                </a:ext>
              </a:extLst>
            </p:cNvPr>
            <p:cNvCxnSpPr>
              <a:cxnSpLocks/>
              <a:stCxn id="35" idx="6"/>
              <a:endCxn id="49" idx="2"/>
            </p:cNvCxnSpPr>
            <p:nvPr/>
          </p:nvCxnSpPr>
          <p:spPr>
            <a:xfrm flipV="1">
              <a:off x="1722587" y="4141437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890137C-6B84-500C-A633-9D2C8B23F1DA}"/>
                </a:ext>
              </a:extLst>
            </p:cNvPr>
            <p:cNvCxnSpPr>
              <a:cxnSpLocks/>
              <a:stCxn id="35" idx="6"/>
              <a:endCxn id="40" idx="2"/>
            </p:cNvCxnSpPr>
            <p:nvPr/>
          </p:nvCxnSpPr>
          <p:spPr>
            <a:xfrm>
              <a:off x="1722587" y="4350523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506529E-1008-2591-0100-C6AF03AE8A28}"/>
                </a:ext>
              </a:extLst>
            </p:cNvPr>
            <p:cNvCxnSpPr>
              <a:cxnSpLocks/>
              <a:stCxn id="39" idx="2"/>
              <a:endCxn id="35" idx="6"/>
            </p:cNvCxnSpPr>
            <p:nvPr/>
          </p:nvCxnSpPr>
          <p:spPr>
            <a:xfrm flipH="1" flipV="1">
              <a:off x="1722587" y="4350523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7D3A2EE-AB6E-13B0-4CD9-626E6399423B}"/>
                </a:ext>
              </a:extLst>
            </p:cNvPr>
            <p:cNvSpPr/>
            <p:nvPr/>
          </p:nvSpPr>
          <p:spPr>
            <a:xfrm>
              <a:off x="1145310" y="4073627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E312E-7479-B0FF-69CF-FDCE502E147F}"/>
                </a:ext>
              </a:extLst>
            </p:cNvPr>
            <p:cNvSpPr/>
            <p:nvPr/>
          </p:nvSpPr>
          <p:spPr>
            <a:xfrm>
              <a:off x="2875507" y="2687918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2908967-B611-E6A0-4AAF-D3464A9112CC}"/>
                </a:ext>
              </a:extLst>
            </p:cNvPr>
            <p:cNvSpPr/>
            <p:nvPr/>
          </p:nvSpPr>
          <p:spPr>
            <a:xfrm>
              <a:off x="2895590" y="45318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B094723E-B0C5-3C3C-2A15-09C1DBD4AE02}"/>
                </a:ext>
              </a:extLst>
            </p:cNvPr>
            <p:cNvSpPr/>
            <p:nvPr/>
          </p:nvSpPr>
          <p:spPr>
            <a:xfrm>
              <a:off x="2895591" y="515008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D808417-FE93-992B-CAF2-CE7D075F58B0}"/>
                </a:ext>
              </a:extLst>
            </p:cNvPr>
            <p:cNvSpPr/>
            <p:nvPr/>
          </p:nvSpPr>
          <p:spPr>
            <a:xfrm>
              <a:off x="2895591" y="571593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7EAC36E-E360-5F96-392A-5B5F24CB0413}"/>
                </a:ext>
              </a:extLst>
            </p:cNvPr>
            <p:cNvSpPr/>
            <p:nvPr/>
          </p:nvSpPr>
          <p:spPr>
            <a:xfrm>
              <a:off x="2875508" y="3279124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30581EB-88DB-5B4F-C0C3-F0FDD3FF6EE7}"/>
                </a:ext>
              </a:extLst>
            </p:cNvPr>
            <p:cNvSpPr/>
            <p:nvPr/>
          </p:nvSpPr>
          <p:spPr>
            <a:xfrm>
              <a:off x="2875507" y="391368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CE9F8CE2-633C-F8BB-E6F8-AD29E03F2AA8}"/>
              </a:ext>
            </a:extLst>
          </p:cNvPr>
          <p:cNvSpPr txBox="1"/>
          <p:nvPr/>
        </p:nvSpPr>
        <p:spPr>
          <a:xfrm>
            <a:off x="3473106" y="3585287"/>
            <a:ext cx="1152921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4000" dirty="0"/>
              <a:t>......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7087D66-AF1C-4043-E102-CE77F17CB5E7}"/>
              </a:ext>
            </a:extLst>
          </p:cNvPr>
          <p:cNvSpPr txBox="1"/>
          <p:nvPr/>
        </p:nvSpPr>
        <p:spPr>
          <a:xfrm>
            <a:off x="6016158" y="4436061"/>
            <a:ext cx="10067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</a:rPr>
              <a:t>Softmax</a:t>
            </a:r>
            <a:endParaRPr lang="fa-IR" b="1" dirty="0">
              <a:solidFill>
                <a:srgbClr val="C00000"/>
              </a:solidFill>
            </a:endParaRP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22C100C-599B-0C3D-CEAF-5AD6CC8392E5}"/>
              </a:ext>
            </a:extLst>
          </p:cNvPr>
          <p:cNvGrpSpPr/>
          <p:nvPr/>
        </p:nvGrpSpPr>
        <p:grpSpPr>
          <a:xfrm rot="10800000">
            <a:off x="4538887" y="2355395"/>
            <a:ext cx="2202872" cy="3483523"/>
            <a:chOff x="5375563" y="2592385"/>
            <a:chExt cx="2202872" cy="3483523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5AE18A0-6C6C-49D4-5850-577C90C4236E}"/>
                </a:ext>
              </a:extLst>
            </p:cNvPr>
            <p:cNvCxnSpPr>
              <a:cxnSpLocks/>
              <a:stCxn id="142" idx="6"/>
              <a:endCxn id="143" idx="2"/>
            </p:cNvCxnSpPr>
            <p:nvPr/>
          </p:nvCxnSpPr>
          <p:spPr>
            <a:xfrm flipV="1">
              <a:off x="5952840" y="2820140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37B1489-F02C-65A6-3958-7787722C8449}"/>
                </a:ext>
              </a:extLst>
            </p:cNvPr>
            <p:cNvCxnSpPr>
              <a:cxnSpLocks/>
              <a:stCxn id="142" idx="6"/>
              <a:endCxn id="147" idx="2"/>
            </p:cNvCxnSpPr>
            <p:nvPr/>
          </p:nvCxnSpPr>
          <p:spPr>
            <a:xfrm flipV="1">
              <a:off x="5952840" y="3411346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7BA24AEB-1B97-B68B-2D61-F1826EA7D5DB}"/>
                </a:ext>
              </a:extLst>
            </p:cNvPr>
            <p:cNvCxnSpPr>
              <a:cxnSpLocks/>
              <a:stCxn id="146" idx="2"/>
              <a:endCxn id="142" idx="6"/>
            </p:cNvCxnSpPr>
            <p:nvPr/>
          </p:nvCxnSpPr>
          <p:spPr>
            <a:xfrm flipH="1" flipV="1">
              <a:off x="5952840" y="4254990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47349654-3A8B-4CFC-EC8C-773838A36F64}"/>
                </a:ext>
              </a:extLst>
            </p:cNvPr>
            <p:cNvCxnSpPr>
              <a:cxnSpLocks/>
              <a:stCxn id="142" idx="6"/>
              <a:endCxn id="148" idx="2"/>
            </p:cNvCxnSpPr>
            <p:nvPr/>
          </p:nvCxnSpPr>
          <p:spPr>
            <a:xfrm flipV="1">
              <a:off x="5952840" y="4045904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293C701-BD94-F7CA-E176-EB5A70B6FB45}"/>
                </a:ext>
              </a:extLst>
            </p:cNvPr>
            <p:cNvCxnSpPr>
              <a:cxnSpLocks/>
              <a:stCxn id="142" idx="6"/>
              <a:endCxn id="145" idx="2"/>
            </p:cNvCxnSpPr>
            <p:nvPr/>
          </p:nvCxnSpPr>
          <p:spPr>
            <a:xfrm>
              <a:off x="5952840" y="4254990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02F93D67-1575-003B-97DB-BA9EFD6B1A53}"/>
                </a:ext>
              </a:extLst>
            </p:cNvPr>
            <p:cNvCxnSpPr>
              <a:cxnSpLocks/>
              <a:stCxn id="144" idx="2"/>
              <a:endCxn id="142" idx="6"/>
            </p:cNvCxnSpPr>
            <p:nvPr/>
          </p:nvCxnSpPr>
          <p:spPr>
            <a:xfrm flipH="1" flipV="1">
              <a:off x="5952840" y="4254990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28207281-745F-E165-8BB8-84F56E142265}"/>
                </a:ext>
              </a:extLst>
            </p:cNvPr>
            <p:cNvSpPr/>
            <p:nvPr/>
          </p:nvSpPr>
          <p:spPr>
            <a:xfrm>
              <a:off x="5375563" y="3978094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F2D18AB6-E64C-DC4F-CCF3-2280D1760C89}"/>
                </a:ext>
              </a:extLst>
            </p:cNvPr>
            <p:cNvSpPr/>
            <p:nvPr/>
          </p:nvSpPr>
          <p:spPr>
            <a:xfrm>
              <a:off x="7105760" y="25923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8F3AF6F4-5C8B-3D38-20E9-DE73AECACF90}"/>
                </a:ext>
              </a:extLst>
            </p:cNvPr>
            <p:cNvSpPr/>
            <p:nvPr/>
          </p:nvSpPr>
          <p:spPr>
            <a:xfrm>
              <a:off x="7125843" y="443635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50901EC1-9ADD-CC0D-05EA-87726F3D8E22}"/>
                </a:ext>
              </a:extLst>
            </p:cNvPr>
            <p:cNvSpPr/>
            <p:nvPr/>
          </p:nvSpPr>
          <p:spPr>
            <a:xfrm>
              <a:off x="7125844" y="5054556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EB4515E-CF85-9DEE-51FF-D48D5316846C}"/>
                </a:ext>
              </a:extLst>
            </p:cNvPr>
            <p:cNvSpPr/>
            <p:nvPr/>
          </p:nvSpPr>
          <p:spPr>
            <a:xfrm>
              <a:off x="7125844" y="562039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72FF4EEE-5D88-95BB-9069-45B3CFEE5E5B}"/>
                </a:ext>
              </a:extLst>
            </p:cNvPr>
            <p:cNvSpPr/>
            <p:nvPr/>
          </p:nvSpPr>
          <p:spPr>
            <a:xfrm>
              <a:off x="7105761" y="3183591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5501C51A-EF88-E619-873F-795327273BB8}"/>
                </a:ext>
              </a:extLst>
            </p:cNvPr>
            <p:cNvSpPr/>
            <p:nvPr/>
          </p:nvSpPr>
          <p:spPr>
            <a:xfrm>
              <a:off x="7105760" y="381814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0520986-EF5F-1874-0055-B32229EB706E}"/>
              </a:ext>
            </a:extLst>
          </p:cNvPr>
          <p:cNvGrpSpPr/>
          <p:nvPr/>
        </p:nvGrpSpPr>
        <p:grpSpPr>
          <a:xfrm>
            <a:off x="6143211" y="2180712"/>
            <a:ext cx="5611099" cy="2065822"/>
            <a:chOff x="5938241" y="2429918"/>
            <a:chExt cx="5611099" cy="206582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604D09-D355-6442-4C61-EDC9793346AA}"/>
                </a:ext>
              </a:extLst>
            </p:cNvPr>
            <p:cNvSpPr txBox="1"/>
            <p:nvPr/>
          </p:nvSpPr>
          <p:spPr>
            <a:xfrm>
              <a:off x="5938241" y="3091473"/>
              <a:ext cx="5611099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/>
              <a:r>
                <a:rPr lang="fa-IR" b="1" dirty="0">
                  <a:cs typeface="B Nazanin" panose="00000400000000000000" pitchFamily="2" charset="-78"/>
                </a:rPr>
                <a:t>تهران، </a:t>
              </a:r>
              <a:r>
                <a:rPr lang="fa-IR" b="1" dirty="0" err="1">
                  <a:cs typeface="B Nazanin" panose="00000400000000000000" pitchFamily="2" charset="-78"/>
                </a:rPr>
                <a:t>پرجمعیت‌ترین</a:t>
              </a:r>
              <a:r>
                <a:rPr lang="fa-IR" b="1" dirty="0">
                  <a:cs typeface="B Nazanin" panose="00000400000000000000" pitchFamily="2" charset="-78"/>
                </a:rPr>
                <a:t> شهر و </a:t>
              </a:r>
              <a:r>
                <a:rPr lang="fa-IR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پایتخت</a:t>
              </a:r>
              <a:r>
                <a:rPr lang="fa-IR" b="1" dirty="0">
                  <a:cs typeface="B Nazanin" panose="00000400000000000000" pitchFamily="2" charset="-78"/>
                </a:rPr>
                <a:t> ایران و مرکز استان تهران است.</a:t>
              </a:r>
              <a:endParaRPr lang="fa-IR" dirty="0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806B1D85-E0F1-7207-198D-81A00FD73C49}"/>
                </a:ext>
              </a:extLst>
            </p:cNvPr>
            <p:cNvSpPr/>
            <p:nvPr/>
          </p:nvSpPr>
          <p:spPr>
            <a:xfrm rot="6051015">
              <a:off x="8962135" y="3061057"/>
              <a:ext cx="553086" cy="68171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BC328F1F-50B8-83B7-D4C9-648B311F8AF1}"/>
                </a:ext>
              </a:extLst>
            </p:cNvPr>
            <p:cNvSpPr/>
            <p:nvPr/>
          </p:nvSpPr>
          <p:spPr>
            <a:xfrm rot="5400000">
              <a:off x="8999747" y="2894364"/>
              <a:ext cx="848192" cy="1052048"/>
            </a:xfrm>
            <a:prstGeom prst="arc">
              <a:avLst>
                <a:gd name="adj1" fmla="val 16460231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5D9C191B-F3B7-626C-8CDE-06F255FB7598}"/>
                </a:ext>
              </a:extLst>
            </p:cNvPr>
            <p:cNvSpPr/>
            <p:nvPr/>
          </p:nvSpPr>
          <p:spPr>
            <a:xfrm rot="5400000">
              <a:off x="9044510" y="2628984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5AD3E7CC-289C-6FEF-D8FA-88B522D43B4A}"/>
                </a:ext>
              </a:extLst>
            </p:cNvPr>
            <p:cNvSpPr/>
            <p:nvPr/>
          </p:nvSpPr>
          <p:spPr>
            <a:xfrm rot="5400000">
              <a:off x="9038260" y="2289475"/>
              <a:ext cx="2065822" cy="234670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E5C4F01E-BF5D-D49F-2F38-345F6AAB7E92}"/>
                </a:ext>
              </a:extLst>
            </p:cNvPr>
            <p:cNvSpPr/>
            <p:nvPr/>
          </p:nvSpPr>
          <p:spPr>
            <a:xfrm rot="5400000">
              <a:off x="7394808" y="2597678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D443A61D-4658-6710-F83A-B62935098F96}"/>
                </a:ext>
              </a:extLst>
            </p:cNvPr>
            <p:cNvSpPr/>
            <p:nvPr/>
          </p:nvSpPr>
          <p:spPr>
            <a:xfrm rot="5400000">
              <a:off x="8355259" y="3193852"/>
              <a:ext cx="575639" cy="57727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25F0790C-D6CD-0501-F0E2-536C514E25B6}"/>
                </a:ext>
              </a:extLst>
            </p:cNvPr>
            <p:cNvSpPr/>
            <p:nvPr/>
          </p:nvSpPr>
          <p:spPr>
            <a:xfrm rot="5400000">
              <a:off x="7866292" y="2944090"/>
              <a:ext cx="1068654" cy="1006764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50D5B86B-CE4A-C241-194F-99E3E34C9453}"/>
                </a:ext>
              </a:extLst>
            </p:cNvPr>
            <p:cNvSpPr/>
            <p:nvPr/>
          </p:nvSpPr>
          <p:spPr>
            <a:xfrm rot="5400000">
              <a:off x="7059661" y="2359054"/>
              <a:ext cx="1640014" cy="2067252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B6C88CA1-3E56-317A-224B-767B855AC95C}"/>
                </a:ext>
              </a:extLst>
            </p:cNvPr>
            <p:cNvSpPr/>
            <p:nvPr/>
          </p:nvSpPr>
          <p:spPr>
            <a:xfrm rot="5400000">
              <a:off x="6790949" y="2149277"/>
              <a:ext cx="1735337" cy="2478397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473E07C-F7C2-5FBC-0106-13D9B632C755}"/>
              </a:ext>
            </a:extLst>
          </p:cNvPr>
          <p:cNvSpPr txBox="1"/>
          <p:nvPr/>
        </p:nvSpPr>
        <p:spPr>
          <a:xfrm>
            <a:off x="336818" y="3792150"/>
            <a:ext cx="874839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6325</a:t>
            </a:r>
          </a:p>
          <a:p>
            <a:pPr algn="ctr"/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(تهران)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856741A-45CA-0D14-D1DA-3B23E7101C05}"/>
              </a:ext>
            </a:extLst>
          </p:cNvPr>
          <p:cNvCxnSpPr>
            <a:cxnSpLocks/>
            <a:stCxn id="44" idx="0"/>
            <a:endCxn id="35" idx="0"/>
          </p:cNvCxnSpPr>
          <p:nvPr/>
        </p:nvCxnSpPr>
        <p:spPr>
          <a:xfrm rot="5400000" flipH="1" flipV="1">
            <a:off x="1170526" y="3344816"/>
            <a:ext cx="51046" cy="843622"/>
          </a:xfrm>
          <a:prstGeom prst="curvedConnector3">
            <a:avLst>
              <a:gd name="adj1" fmla="val 547831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F82B8D4-560C-5A59-44F8-91CA5D45C86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13175" y="5288915"/>
            <a:ext cx="81979" cy="777082"/>
          </a:xfrm>
          <a:prstGeom prst="curvedConnector3">
            <a:avLst>
              <a:gd name="adj1" fmla="val -274625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49C7F24-A237-B859-05DC-558AA762190B}"/>
              </a:ext>
            </a:extLst>
          </p:cNvPr>
          <p:cNvSpPr txBox="1"/>
          <p:nvPr/>
        </p:nvSpPr>
        <p:spPr>
          <a:xfrm>
            <a:off x="6178703" y="5214489"/>
            <a:ext cx="115292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EBA58AD-E192-39CF-07B6-618F67A3E640}"/>
              </a:ext>
            </a:extLst>
          </p:cNvPr>
          <p:cNvGrpSpPr/>
          <p:nvPr/>
        </p:nvGrpSpPr>
        <p:grpSpPr>
          <a:xfrm>
            <a:off x="8423564" y="4893738"/>
            <a:ext cx="3593822" cy="1008964"/>
            <a:chOff x="8423564" y="4606535"/>
            <a:chExt cx="3593822" cy="1008964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BE6A9D1F-3F66-2B45-DF40-F73D814CF2B8}"/>
                </a:ext>
              </a:extLst>
            </p:cNvPr>
            <p:cNvSpPr/>
            <p:nvPr/>
          </p:nvSpPr>
          <p:spPr>
            <a:xfrm>
              <a:off x="8497021" y="4606535"/>
              <a:ext cx="3520365" cy="1008964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D3C5887-4B62-B78A-0D04-73BB92AF6037}"/>
                </a:ext>
              </a:extLst>
            </p:cNvPr>
            <p:cNvSpPr txBox="1"/>
            <p:nvPr/>
          </p:nvSpPr>
          <p:spPr>
            <a:xfrm>
              <a:off x="8423564" y="4634118"/>
              <a:ext cx="3520364" cy="877163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700" b="1" dirty="0">
                  <a:cs typeface="B Nazanin" panose="00000400000000000000" pitchFamily="2" charset="-78"/>
                </a:rPr>
                <a:t>سرانجام، </a:t>
              </a:r>
              <a:r>
                <a:rPr lang="fa-IR" sz="1700" b="1" dirty="0" err="1">
                  <a:cs typeface="B Nazanin" panose="00000400000000000000" pitchFamily="2" charset="-78"/>
                </a:rPr>
                <a:t>واژه‌های</a:t>
              </a:r>
              <a:r>
                <a:rPr lang="fa-IR" sz="1700" b="1" dirty="0">
                  <a:cs typeface="B Nazanin" panose="00000400000000000000" pitchFamily="2" charset="-78"/>
                </a:rPr>
                <a:t> نزدیک و مرتبط، </a:t>
              </a:r>
              <a:r>
                <a:rPr lang="fa-IR" sz="1700" b="1" dirty="0" err="1">
                  <a:cs typeface="B Nazanin" panose="00000400000000000000" pitchFamily="2" charset="-78"/>
                </a:rPr>
                <a:t>بردارهای</a:t>
              </a:r>
              <a:r>
                <a:rPr lang="fa-IR" sz="1700" b="1" dirty="0">
                  <a:cs typeface="B Nazanin" panose="00000400000000000000" pitchFamily="2" charset="-78"/>
                </a:rPr>
                <a:t> نزدیکی نیز نسبت به هم خواهند داشت.</a:t>
              </a:r>
            </a:p>
            <a:p>
              <a:pPr algn="r" rtl="1"/>
              <a:r>
                <a:rPr lang="fa-IR" sz="1700" b="1" dirty="0">
                  <a:cs typeface="B Nazanin" panose="00000400000000000000" pitchFamily="2" charset="-78"/>
                </a:rPr>
                <a:t>(از لحاظ فاصله برداری) </a:t>
              </a:r>
            </a:p>
          </p:txBody>
        </p: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B11899C-A9EC-2D05-C7D7-8884AB91ABA6}"/>
              </a:ext>
            </a:extLst>
          </p:cNvPr>
          <p:cNvSpPr/>
          <p:nvPr/>
        </p:nvSpPr>
        <p:spPr>
          <a:xfrm>
            <a:off x="130449" y="6260873"/>
            <a:ext cx="11886937" cy="40911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4F4D82-396E-CB2F-C1F8-47AB56FB98A9}"/>
              </a:ext>
            </a:extLst>
          </p:cNvPr>
          <p:cNvSpPr txBox="1"/>
          <p:nvPr/>
        </p:nvSpPr>
        <p:spPr>
          <a:xfrm>
            <a:off x="101953" y="6305366"/>
            <a:ext cx="11813479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این روش، از </a:t>
            </a:r>
            <a:r>
              <a:rPr lang="fa-IR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پرکاربردترین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روش های ساخت مدل تبدیل متن به بردار معنایی است که 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Word2Vec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نام دارد و </a:t>
            </a:r>
            <a:r>
              <a:rPr lang="fa-IR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توسطه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دانشمند روسی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Tomas </a:t>
            </a:r>
            <a:r>
              <a:rPr lang="en-US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Mikolov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در سال 2013 ارائه شده است.</a:t>
            </a:r>
            <a:endParaRPr lang="fa-IR" sz="15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F8EB036-8706-C81D-1A58-65AD9C72B726}"/>
              </a:ext>
            </a:extLst>
          </p:cNvPr>
          <p:cNvSpPr/>
          <p:nvPr/>
        </p:nvSpPr>
        <p:spPr>
          <a:xfrm>
            <a:off x="5083229" y="2402663"/>
            <a:ext cx="710135" cy="331578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F5B76C-30F1-F8EA-0231-707EE8A37E3C}"/>
              </a:ext>
            </a:extLst>
          </p:cNvPr>
          <p:cNvSpPr txBox="1"/>
          <p:nvPr/>
        </p:nvSpPr>
        <p:spPr>
          <a:xfrm>
            <a:off x="5075603" y="2394792"/>
            <a:ext cx="725402" cy="339580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[ 0.23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0.74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0.39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0.65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0.07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0.51 ]</a:t>
            </a:r>
            <a:endParaRPr lang="fa-IR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54" grpId="0"/>
      <p:bldP spid="67" grpId="0" animBg="1"/>
      <p:bldP spid="4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1175435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683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38815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/>
          </a:bodyPr>
          <a:lstStyle/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اندازه </a:t>
            </a:r>
            <a:r>
              <a:rPr lang="fa-IR" sz="2400" b="1" dirty="0" err="1">
                <a:cs typeface="B Nazanin" panose="00000400000000000000" pitchFamily="2" charset="-78"/>
              </a:rPr>
              <a:t>تکه‌متن‌ها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>
                <a:cs typeface="B Nazanin" panose="00000400000000000000" pitchFamily="2" charset="-78"/>
              </a:rPr>
              <a:t>Chunk size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درصد آستانه تشابه (</a:t>
            </a:r>
            <a:r>
              <a:rPr lang="en-US" sz="2400" b="1" dirty="0">
                <a:cs typeface="B Nazanin" panose="00000400000000000000" pitchFamily="2" charset="-78"/>
              </a:rPr>
              <a:t>Similarity threshold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sz="2400" b="1" dirty="0">
                <a:cs typeface="B Nazanin" panose="00000400000000000000" pitchFamily="2" charset="-78"/>
              </a:rPr>
              <a:t>RAG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 err="1">
                <a:cs typeface="B Nazanin" panose="00000400000000000000" pitchFamily="2" charset="-78"/>
              </a:rPr>
              <a:t>Top_k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sz="2400" b="1" dirty="0">
                <a:cs typeface="B Nazanin" panose="00000400000000000000" pitchFamily="2" charset="-78"/>
              </a:rPr>
              <a:t>System prompt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  <a:endParaRPr lang="en-US" sz="24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1574</TotalTime>
  <Words>1368</Words>
  <Application>Microsoft Office PowerPoint</Application>
  <PresentationFormat>Widescreen</PresentationFormat>
  <Paragraphs>221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مدل‌های مبدل متن به بردار معنایی چگونه به‌دست می‌آیند؟</vt:lpstr>
      <vt:lpstr>مدل‌های مبدل متن به بردار معنایی چگونه به‌دست می‌آیند؟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515</cp:revision>
  <dcterms:created xsi:type="dcterms:W3CDTF">2024-02-19T06:46:45Z</dcterms:created>
  <dcterms:modified xsi:type="dcterms:W3CDTF">2024-02-22T09:04:16Z</dcterms:modified>
</cp:coreProperties>
</file>