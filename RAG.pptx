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58" r:id="rId5"/>
    <p:sldId id="260" r:id="rId6"/>
    <p:sldId id="261" r:id="rId7"/>
    <p:sldId id="269" r:id="rId8"/>
    <p:sldId id="267" r:id="rId9"/>
    <p:sldId id="268" r:id="rId10"/>
    <p:sldId id="262" r:id="rId11"/>
    <p:sldId id="263" r:id="rId12"/>
    <p:sldId id="264" r:id="rId13"/>
    <p:sldId id="265" r:id="rId14"/>
    <p:sldId id="259" r:id="rId15"/>
  </p:sldIdLst>
  <p:sldSz cx="12192000" cy="6858000"/>
  <p:notesSz cx="6858000" cy="9144000"/>
  <p:defaultTextStyle>
    <a:defPPr>
      <a:defRPr lang="fa-I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EEF"/>
    <a:srgbClr val="005DA2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13938-4976-24CD-F90C-D3E146438B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16D2E1-43E0-987F-C4F4-880714D67D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24C64D-5A88-4CA9-B636-D37129CC2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F0CB5-BAA6-4AB1-867C-C29921453313}" type="datetimeFigureOut">
              <a:rPr lang="fa-IR" smtClean="0"/>
              <a:t>11/08/1445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F92EE-958A-50FD-B81F-E37434260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EB7106-FD28-066C-5510-9E64453AD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CE665-348D-4EF3-BF9E-5940D88E08FB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881589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7D1C7-8924-C1BA-E20F-62F1D8FEB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F3782-809F-AAF0-EAB1-313ECDFE4B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59339D-ADAA-9759-7433-30A2E247F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F0CB5-BAA6-4AB1-867C-C29921453313}" type="datetimeFigureOut">
              <a:rPr lang="fa-IR" smtClean="0"/>
              <a:t>11/08/1445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16A51-5D36-906E-BE5F-715240E51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65860-E179-EC0C-9FB3-7777BD5CD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CE665-348D-4EF3-BF9E-5940D88E08FB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77867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C7D58-0CE7-6452-8C6C-EAC557818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750E2-73F9-25F7-C6DA-024647928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FE724-FCBB-1AE4-0878-9B53E27EF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F0CB5-BAA6-4AB1-867C-C29921453313}" type="datetimeFigureOut">
              <a:rPr lang="fa-IR" smtClean="0"/>
              <a:t>11/08/1445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6978AE-BF63-632C-DCE3-1530A27D1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1C0F81-4C69-FB77-4C5B-5A69A1666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CE665-348D-4EF3-BF9E-5940D88E08FB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387666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F1D77-48FB-7697-B1F3-A7F1D13B0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63923-4E23-B652-BA3C-38693CAA28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2F2212-B9BD-EAA9-EAC4-BDF5E97706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DCF94C-3F8D-4474-E729-412461C8B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F0CB5-BAA6-4AB1-867C-C29921453313}" type="datetimeFigureOut">
              <a:rPr lang="fa-IR" smtClean="0"/>
              <a:t>11/08/1445</a:t>
            </a:fld>
            <a:endParaRPr lang="fa-I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409B8C-514D-1B39-C315-B6CEDDBF1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0E4F90-A5B4-6080-C12C-4E808CC51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CE665-348D-4EF3-BF9E-5940D88E08FB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5090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E6C78-725E-27FF-E59E-947A59C7A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C84E93-6478-09F5-14B4-6767EBE83E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B394E6-41A3-3ED8-009C-263711A16C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D6F9E1-762A-2F95-214D-154810708D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1F4461-3166-F452-9762-D69D2CE376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7343EA-72BE-E1D0-7912-30EAF520E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F0CB5-BAA6-4AB1-867C-C29921453313}" type="datetimeFigureOut">
              <a:rPr lang="fa-IR" smtClean="0"/>
              <a:t>11/08/1445</a:t>
            </a:fld>
            <a:endParaRPr lang="fa-I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023CF1-B335-63CB-32B1-281E4CE72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7CC68C-E7B9-0CC6-8628-2CFA8F497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CE665-348D-4EF3-BF9E-5940D88E08FB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150533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AE8CD-1C38-339E-41C3-19D30FC3A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1FEF66-B4F0-BB24-A289-1F3854848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F0CB5-BAA6-4AB1-867C-C29921453313}" type="datetimeFigureOut">
              <a:rPr lang="fa-IR" smtClean="0"/>
              <a:t>11/08/1445</a:t>
            </a:fld>
            <a:endParaRPr lang="fa-I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5CF6D9-493C-F54D-554B-A896871D0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F66CAB-B030-06CB-6092-E1B0046CE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CE665-348D-4EF3-BF9E-5940D88E08FB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756239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0E4C18-2FC1-779A-8D12-37D24A038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F0CB5-BAA6-4AB1-867C-C29921453313}" type="datetimeFigureOut">
              <a:rPr lang="fa-IR" smtClean="0"/>
              <a:t>11/08/1445</a:t>
            </a:fld>
            <a:endParaRPr lang="fa-I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4EB49F-81B1-1B73-0331-947EC62D8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EA849C-3E7B-A729-B938-41EF7426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CE665-348D-4EF3-BF9E-5940D88E08FB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066529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21AC6-EC61-5F28-8100-A8AF01211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A571A-AA73-5C56-FF31-5498C44C16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C4069D-974F-8B6C-F60E-5FE6E2598B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49D25D-13EE-2F11-4377-CD2A8A89D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F0CB5-BAA6-4AB1-867C-C29921453313}" type="datetimeFigureOut">
              <a:rPr lang="fa-IR" smtClean="0"/>
              <a:t>11/08/1445</a:t>
            </a:fld>
            <a:endParaRPr lang="fa-I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A2C81C-D31A-DB8F-91DB-C83AC87A2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2C808F-5C7D-47B4-AF9B-7999C1B3B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CE665-348D-4EF3-BF9E-5940D88E08FB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963373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CAF56-A5A3-93A9-6138-067BFFF6D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737155-F742-B129-C8FA-6ED6BA29F4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a-I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62B19B-30BD-BF45-2B2B-3A1543D8FE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647895-D0D1-70F1-F759-BA82C0113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F0CB5-BAA6-4AB1-867C-C29921453313}" type="datetimeFigureOut">
              <a:rPr lang="fa-IR" smtClean="0"/>
              <a:t>11/08/1445</a:t>
            </a:fld>
            <a:endParaRPr lang="fa-I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3DAD41-85D5-D496-5726-87C6213D6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03DECD-65D2-899F-FA95-613FB1FB6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CE665-348D-4EF3-BF9E-5940D88E08FB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709433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8D2F8-D2C1-840A-E33C-7FE4F6E1D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6BBABA-CFF5-BA1E-7861-3CEB47D360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E1309F-7A5D-D5DB-83F5-F97FF085D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F0CB5-BAA6-4AB1-867C-C29921453313}" type="datetimeFigureOut">
              <a:rPr lang="fa-IR" smtClean="0"/>
              <a:t>11/08/1445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60CF26-A395-1400-0DDC-4818D072A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66BB89-B781-657F-20F3-0DAF26ED4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CE665-348D-4EF3-BF9E-5940D88E08FB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770755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E593B8-C9DD-F4DC-1A64-7159AB58C6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F4B49E-896E-9E72-4EFB-558DE1CDA1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DCA8E-D95B-20A6-0334-5847F435F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F0CB5-BAA6-4AB1-867C-C29921453313}" type="datetimeFigureOut">
              <a:rPr lang="fa-IR" smtClean="0"/>
              <a:t>11/08/1445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028C-FFA0-2761-2966-8420C01ED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F05D64-7820-EE49-4BD4-0F33551BD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CE665-348D-4EF3-BF9E-5940D88E08FB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304033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884129-C70C-FAF5-CE25-6AD67DCF8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BC981-64C7-C3B4-38B4-1795901DBB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B87F53-ED57-3491-8CD7-C8C0D4BBEA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9F0CB5-BAA6-4AB1-867C-C29921453313}" type="datetimeFigureOut">
              <a:rPr lang="fa-IR" smtClean="0"/>
              <a:t>11/08/1445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EB97B-F077-ACC0-68B6-F6E3FD5536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C2FB9F-3BC2-31CB-ADCA-9520CB8F44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ACE665-348D-4EF3-BF9E-5940D88E08FB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972416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a-I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D24C1-02E5-D959-1048-D50D1000E1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6221"/>
            <a:ext cx="9144000" cy="831943"/>
          </a:xfrm>
        </p:spPr>
        <p:txBody>
          <a:bodyPr>
            <a:normAutofit fontScale="90000"/>
          </a:bodyPr>
          <a:lstStyle/>
          <a:p>
            <a:r>
              <a:rPr lang="en-US" dirty="0"/>
              <a:t>RAG</a:t>
            </a:r>
            <a:endParaRPr lang="fa-I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5C100C-1CBC-2D96-6416-B45A5AFF18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7458" y="2413281"/>
            <a:ext cx="9144000" cy="521727"/>
          </a:xfrm>
        </p:spPr>
        <p:txBody>
          <a:bodyPr/>
          <a:lstStyle/>
          <a:p>
            <a:r>
              <a:rPr lang="en-US" b="0" i="0" dirty="0">
                <a:solidFill>
                  <a:srgbClr val="4B4F58"/>
                </a:solidFill>
                <a:effectLst/>
                <a:latin typeface="lists-font"/>
              </a:rPr>
              <a:t>Retrieval-Augmented Generation</a:t>
            </a:r>
            <a:endParaRPr lang="fa-IR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5B90CAB-F0F4-F1F4-2F22-A3227EFB4176}"/>
              </a:ext>
            </a:extLst>
          </p:cNvPr>
          <p:cNvSpPr txBox="1">
            <a:spLocks/>
          </p:cNvSpPr>
          <p:nvPr/>
        </p:nvSpPr>
        <p:spPr>
          <a:xfrm>
            <a:off x="1524000" y="1228164"/>
            <a:ext cx="9144000" cy="76200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a-IR" dirty="0"/>
              <a:t>تولید پاسخ توسط مدل زبانی با تکنیک تقویت زمینه دانشی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07E24E0-2EFC-7FCF-A5F9-43E02F8DC4B0}"/>
              </a:ext>
            </a:extLst>
          </p:cNvPr>
          <p:cNvSpPr txBox="1">
            <a:spLocks/>
          </p:cNvSpPr>
          <p:nvPr/>
        </p:nvSpPr>
        <p:spPr>
          <a:xfrm>
            <a:off x="1407458" y="3541992"/>
            <a:ext cx="9144000" cy="6534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a-IR" dirty="0"/>
              <a:t>تقویت کیفیت پاسخ مدل زبانی با ضمیمه کردن دانش </a:t>
            </a:r>
            <a:r>
              <a:rPr lang="fa-IR" dirty="0" err="1"/>
              <a:t>واطلاعات</a:t>
            </a:r>
            <a:r>
              <a:rPr lang="fa-IR" dirty="0"/>
              <a:t> مرتبط با سوال به ورودی مدل زبانی</a:t>
            </a:r>
          </a:p>
        </p:txBody>
      </p:sp>
    </p:spTree>
    <p:extLst>
      <p:ext uri="{BB962C8B-B14F-4D97-AF65-F5344CB8AC3E}">
        <p14:creationId xmlns:p14="http://schemas.microsoft.com/office/powerpoint/2010/main" val="6699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8F0C2-4F12-0338-F2F0-9E31DFDC5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859" y="274872"/>
            <a:ext cx="11300012" cy="940687"/>
          </a:xfrm>
        </p:spPr>
        <p:txBody>
          <a:bodyPr/>
          <a:lstStyle/>
          <a:p>
            <a:r>
              <a:rPr lang="en-US" dirty="0"/>
              <a:t>Contents</a:t>
            </a:r>
            <a:endParaRPr lang="fa-I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0F0E7-CED6-6FF2-BED0-E1DD5333E8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5559"/>
            <a:ext cx="10515600" cy="5239030"/>
          </a:xfrm>
        </p:spPr>
        <p:txBody>
          <a:bodyPr>
            <a:normAutofit fontScale="92500" lnSpcReduction="20000"/>
          </a:bodyPr>
          <a:lstStyle/>
          <a:p>
            <a:pPr algn="r" rtl="1"/>
            <a:r>
              <a:rPr lang="fa-IR" sz="2000" dirty="0">
                <a:cs typeface="B Nazanin" panose="00000400000000000000" pitchFamily="2" charset="-78"/>
              </a:rPr>
              <a:t>مدل های زبانی دانش به خصوص ندارند ( ضعف آنها در عدم دسترسی به اطلاعات به روز و خاص ، ارائه اطلاعات منسوخ ، سردرگمی اصطلاحات: وقتی که مفاهیم عمومی که مدل بر آن آموزش دیده با موضوعات و مفاهیم تخصصی ما تفاوت دارند ، توهم: به علت نوع یادگیری در </a:t>
            </a:r>
            <a:r>
              <a:rPr lang="fa-IR" sz="2000" dirty="0" err="1">
                <a:cs typeface="B Nazanin" panose="00000400000000000000" pitchFamily="2" charset="-78"/>
              </a:rPr>
              <a:t>مواردی</a:t>
            </a:r>
            <a:r>
              <a:rPr lang="fa-IR" sz="2000" dirty="0">
                <a:cs typeface="B Nazanin" panose="00000400000000000000" pitchFamily="2" charset="-78"/>
              </a:rPr>
              <a:t> که نمیدانند هم با قطعیت نظر میدهند ، ضرورت استفاده مدل زبانی از دانش سفارشی افزوده )</a:t>
            </a:r>
          </a:p>
          <a:p>
            <a:pPr algn="r" rtl="1"/>
            <a:r>
              <a:rPr lang="fa-IR" sz="2000" dirty="0">
                <a:cs typeface="B Nazanin" panose="00000400000000000000" pitchFamily="2" charset="-78"/>
              </a:rPr>
              <a:t>مزیت استفاده از </a:t>
            </a:r>
            <a:r>
              <a:rPr lang="en-US" sz="2000" dirty="0">
                <a:cs typeface="B Nazanin" panose="00000400000000000000" pitchFamily="2" charset="-78"/>
              </a:rPr>
              <a:t>retrieval</a:t>
            </a:r>
            <a:r>
              <a:rPr lang="fa-IR" sz="2000" dirty="0">
                <a:cs typeface="B Nazanin" panose="00000400000000000000" pitchFamily="2" charset="-78"/>
              </a:rPr>
              <a:t> و </a:t>
            </a:r>
            <a:r>
              <a:rPr lang="en-US" sz="2000" dirty="0">
                <a:cs typeface="B Nazanin" panose="00000400000000000000" pitchFamily="2" charset="-78"/>
              </a:rPr>
              <a:t>generation</a:t>
            </a:r>
            <a:r>
              <a:rPr lang="fa-IR" sz="2000" dirty="0">
                <a:cs typeface="B Nazanin" panose="00000400000000000000" pitchFamily="2" charset="-78"/>
              </a:rPr>
              <a:t> با </a:t>
            </a:r>
            <a:r>
              <a:rPr lang="fa-IR" sz="2000" dirty="0" err="1">
                <a:cs typeface="B Nazanin" panose="00000400000000000000" pitchFamily="2" charset="-78"/>
              </a:rPr>
              <a:t>دیتابیس</a:t>
            </a:r>
            <a:r>
              <a:rPr lang="fa-IR" sz="2000" dirty="0">
                <a:cs typeface="B Nazanin" panose="00000400000000000000" pitchFamily="2" charset="-78"/>
              </a:rPr>
              <a:t> های برداری ، سنجشگر شباهت معنایی و  مدل های زبانی</a:t>
            </a:r>
          </a:p>
          <a:p>
            <a:pPr algn="r" rtl="1"/>
            <a:r>
              <a:rPr lang="fa-IR" sz="2000" dirty="0">
                <a:cs typeface="B Nazanin" panose="00000400000000000000" pitchFamily="2" charset="-78"/>
              </a:rPr>
              <a:t>نحوه کار </a:t>
            </a:r>
            <a:r>
              <a:rPr lang="en-US" sz="2000" dirty="0">
                <a:cs typeface="B Nazanin" panose="00000400000000000000" pitchFamily="2" charset="-78"/>
              </a:rPr>
              <a:t>RAG</a:t>
            </a:r>
            <a:endParaRPr lang="fa-IR" sz="2000" dirty="0">
              <a:cs typeface="B Nazanin" panose="00000400000000000000" pitchFamily="2" charset="-78"/>
            </a:endParaRPr>
          </a:p>
          <a:p>
            <a:pPr algn="r" rtl="1"/>
            <a:r>
              <a:rPr lang="fa-IR" sz="2000" dirty="0">
                <a:cs typeface="B Nazanin" panose="00000400000000000000" pitchFamily="2" charset="-78"/>
              </a:rPr>
              <a:t>اهمیت مهندسی</a:t>
            </a:r>
            <a:r>
              <a:rPr lang="en-US" sz="2000" dirty="0">
                <a:cs typeface="B Nazanin" panose="00000400000000000000" pitchFamily="2" charset="-78"/>
              </a:rPr>
              <a:t>Prompt </a:t>
            </a:r>
            <a:endParaRPr lang="fa-IR" sz="2000" dirty="0">
              <a:cs typeface="B Nazanin" panose="00000400000000000000" pitchFamily="2" charset="-78"/>
            </a:endParaRPr>
          </a:p>
          <a:p>
            <a:pPr algn="r" rtl="1"/>
            <a:r>
              <a:rPr lang="fa-IR" sz="2000" dirty="0">
                <a:cs typeface="B Nazanin" panose="00000400000000000000" pitchFamily="2" charset="-78"/>
              </a:rPr>
              <a:t>مزایای </a:t>
            </a:r>
            <a:r>
              <a:rPr lang="en-US" sz="2000" dirty="0">
                <a:cs typeface="B Nazanin" panose="00000400000000000000" pitchFamily="2" charset="-78"/>
              </a:rPr>
              <a:t>RAG</a:t>
            </a:r>
            <a:r>
              <a:rPr lang="fa-IR" sz="2000" dirty="0">
                <a:cs typeface="B Nazanin" panose="00000400000000000000" pitchFamily="2" charset="-78"/>
              </a:rPr>
              <a:t> : ارائه پاسخ های به روز و دقیق ، کاهش </a:t>
            </a:r>
            <a:r>
              <a:rPr lang="fa-IR" sz="2000" dirty="0" err="1">
                <a:cs typeface="B Nazanin" panose="00000400000000000000" pitchFamily="2" charset="-78"/>
              </a:rPr>
              <a:t>پاسخ‌های</a:t>
            </a:r>
            <a:r>
              <a:rPr lang="fa-IR" sz="2000" dirty="0">
                <a:cs typeface="B Nazanin" panose="00000400000000000000" pitchFamily="2" charset="-78"/>
              </a:rPr>
              <a:t> نادرست یا </a:t>
            </a:r>
            <a:r>
              <a:rPr lang="fa-IR" sz="2000" dirty="0" err="1">
                <a:cs typeface="B Nazanin" panose="00000400000000000000" pitchFamily="2" charset="-78"/>
              </a:rPr>
              <a:t>توهم‌ها</a:t>
            </a:r>
            <a:r>
              <a:rPr lang="fa-IR" sz="2000" dirty="0">
                <a:cs typeface="B Nazanin" panose="00000400000000000000" pitchFamily="2" charset="-78"/>
              </a:rPr>
              <a:t> ، ارائه </a:t>
            </a:r>
            <a:r>
              <a:rPr lang="fa-IR" sz="2000" dirty="0" err="1">
                <a:cs typeface="B Nazanin" panose="00000400000000000000" pitchFamily="2" charset="-78"/>
              </a:rPr>
              <a:t>پاسخ‌های</a:t>
            </a:r>
            <a:r>
              <a:rPr lang="fa-IR" sz="2000" dirty="0">
                <a:cs typeface="B Nazanin" panose="00000400000000000000" pitchFamily="2" charset="-78"/>
              </a:rPr>
              <a:t> مربوط به یک دامنه دانشی خاص ، سریع و مقرون به صرفه بودن (در مقایسه با فرآیند </a:t>
            </a:r>
            <a:r>
              <a:rPr lang="fa-IR" sz="2000" dirty="0" err="1">
                <a:cs typeface="B Nazanin" panose="00000400000000000000" pitchFamily="2" charset="-78"/>
              </a:rPr>
              <a:t>چستجو</a:t>
            </a:r>
            <a:r>
              <a:rPr lang="fa-IR" sz="2000" dirty="0">
                <a:cs typeface="B Nazanin" panose="00000400000000000000" pitchFamily="2" charset="-78"/>
              </a:rPr>
              <a:t> و پیدا کردن جواب و نگارش تحلیل توسط انسان) ، به روز رسانی سریع داده ها، کنترل توسعه دهنده (مثلا در برنامه ما اطلاعاتی که کمتر از 25 درصد </a:t>
            </a:r>
            <a:r>
              <a:rPr lang="fa-IR" sz="2000" dirty="0" err="1">
                <a:cs typeface="B Nazanin" panose="00000400000000000000" pitchFamily="2" charset="-78"/>
              </a:rPr>
              <a:t>شباهات</a:t>
            </a:r>
            <a:r>
              <a:rPr lang="fa-IR" sz="2000" dirty="0">
                <a:cs typeface="B Nazanin" panose="00000400000000000000" pitchFamily="2" charset="-78"/>
              </a:rPr>
              <a:t> معنایی با سوال کاربر دارند </a:t>
            </a:r>
            <a:r>
              <a:rPr lang="fa-IR" sz="2000" dirty="0" err="1">
                <a:cs typeface="B Nazanin" panose="00000400000000000000" pitchFamily="2" charset="-78"/>
              </a:rPr>
              <a:t>پرامپت</a:t>
            </a:r>
            <a:r>
              <a:rPr lang="fa-IR" sz="2000" dirty="0">
                <a:cs typeface="B Nazanin" panose="00000400000000000000" pitchFamily="2" charset="-78"/>
              </a:rPr>
              <a:t> مدل نمیشوند)</a:t>
            </a:r>
          </a:p>
          <a:p>
            <a:pPr algn="r" rtl="1"/>
            <a:r>
              <a:rPr lang="fa-IR" sz="2000" dirty="0">
                <a:cs typeface="B Nazanin" panose="00000400000000000000" pitchFamily="2" charset="-78"/>
              </a:rPr>
              <a:t>ارائه مثال از اینکه برنامه </a:t>
            </a:r>
            <a:r>
              <a:rPr lang="en-US" sz="2000" dirty="0">
                <a:cs typeface="B Nazanin" panose="00000400000000000000" pitchFamily="2" charset="-78"/>
              </a:rPr>
              <a:t>RAG</a:t>
            </a:r>
            <a:r>
              <a:rPr lang="fa-IR" sz="2000" dirty="0">
                <a:cs typeface="B Nazanin" panose="00000400000000000000" pitchFamily="2" charset="-78"/>
              </a:rPr>
              <a:t> چگونه میتواند اطلاعات مرتبط را از یک پایگاه عظیم اطلاعاتی شناسایی و استخراج کند و از یک مدل زبانی برای ارائه پاسخ و تحلیل استفاده کند.</a:t>
            </a:r>
          </a:p>
          <a:p>
            <a:pPr algn="r" rtl="1"/>
            <a:r>
              <a:rPr lang="fa-IR" sz="2000" dirty="0">
                <a:cs typeface="B Nazanin" panose="00000400000000000000" pitchFamily="2" charset="-78"/>
              </a:rPr>
              <a:t>موارد استفاده: پرسش و پاسخ – مدیریت دانش سازمانی – جستجوی اسناد – </a:t>
            </a:r>
            <a:r>
              <a:rPr lang="fa-IR" sz="2000" dirty="0" err="1">
                <a:cs typeface="B Nazanin" panose="00000400000000000000" pitchFamily="2" charset="-78"/>
              </a:rPr>
              <a:t>ربات</a:t>
            </a:r>
            <a:r>
              <a:rPr lang="fa-IR" sz="2000" dirty="0">
                <a:cs typeface="B Nazanin" panose="00000400000000000000" pitchFamily="2" charset="-78"/>
              </a:rPr>
              <a:t> های پرسش و پاسخ (کمک دادن کاربران به جای </a:t>
            </a:r>
            <a:r>
              <a:rPr lang="fa-IR" sz="2000" dirty="0" err="1">
                <a:cs typeface="B Nazanin" panose="00000400000000000000" pitchFamily="2" charset="-78"/>
              </a:rPr>
              <a:t>اپراتور</a:t>
            </a:r>
            <a:r>
              <a:rPr lang="fa-IR" sz="2000" dirty="0">
                <a:cs typeface="B Nazanin" panose="00000400000000000000" pitchFamily="2" charset="-78"/>
              </a:rPr>
              <a:t>) ، تحلیل داده ، نگارش گزارش ، سیستم </a:t>
            </a:r>
            <a:r>
              <a:rPr lang="en-US" sz="2000" dirty="0">
                <a:cs typeface="B Nazanin" panose="00000400000000000000" pitchFamily="2" charset="-78"/>
              </a:rPr>
              <a:t>FAQ</a:t>
            </a:r>
            <a:r>
              <a:rPr lang="fa-IR" sz="2000" dirty="0">
                <a:cs typeface="B Nazanin" panose="00000400000000000000" pitchFamily="2" charset="-78"/>
              </a:rPr>
              <a:t> ، </a:t>
            </a:r>
            <a:r>
              <a:rPr lang="en-US" sz="1400" b="1" i="0" dirty="0">
                <a:solidFill>
                  <a:srgbClr val="050A12"/>
                </a:solidFill>
                <a:effectLst/>
                <a:latin typeface="Poppins" panose="00000500000000000000" pitchFamily="2" charset="0"/>
              </a:rPr>
              <a:t>Open-Domain QA</a:t>
            </a:r>
            <a:r>
              <a:rPr lang="fa-IR" sz="1400" b="1" i="0" dirty="0">
                <a:solidFill>
                  <a:srgbClr val="050A12"/>
                </a:solidFill>
                <a:effectLst/>
                <a:latin typeface="Poppins" panose="00000500000000000000" pitchFamily="2" charset="0"/>
              </a:rPr>
              <a:t> (کنار هم گذاشتن اطلاعات از منابع </a:t>
            </a:r>
            <a:r>
              <a:rPr lang="fa-IR" sz="1400" b="1" i="0" dirty="0" err="1">
                <a:solidFill>
                  <a:srgbClr val="050A12"/>
                </a:solidFill>
                <a:effectLst/>
                <a:latin typeface="Poppins" panose="00000500000000000000" pitchFamily="2" charset="0"/>
              </a:rPr>
              <a:t>مختف</a:t>
            </a:r>
            <a:r>
              <a:rPr lang="fa-IR" sz="1400" b="1" i="0" dirty="0">
                <a:solidFill>
                  <a:srgbClr val="050A12"/>
                </a:solidFill>
                <a:effectLst/>
                <a:latin typeface="Poppins" panose="00000500000000000000" pitchFamily="2" charset="0"/>
              </a:rPr>
              <a:t> و ارائه تحلیل) </a:t>
            </a:r>
            <a:r>
              <a:rPr lang="fa-IR" sz="1400" b="1" dirty="0">
                <a:solidFill>
                  <a:srgbClr val="050A12"/>
                </a:solidFill>
                <a:latin typeface="Poppins" panose="00000500000000000000" pitchFamily="2" charset="0"/>
              </a:rPr>
              <a:t>، گزارش خبری (گزارش بر پایه اطلاعات از منابع مختلف) ، دستیار تحلیلی و تحقیقاتی</a:t>
            </a:r>
            <a:endParaRPr lang="fa-IR" sz="2000" dirty="0">
              <a:cs typeface="B Nazanin" panose="00000400000000000000" pitchFamily="2" charset="-78"/>
            </a:endParaRPr>
          </a:p>
          <a:p>
            <a:pPr algn="r" rtl="1"/>
            <a:r>
              <a:rPr lang="fa-IR" sz="2000" dirty="0">
                <a:cs typeface="B Nazanin" panose="00000400000000000000" pitchFamily="2" charset="-78"/>
              </a:rPr>
              <a:t>تقویت مدل زبانی با دانش و اطلاعات دیگر : </a:t>
            </a:r>
            <a:r>
              <a:rPr lang="en-US" sz="2000" dirty="0">
                <a:cs typeface="B Nazanin" panose="00000400000000000000" pitchFamily="2" charset="-78"/>
              </a:rPr>
              <a:t>Fine-tuning </a:t>
            </a:r>
            <a:r>
              <a:rPr lang="fa-IR" sz="2000" dirty="0">
                <a:cs typeface="B Nazanin" panose="00000400000000000000" pitchFamily="2" charset="-78"/>
              </a:rPr>
              <a:t> و </a:t>
            </a:r>
            <a:r>
              <a:rPr lang="en-US" sz="2000" dirty="0">
                <a:cs typeface="B Nazanin" panose="00000400000000000000" pitchFamily="2" charset="-78"/>
              </a:rPr>
              <a:t>RAG</a:t>
            </a:r>
          </a:p>
          <a:p>
            <a:pPr algn="r" rtl="1"/>
            <a:r>
              <a:rPr lang="fa-IR" sz="2000" dirty="0">
                <a:cs typeface="B Nazanin" panose="00000400000000000000" pitchFamily="2" charset="-78"/>
              </a:rPr>
              <a:t>مقایسه مزایا و معایب </a:t>
            </a:r>
            <a:r>
              <a:rPr lang="en-US" sz="2000" dirty="0">
                <a:cs typeface="B Nazanin" panose="00000400000000000000" pitchFamily="2" charset="-78"/>
              </a:rPr>
              <a:t>Fine-tuning </a:t>
            </a:r>
            <a:r>
              <a:rPr lang="fa-IR" sz="2000" dirty="0">
                <a:cs typeface="B Nazanin" panose="00000400000000000000" pitchFamily="2" charset="-78"/>
              </a:rPr>
              <a:t> و </a:t>
            </a:r>
            <a:r>
              <a:rPr lang="en-US" sz="2000" dirty="0">
                <a:cs typeface="B Nazanin" panose="00000400000000000000" pitchFamily="2" charset="-78"/>
              </a:rPr>
              <a:t>RAG</a:t>
            </a:r>
            <a:r>
              <a:rPr lang="fa-IR" sz="2000" dirty="0">
                <a:cs typeface="B Nazanin" panose="00000400000000000000" pitchFamily="2" charset="-78"/>
              </a:rPr>
              <a:t> و شرایط استفاده از هر کدام (مثلا کنترل میزان دسترسی کاربران)</a:t>
            </a:r>
          </a:p>
          <a:p>
            <a:pPr algn="r" rtl="1"/>
            <a:r>
              <a:rPr lang="fa-IR" sz="2000" dirty="0">
                <a:cs typeface="B Nazanin" panose="00000400000000000000" pitchFamily="2" charset="-78"/>
              </a:rPr>
              <a:t>چالش ها و مشکلات </a:t>
            </a:r>
            <a:r>
              <a:rPr lang="en-US" sz="2000" dirty="0">
                <a:cs typeface="B Nazanin" panose="00000400000000000000" pitchFamily="2" charset="-78"/>
              </a:rPr>
              <a:t>RAG</a:t>
            </a:r>
            <a:r>
              <a:rPr lang="fa-IR" sz="2000" dirty="0">
                <a:cs typeface="B Nazanin" panose="00000400000000000000" pitchFamily="2" charset="-78"/>
              </a:rPr>
              <a:t> (مشکلات </a:t>
            </a:r>
            <a:r>
              <a:rPr lang="en-US" sz="2000" dirty="0">
                <a:cs typeface="B Nazanin" panose="00000400000000000000" pitchFamily="2" charset="-78"/>
              </a:rPr>
              <a:t>query</a:t>
            </a:r>
            <a:r>
              <a:rPr lang="fa-IR" sz="2000" dirty="0">
                <a:cs typeface="B Nazanin" panose="00000400000000000000" pitchFamily="2" charset="-78"/>
              </a:rPr>
              <a:t> های پیچیده ، دقت در پایگاه دانشی بزرگ ، پشتیبانی چند زبانی)</a:t>
            </a:r>
          </a:p>
          <a:p>
            <a:pPr algn="r" rtl="1"/>
            <a:r>
              <a:rPr lang="fa-IR" sz="2000" dirty="0">
                <a:cs typeface="B Nazanin" panose="00000400000000000000" pitchFamily="2" charset="-78"/>
              </a:rPr>
              <a:t>ظرفیت های پیش رو: راهکارهای تقویت فرآیند </a:t>
            </a:r>
            <a:r>
              <a:rPr lang="en-US" sz="2000" dirty="0">
                <a:cs typeface="B Nazanin" panose="00000400000000000000" pitchFamily="2" charset="-78"/>
              </a:rPr>
              <a:t>RAG</a:t>
            </a:r>
            <a:r>
              <a:rPr lang="fa-IR" sz="2000" dirty="0">
                <a:cs typeface="B Nazanin" panose="00000400000000000000" pitchFamily="2" charset="-78"/>
              </a:rPr>
              <a:t> نظیر </a:t>
            </a:r>
            <a:r>
              <a:rPr lang="en-US" sz="2000" dirty="0">
                <a:cs typeface="B Nazanin" panose="00000400000000000000" pitchFamily="2" charset="-78"/>
              </a:rPr>
              <a:t>Fusion</a:t>
            </a:r>
            <a:r>
              <a:rPr lang="fa-IR" sz="2000" dirty="0">
                <a:cs typeface="B Nazanin" panose="00000400000000000000" pitchFamily="2" charset="-78"/>
              </a:rPr>
              <a:t> (ارائه اطلاعات پیش زمینه ای از مدل متخصص دیگر به مدل اصلی) ، بهبود سوال ، </a:t>
            </a:r>
            <a:r>
              <a:rPr lang="fa-IR" sz="2000" dirty="0" err="1">
                <a:cs typeface="B Nazanin" panose="00000400000000000000" pitchFamily="2" charset="-78"/>
              </a:rPr>
              <a:t>چندبخشی</a:t>
            </a:r>
            <a:r>
              <a:rPr lang="fa-IR" sz="2000" dirty="0">
                <a:cs typeface="B Nazanin" panose="00000400000000000000" pitchFamily="2" charset="-78"/>
              </a:rPr>
              <a:t> کردن سوال ، </a:t>
            </a:r>
          </a:p>
          <a:p>
            <a:pPr algn="r" rtl="1"/>
            <a:endParaRPr lang="en-US" sz="2000" dirty="0">
              <a:cs typeface="B Nazanin" panose="00000400000000000000" pitchFamily="2" charset="-78"/>
            </a:endParaRPr>
          </a:p>
          <a:p>
            <a:pPr algn="r" rtl="1"/>
            <a:endParaRPr lang="en-US" sz="2000" dirty="0">
              <a:cs typeface="B Nazanin" panose="00000400000000000000" pitchFamily="2" charset="-78"/>
            </a:endParaRPr>
          </a:p>
          <a:p>
            <a:pPr algn="r" rtl="1"/>
            <a:endParaRPr lang="fa-IR" sz="2000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018849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95DC2-4FC5-DBCA-97F0-E1A25B00D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242545"/>
            <a:ext cx="10515600" cy="628743"/>
          </a:xfrm>
        </p:spPr>
        <p:txBody>
          <a:bodyPr>
            <a:noAutofit/>
          </a:bodyPr>
          <a:lstStyle/>
          <a:p>
            <a:r>
              <a:rPr lang="en-US" sz="6000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RAG</a:t>
            </a:r>
            <a:r>
              <a:rPr lang="en-US" sz="5400" dirty="0">
                <a:latin typeface="Arial Black" panose="020B0A04020102020204" pitchFamily="34" charset="0"/>
              </a:rPr>
              <a:t> </a:t>
            </a:r>
            <a:endParaRPr lang="fa-IR" sz="5400" dirty="0">
              <a:latin typeface="Arial Black" panose="020B0A040201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1CE3807-789B-EE42-3807-0BB2285F5845}"/>
              </a:ext>
            </a:extLst>
          </p:cNvPr>
          <p:cNvSpPr txBox="1">
            <a:spLocks/>
          </p:cNvSpPr>
          <p:nvPr/>
        </p:nvSpPr>
        <p:spPr>
          <a:xfrm>
            <a:off x="3164540" y="4052802"/>
            <a:ext cx="8525434" cy="61763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1"/>
            <a:r>
              <a:rPr lang="fa-IR" b="1" dirty="0">
                <a:cs typeface="B Nazanin" panose="00000400000000000000" pitchFamily="2" charset="-78"/>
              </a:rPr>
              <a:t>تقویت مدل زبانی بزرگ (</a:t>
            </a:r>
            <a:r>
              <a:rPr lang="en-US" b="1" dirty="0">
                <a:latin typeface="+mn-lt"/>
              </a:rPr>
              <a:t>LLM</a:t>
            </a:r>
            <a:r>
              <a:rPr lang="fa-IR" b="1" dirty="0">
                <a:cs typeface="B Nazanin" panose="00000400000000000000" pitchFamily="2" charset="-78"/>
              </a:rPr>
              <a:t>) با دانش و اطلاعات افزوده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D785DD-B2D4-4E5A-BC6F-27AD1E999C63}"/>
              </a:ext>
            </a:extLst>
          </p:cNvPr>
          <p:cNvSpPr txBox="1"/>
          <p:nvPr/>
        </p:nvSpPr>
        <p:spPr>
          <a:xfrm>
            <a:off x="5558117" y="207910"/>
            <a:ext cx="107576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a-IR" sz="1600" b="1" dirty="0" err="1">
                <a:cs typeface="B Nazanin" panose="00000400000000000000" pitchFamily="2" charset="-78"/>
              </a:rPr>
              <a:t>بسمه</a:t>
            </a:r>
            <a:r>
              <a:rPr lang="fa-IR" sz="1600" b="1" dirty="0">
                <a:cs typeface="B Nazanin" panose="00000400000000000000" pitchFamily="2" charset="-78"/>
              </a:rPr>
              <a:t> </a:t>
            </a:r>
            <a:r>
              <a:rPr lang="fa-IR" b="1" dirty="0">
                <a:cs typeface="B Nazanin" panose="00000400000000000000" pitchFamily="2" charset="-78"/>
              </a:rPr>
              <a:t>تعالی</a:t>
            </a:r>
            <a:endParaRPr lang="fa-IR" sz="1600" b="1" dirty="0">
              <a:cs typeface="B Nazanin" panose="00000400000000000000" pitchFamily="2" charset="-78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39AD3B7-2442-918C-A431-4C6037C71AF3}"/>
              </a:ext>
            </a:extLst>
          </p:cNvPr>
          <p:cNvSpPr txBox="1">
            <a:spLocks/>
          </p:cNvSpPr>
          <p:nvPr/>
        </p:nvSpPr>
        <p:spPr>
          <a:xfrm>
            <a:off x="838199" y="2077476"/>
            <a:ext cx="10515600" cy="4443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4B4F58"/>
                </a:solidFill>
                <a:latin typeface="lists-font"/>
              </a:rPr>
              <a:t>Retrieval-Augmented Generation</a:t>
            </a:r>
            <a:endParaRPr lang="fa-IR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8898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97552-E2A9-701A-91DB-CE3F94F03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a-IR" sz="4000" b="1" dirty="0">
                <a:solidFill>
                  <a:schemeClr val="accent1">
                    <a:lumMod val="75000"/>
                  </a:schemeClr>
                </a:solidFill>
                <a:cs typeface="B Nazanin" panose="00000400000000000000" pitchFamily="2" charset="-78"/>
              </a:rPr>
              <a:t>ضعف دانشی </a:t>
            </a:r>
            <a:r>
              <a:rPr lang="fa-IR" sz="4000" b="1" dirty="0" err="1">
                <a:solidFill>
                  <a:schemeClr val="accent1">
                    <a:lumMod val="75000"/>
                  </a:schemeClr>
                </a:solidFill>
                <a:cs typeface="B Nazanin" panose="00000400000000000000" pitchFamily="2" charset="-78"/>
              </a:rPr>
              <a:t>مدل‌های</a:t>
            </a:r>
            <a:r>
              <a:rPr lang="fa-IR" sz="4000" b="1" dirty="0">
                <a:solidFill>
                  <a:schemeClr val="accent1">
                    <a:lumMod val="75000"/>
                  </a:schemeClr>
                </a:solidFill>
                <a:cs typeface="B Nazanin" panose="00000400000000000000" pitchFamily="2" charset="-78"/>
              </a:rPr>
              <a:t> زبانی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6581D-A476-6160-3058-B12CE4146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82448"/>
            <a:ext cx="10515600" cy="3093104"/>
          </a:xfrm>
        </p:spPr>
        <p:txBody>
          <a:bodyPr>
            <a:normAutofit/>
          </a:bodyPr>
          <a:lstStyle/>
          <a:p>
            <a:pPr algn="r" rtl="1"/>
            <a:r>
              <a:rPr lang="fa-IR" sz="2400" b="1" dirty="0">
                <a:cs typeface="B Nazanin" panose="00000400000000000000" pitchFamily="2" charset="-78"/>
              </a:rPr>
              <a:t>نداشتن دانش و اطلاعات به روز (احتمال ارائه اطلاعات منسوخ)</a:t>
            </a:r>
          </a:p>
          <a:p>
            <a:pPr algn="r" rtl="1"/>
            <a:r>
              <a:rPr lang="fa-IR" sz="2400" b="1" dirty="0">
                <a:cs typeface="B Nazanin" panose="00000400000000000000" pitchFamily="2" charset="-78"/>
              </a:rPr>
              <a:t>توهم (</a:t>
            </a:r>
            <a:r>
              <a:rPr lang="en-US" sz="2400" b="1" dirty="0" err="1">
                <a:cs typeface="B Nazanin" panose="00000400000000000000" pitchFamily="2" charset="-78"/>
              </a:rPr>
              <a:t>Halluincation</a:t>
            </a:r>
            <a:r>
              <a:rPr lang="fa-IR" sz="2400" b="1" dirty="0">
                <a:cs typeface="B Nazanin" panose="00000400000000000000" pitchFamily="2" charset="-78"/>
              </a:rPr>
              <a:t>): احتمال ارائه پاسخ نادرست </a:t>
            </a:r>
            <a:r>
              <a:rPr lang="fa-IR" sz="2400" b="1" dirty="0" err="1">
                <a:cs typeface="B Nazanin" panose="00000400000000000000" pitchFamily="2" charset="-78"/>
              </a:rPr>
              <a:t>علی‌رغم</a:t>
            </a:r>
            <a:r>
              <a:rPr lang="fa-IR" sz="2400" b="1" dirty="0">
                <a:cs typeface="B Nazanin" panose="00000400000000000000" pitchFamily="2" charset="-78"/>
              </a:rPr>
              <a:t> قاطعیت در بیان</a:t>
            </a:r>
          </a:p>
          <a:p>
            <a:pPr algn="r" rtl="1"/>
            <a:r>
              <a:rPr lang="fa-IR" sz="2400" b="1" dirty="0">
                <a:cs typeface="B Nazanin" panose="00000400000000000000" pitchFamily="2" charset="-78"/>
              </a:rPr>
              <a:t>پیروی از </a:t>
            </a:r>
            <a:r>
              <a:rPr lang="fa-IR" sz="2400" b="1" dirty="0" err="1">
                <a:cs typeface="B Nazanin" panose="00000400000000000000" pitchFamily="2" charset="-78"/>
              </a:rPr>
              <a:t>جهت‌گیری</a:t>
            </a:r>
            <a:r>
              <a:rPr lang="fa-IR" sz="2400" b="1" dirty="0">
                <a:cs typeface="B Nazanin" panose="00000400000000000000" pitchFamily="2" charset="-78"/>
              </a:rPr>
              <a:t>‎ (</a:t>
            </a:r>
            <a:r>
              <a:rPr lang="en-US" sz="2400" b="1" dirty="0">
                <a:cs typeface="B Nazanin" panose="00000400000000000000" pitchFamily="2" charset="-78"/>
              </a:rPr>
              <a:t>Bias</a:t>
            </a:r>
            <a:r>
              <a:rPr lang="fa-IR" sz="2400" b="1" dirty="0">
                <a:cs typeface="B Nazanin" panose="00000400000000000000" pitchFamily="2" charset="-78"/>
              </a:rPr>
              <a:t>) و ادبیات </a:t>
            </a:r>
            <a:r>
              <a:rPr lang="fa-IR" sz="2400" b="1" dirty="0" err="1">
                <a:cs typeface="B Nazanin" panose="00000400000000000000" pitchFamily="2" charset="-78"/>
              </a:rPr>
              <a:t>داده‌های</a:t>
            </a:r>
            <a:r>
              <a:rPr lang="fa-IR" sz="2400" b="1" dirty="0">
                <a:cs typeface="B Nazanin" panose="00000400000000000000" pitchFamily="2" charset="-78"/>
              </a:rPr>
              <a:t> آموزش</a:t>
            </a:r>
          </a:p>
          <a:p>
            <a:pPr algn="r" rtl="1"/>
            <a:r>
              <a:rPr lang="fa-IR" sz="2400" b="1" dirty="0">
                <a:cs typeface="B Nazanin" panose="00000400000000000000" pitchFamily="2" charset="-78"/>
              </a:rPr>
              <a:t>سردرگمی اصطلاحات: امکان </a:t>
            </a:r>
            <a:r>
              <a:rPr lang="fa-IR" sz="2400" b="1" dirty="0" err="1">
                <a:cs typeface="B Nazanin" panose="00000400000000000000" pitchFamily="2" charset="-78"/>
              </a:rPr>
              <a:t>ناهمگونی</a:t>
            </a:r>
            <a:r>
              <a:rPr lang="fa-IR" sz="2400" b="1" dirty="0">
                <a:cs typeface="B Nazanin" panose="00000400000000000000" pitchFamily="2" charset="-78"/>
              </a:rPr>
              <a:t> کلمات و اصطلاحات </a:t>
            </a:r>
            <a:r>
              <a:rPr lang="fa-IR" sz="2400" b="1" dirty="0" err="1">
                <a:cs typeface="B Nazanin" panose="00000400000000000000" pitchFamily="2" charset="-78"/>
              </a:rPr>
              <a:t>مدل‌زبانی</a:t>
            </a:r>
            <a:r>
              <a:rPr lang="fa-IR" sz="2400" b="1" dirty="0">
                <a:cs typeface="B Nazanin" panose="00000400000000000000" pitchFamily="2" charset="-78"/>
              </a:rPr>
              <a:t> و کاربر</a:t>
            </a:r>
          </a:p>
          <a:p>
            <a:pPr algn="r" rtl="1"/>
            <a:r>
              <a:rPr lang="fa-IR" sz="2400" b="1" dirty="0">
                <a:cs typeface="B Nazanin" panose="00000400000000000000" pitchFamily="2" charset="-78"/>
              </a:rPr>
              <a:t>پرهزینه بودن یادگیری اطلاعات و دانش جدید (مثل اطلاعات سازمانی)</a:t>
            </a:r>
          </a:p>
          <a:p>
            <a:pPr algn="r" rtl="1"/>
            <a:endParaRPr lang="fa-IR" sz="2400" b="1" dirty="0">
              <a:cs typeface="B Nazanin" panose="00000400000000000000" pitchFamily="2" charset="-78"/>
            </a:endParaRPr>
          </a:p>
          <a:p>
            <a:pPr algn="r" rtl="1"/>
            <a:endParaRPr lang="fa-IR" sz="2400" b="1" dirty="0">
              <a:cs typeface="B Nazanin" panose="00000400000000000000" pitchFamily="2" charset="-78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CD1F31F-B8E5-F8C4-73E4-478608A1A773}"/>
              </a:ext>
            </a:extLst>
          </p:cNvPr>
          <p:cNvSpPr txBox="1">
            <a:spLocks/>
          </p:cNvSpPr>
          <p:nvPr/>
        </p:nvSpPr>
        <p:spPr>
          <a:xfrm>
            <a:off x="1196787" y="5287962"/>
            <a:ext cx="10515600" cy="6670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rtl="1">
              <a:buNone/>
            </a:pPr>
            <a:r>
              <a:rPr lang="fa-IR" sz="2400" b="1" dirty="0">
                <a:cs typeface="B Nazanin" panose="00000400000000000000" pitchFamily="2" charset="-78"/>
              </a:rPr>
              <a:t>اطلاعات و دانش مدل‌ زبانی محدود به </a:t>
            </a:r>
            <a:r>
              <a:rPr lang="fa-IR" sz="2400" b="1" dirty="0" err="1">
                <a:cs typeface="B Nazanin" panose="00000400000000000000" pitchFamily="2" charset="-78"/>
              </a:rPr>
              <a:t>داده‌هایی</a:t>
            </a:r>
            <a:r>
              <a:rPr lang="fa-IR" sz="2400" b="1" dirty="0">
                <a:cs typeface="B Nazanin" panose="00000400000000000000" pitchFamily="2" charset="-78"/>
              </a:rPr>
              <a:t> است که روی آن آموزش دیده است. </a:t>
            </a:r>
          </a:p>
        </p:txBody>
      </p:sp>
    </p:spTree>
    <p:extLst>
      <p:ext uri="{BB962C8B-B14F-4D97-AF65-F5344CB8AC3E}">
        <p14:creationId xmlns:p14="http://schemas.microsoft.com/office/powerpoint/2010/main" val="3857308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9C65C-9AB1-3C1D-EBDE-657B9D948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rtl="1"/>
            <a:r>
              <a:rPr lang="fa-IR" sz="3200" b="1" dirty="0" err="1">
                <a:solidFill>
                  <a:schemeClr val="accent1">
                    <a:lumMod val="75000"/>
                  </a:schemeClr>
                </a:solidFill>
                <a:cs typeface="B Nazanin" panose="00000400000000000000" pitchFamily="2" charset="-78"/>
              </a:rPr>
              <a:t>راه‌های</a:t>
            </a:r>
            <a:r>
              <a:rPr lang="fa-IR" sz="3200" b="1" dirty="0">
                <a:solidFill>
                  <a:schemeClr val="accent1">
                    <a:lumMod val="75000"/>
                  </a:schemeClr>
                </a:solidFill>
                <a:cs typeface="B Nazanin" panose="00000400000000000000" pitchFamily="2" charset="-78"/>
              </a:rPr>
              <a:t> افزودن دانش و اطلاعات جدید به </a:t>
            </a:r>
            <a:r>
              <a:rPr lang="fa-IR" sz="3200" b="1" dirty="0" err="1">
                <a:solidFill>
                  <a:schemeClr val="accent1">
                    <a:lumMod val="75000"/>
                  </a:schemeClr>
                </a:solidFill>
                <a:cs typeface="B Nazanin" panose="00000400000000000000" pitchFamily="2" charset="-78"/>
              </a:rPr>
              <a:t>مدل‌های</a:t>
            </a:r>
            <a:r>
              <a:rPr lang="fa-IR" sz="3200" b="1" dirty="0">
                <a:solidFill>
                  <a:schemeClr val="accent1">
                    <a:lumMod val="75000"/>
                  </a:schemeClr>
                </a:solidFill>
                <a:cs typeface="B Nazanin" panose="00000400000000000000" pitchFamily="2" charset="-78"/>
              </a:rPr>
              <a:t> زبانی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B0DC6-9E86-838A-281B-D80913953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67951"/>
          </a:xfrm>
        </p:spPr>
        <p:txBody>
          <a:bodyPr/>
          <a:lstStyle/>
          <a:p>
            <a:pPr algn="r" rtl="1"/>
            <a:r>
              <a:rPr lang="fa-IR" sz="2400" b="1" dirty="0">
                <a:cs typeface="B Nazanin" panose="00000400000000000000" pitchFamily="2" charset="-78"/>
              </a:rPr>
              <a:t>آموزش دادن یک مدل زبانی از ابتدا بر روی کل </a:t>
            </a:r>
            <a:r>
              <a:rPr lang="fa-IR" sz="2400" b="1" dirty="0" err="1">
                <a:cs typeface="B Nazanin" panose="00000400000000000000" pitchFamily="2" charset="-78"/>
              </a:rPr>
              <a:t>داده‌های</a:t>
            </a:r>
            <a:r>
              <a:rPr lang="fa-IR" sz="2400" b="1" dirty="0">
                <a:cs typeface="B Nazanin" panose="00000400000000000000" pitchFamily="2" charset="-78"/>
              </a:rPr>
              <a:t> مورد نظر</a:t>
            </a:r>
          </a:p>
          <a:p>
            <a:pPr algn="r" rtl="1"/>
            <a:endParaRPr lang="fa-IR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131E06A-8F9E-AC76-BC2F-4F3C74C8F3B0}"/>
              </a:ext>
            </a:extLst>
          </p:cNvPr>
          <p:cNvSpPr txBox="1">
            <a:spLocks/>
          </p:cNvSpPr>
          <p:nvPr/>
        </p:nvSpPr>
        <p:spPr>
          <a:xfrm>
            <a:off x="9565342" y="2341935"/>
            <a:ext cx="1420906" cy="3686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rtl="1">
              <a:buNone/>
            </a:pPr>
            <a:r>
              <a:rPr lang="en-US" sz="2000" dirty="0">
                <a:solidFill>
                  <a:srgbClr val="4B4F58"/>
                </a:solidFill>
                <a:latin typeface="lists-font"/>
              </a:rPr>
              <a:t>Pre-training</a:t>
            </a:r>
            <a:endParaRPr lang="fa-IR" sz="2000" dirty="0">
              <a:solidFill>
                <a:srgbClr val="4B4F58"/>
              </a:solidFill>
              <a:latin typeface="lists-font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21A89D6-D8EC-D6EB-E031-72C9AA7284D5}"/>
              </a:ext>
            </a:extLst>
          </p:cNvPr>
          <p:cNvSpPr txBox="1">
            <a:spLocks/>
          </p:cNvSpPr>
          <p:nvPr/>
        </p:nvSpPr>
        <p:spPr>
          <a:xfrm>
            <a:off x="936811" y="3009527"/>
            <a:ext cx="10515600" cy="5679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fa-IR" sz="2400" b="1" dirty="0">
                <a:cs typeface="B Nazanin" panose="00000400000000000000" pitchFamily="2" charset="-78"/>
              </a:rPr>
              <a:t>تنظیم مجدد یک مدل آموزش دیده بر روی داده های جدید</a:t>
            </a:r>
          </a:p>
          <a:p>
            <a:pPr algn="r" rtl="1"/>
            <a:endParaRPr lang="fa-IR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3972AEA-2CC9-FECB-AB72-5145623F3272}"/>
              </a:ext>
            </a:extLst>
          </p:cNvPr>
          <p:cNvSpPr txBox="1">
            <a:spLocks/>
          </p:cNvSpPr>
          <p:nvPr/>
        </p:nvSpPr>
        <p:spPr>
          <a:xfrm>
            <a:off x="936811" y="4211545"/>
            <a:ext cx="10515600" cy="5679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fa-IR" sz="2400" b="1" dirty="0">
                <a:cs typeface="B Nazanin" panose="00000400000000000000" pitchFamily="2" charset="-78"/>
              </a:rPr>
              <a:t>تقویت ورودی مدل زبانی با ضمیمه کردن دانش و اطلاعات مربوط به سوال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18F708B-4116-A8D0-BE04-F2300237C74E}"/>
              </a:ext>
            </a:extLst>
          </p:cNvPr>
          <p:cNvSpPr txBox="1">
            <a:spLocks/>
          </p:cNvSpPr>
          <p:nvPr/>
        </p:nvSpPr>
        <p:spPr>
          <a:xfrm>
            <a:off x="9565342" y="3485310"/>
            <a:ext cx="1420906" cy="3686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rtl="1">
              <a:buNone/>
            </a:pPr>
            <a:r>
              <a:rPr lang="en-US" sz="2000" dirty="0">
                <a:solidFill>
                  <a:srgbClr val="4B4F58"/>
                </a:solidFill>
                <a:latin typeface="lists-font"/>
              </a:rPr>
              <a:t>Fine-tuning</a:t>
            </a:r>
            <a:endParaRPr lang="fa-IR" sz="2000" dirty="0">
              <a:solidFill>
                <a:srgbClr val="4B4F58"/>
              </a:solidFill>
              <a:latin typeface="lists-font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7B62F38-B838-6AE5-5198-2550871061F5}"/>
              </a:ext>
            </a:extLst>
          </p:cNvPr>
          <p:cNvSpPr txBox="1">
            <a:spLocks/>
          </p:cNvSpPr>
          <p:nvPr/>
        </p:nvSpPr>
        <p:spPr>
          <a:xfrm>
            <a:off x="2200837" y="4711980"/>
            <a:ext cx="9054352" cy="3686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rtl="1">
              <a:buNone/>
            </a:pPr>
            <a:r>
              <a:rPr lang="en-US" sz="2000" b="0" i="0" dirty="0">
                <a:solidFill>
                  <a:srgbClr val="4B4F58"/>
                </a:solidFill>
                <a:effectLst/>
                <a:latin typeface="lists-font"/>
              </a:rPr>
              <a:t>Retrieval-Augmented Generation (RAG)</a:t>
            </a:r>
            <a:endParaRPr lang="fa-IR" sz="2000" dirty="0"/>
          </a:p>
        </p:txBody>
      </p:sp>
    </p:spTree>
    <p:extLst>
      <p:ext uri="{BB962C8B-B14F-4D97-AF65-F5344CB8AC3E}">
        <p14:creationId xmlns:p14="http://schemas.microsoft.com/office/powerpoint/2010/main" val="3181932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20751-D6F9-8204-5F56-650410C25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1612" y="80685"/>
            <a:ext cx="10515600" cy="956123"/>
          </a:xfrm>
        </p:spPr>
        <p:txBody>
          <a:bodyPr>
            <a:normAutofit/>
          </a:bodyPr>
          <a:lstStyle/>
          <a:p>
            <a:pPr algn="r" rtl="1"/>
            <a:r>
              <a:rPr lang="fa-IR" sz="3600" b="1" dirty="0">
                <a:cs typeface="B Nazanin" panose="00000400000000000000" pitchFamily="2" charset="-78"/>
              </a:rPr>
              <a:t>مقایسه سه </a:t>
            </a:r>
            <a:r>
              <a:rPr lang="fa-IR" sz="3600" b="1" dirty="0" err="1">
                <a:cs typeface="B Nazanin" panose="00000400000000000000" pitchFamily="2" charset="-78"/>
              </a:rPr>
              <a:t>راهکار</a:t>
            </a:r>
            <a:r>
              <a:rPr lang="en-US" sz="3600" b="1" dirty="0">
                <a:cs typeface="B Nazanin" panose="00000400000000000000" pitchFamily="2" charset="-78"/>
              </a:rPr>
              <a:t> Pre-training </a:t>
            </a:r>
            <a:r>
              <a:rPr lang="fa-IR" sz="3600" b="1" dirty="0">
                <a:cs typeface="B Nazanin" panose="00000400000000000000" pitchFamily="2" charset="-78"/>
              </a:rPr>
              <a:t>، </a:t>
            </a:r>
            <a:r>
              <a:rPr lang="en-US" sz="3600" b="1" dirty="0">
                <a:cs typeface="B Nazanin" panose="00000400000000000000" pitchFamily="2" charset="-78"/>
              </a:rPr>
              <a:t> Fine-tuning</a:t>
            </a:r>
            <a:r>
              <a:rPr lang="fa-IR" sz="3600" b="1" dirty="0">
                <a:cs typeface="B Nazanin" panose="00000400000000000000" pitchFamily="2" charset="-78"/>
              </a:rPr>
              <a:t>و </a:t>
            </a:r>
            <a:r>
              <a:rPr lang="en-US" sz="3600" b="1" dirty="0">
                <a:cs typeface="B Nazanin" panose="00000400000000000000" pitchFamily="2" charset="-78"/>
              </a:rPr>
              <a:t>RAG</a:t>
            </a:r>
            <a:endParaRPr lang="fa-IR" sz="3600" b="1" dirty="0">
              <a:cs typeface="B Nazanin" panose="00000400000000000000" pitchFamily="2" charset="-78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81F7A35-33E6-1D7F-927A-A00B253186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5344740"/>
              </p:ext>
            </p:extLst>
          </p:nvPr>
        </p:nvGraphicFramePr>
        <p:xfrm>
          <a:off x="316704" y="1024745"/>
          <a:ext cx="11558591" cy="5447272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592777">
                  <a:extLst>
                    <a:ext uri="{9D8B030D-6E8A-4147-A177-3AD203B41FA5}">
                      <a16:colId xmlns:a16="http://schemas.microsoft.com/office/drawing/2014/main" val="3606271277"/>
                    </a:ext>
                  </a:extLst>
                </a:gridCol>
                <a:gridCol w="3532094">
                  <a:extLst>
                    <a:ext uri="{9D8B030D-6E8A-4147-A177-3AD203B41FA5}">
                      <a16:colId xmlns:a16="http://schemas.microsoft.com/office/drawing/2014/main" val="3450439336"/>
                    </a:ext>
                  </a:extLst>
                </a:gridCol>
                <a:gridCol w="3218330">
                  <a:extLst>
                    <a:ext uri="{9D8B030D-6E8A-4147-A177-3AD203B41FA5}">
                      <a16:colId xmlns:a16="http://schemas.microsoft.com/office/drawing/2014/main" val="1743241370"/>
                    </a:ext>
                  </a:extLst>
                </a:gridCol>
                <a:gridCol w="3215390">
                  <a:extLst>
                    <a:ext uri="{9D8B030D-6E8A-4147-A177-3AD203B41FA5}">
                      <a16:colId xmlns:a16="http://schemas.microsoft.com/office/drawing/2014/main" val="4055511178"/>
                    </a:ext>
                  </a:extLst>
                </a:gridCol>
              </a:tblGrid>
              <a:tr h="445467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</a:pPr>
                      <a:r>
                        <a:rPr lang="fa-IR" sz="1800" b="1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شاخصه / روش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>
                        <a:lnSpc>
                          <a:spcPct val="100000"/>
                        </a:lnSpc>
                      </a:pPr>
                      <a:r>
                        <a:rPr lang="en-US" sz="2400" b="1" kern="1200" dirty="0">
                          <a:solidFill>
                            <a:srgbClr val="005DA2"/>
                          </a:solidFill>
                          <a:latin typeface="+mn-lt"/>
                          <a:ea typeface="+mn-ea"/>
                          <a:cs typeface="+mj-cs"/>
                        </a:rPr>
                        <a:t>Pre-training</a:t>
                      </a:r>
                      <a:endParaRPr lang="fa-IR" sz="2400" b="1" kern="1200" dirty="0">
                        <a:solidFill>
                          <a:srgbClr val="005DA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>
                        <a:lnSpc>
                          <a:spcPct val="100000"/>
                        </a:lnSpc>
                      </a:pPr>
                      <a:r>
                        <a:rPr lang="en-US" sz="2400" b="1" kern="1200" dirty="0">
                          <a:solidFill>
                            <a:srgbClr val="005DA2"/>
                          </a:solidFill>
                          <a:latin typeface="+mn-lt"/>
                          <a:ea typeface="+mn-ea"/>
                          <a:cs typeface="+mj-cs"/>
                        </a:rPr>
                        <a:t>Fine-tuning</a:t>
                      </a:r>
                      <a:endParaRPr lang="fa-IR" sz="2400" b="1" kern="1200" dirty="0">
                        <a:solidFill>
                          <a:srgbClr val="005DA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>
                        <a:lnSpc>
                          <a:spcPct val="100000"/>
                        </a:lnSpc>
                      </a:pPr>
                      <a:r>
                        <a:rPr lang="en-US" sz="2400" b="1" kern="1200" dirty="0">
                          <a:solidFill>
                            <a:srgbClr val="005DA2"/>
                          </a:solidFill>
                          <a:latin typeface="+mn-lt"/>
                          <a:ea typeface="+mn-ea"/>
                          <a:cs typeface="+mj-cs"/>
                        </a:rPr>
                        <a:t>RAG</a:t>
                      </a:r>
                      <a:endParaRPr lang="fa-IR" sz="2400" b="1" kern="1200" dirty="0">
                        <a:solidFill>
                          <a:srgbClr val="005DA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483953"/>
                  </a:ext>
                </a:extLst>
              </a:tr>
              <a:tr h="304193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</a:pPr>
                      <a:r>
                        <a:rPr lang="fa-IR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cs typeface="B Nazanin" panose="00000400000000000000" pitchFamily="2" charset="-78"/>
                        </a:rPr>
                        <a:t>تعریف</a:t>
                      </a:r>
                    </a:p>
                  </a:txBody>
                  <a:tcPr>
                    <a:solidFill>
                      <a:srgbClr val="D9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</a:pPr>
                      <a:r>
                        <a:rPr lang="fa-IR" sz="1500" b="1" dirty="0">
                          <a:cs typeface="B Nazanin" panose="00000400000000000000" pitchFamily="2" charset="-78"/>
                        </a:rPr>
                        <a:t>آموزش مدل زبانی از ابتدا</a:t>
                      </a:r>
                    </a:p>
                  </a:txBody>
                  <a:tcPr>
                    <a:solidFill>
                      <a:srgbClr val="D9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</a:pPr>
                      <a:r>
                        <a:rPr lang="fa-IR" sz="1500" b="1" dirty="0">
                          <a:cs typeface="B Nazanin" panose="00000400000000000000" pitchFamily="2" charset="-78"/>
                        </a:rPr>
                        <a:t>تنظیم دقیق مدل ‌زبانی روی </a:t>
                      </a:r>
                      <a:r>
                        <a:rPr lang="fa-IR" sz="1500" b="1" dirty="0" err="1">
                          <a:cs typeface="B Nazanin" panose="00000400000000000000" pitchFamily="2" charset="-78"/>
                        </a:rPr>
                        <a:t>داده‌های</a:t>
                      </a:r>
                      <a:r>
                        <a:rPr lang="fa-IR" sz="1500" b="1" dirty="0">
                          <a:cs typeface="B Nazanin" panose="00000400000000000000" pitchFamily="2" charset="-78"/>
                        </a:rPr>
                        <a:t> جدید</a:t>
                      </a:r>
                    </a:p>
                  </a:txBody>
                  <a:tcPr>
                    <a:solidFill>
                      <a:srgbClr val="D9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500" b="1" dirty="0">
                          <a:cs typeface="B Nazanin" panose="00000400000000000000" pitchFamily="2" charset="-78"/>
                        </a:rPr>
                        <a:t> تقویت ورودی مدل ‌زبانی با اطلاعات</a:t>
                      </a:r>
                      <a:r>
                        <a:rPr lang="en-US" sz="1500" b="1" dirty="0">
                          <a:cs typeface="B Nazanin" panose="00000400000000000000" pitchFamily="2" charset="-78"/>
                        </a:rPr>
                        <a:t> </a:t>
                      </a:r>
                      <a:r>
                        <a:rPr lang="fa-IR" sz="1500" b="1" dirty="0">
                          <a:cs typeface="B Nazanin" panose="00000400000000000000" pitchFamily="2" charset="-78"/>
                        </a:rPr>
                        <a:t>مرتبط</a:t>
                      </a:r>
                    </a:p>
                  </a:txBody>
                  <a:tcPr>
                    <a:solidFill>
                      <a:srgbClr val="D9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1915678"/>
                  </a:ext>
                </a:extLst>
              </a:tr>
              <a:tr h="1476212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</a:pPr>
                      <a:endParaRPr lang="fa-IR" sz="1100" b="1" dirty="0">
                        <a:solidFill>
                          <a:schemeClr val="accent1">
                            <a:lumMod val="50000"/>
                          </a:schemeClr>
                        </a:solidFill>
                        <a:cs typeface="B Nazanin" panose="00000400000000000000" pitchFamily="2" charset="-78"/>
                      </a:endParaRPr>
                    </a:p>
                    <a:p>
                      <a:pPr algn="ctr" rtl="1">
                        <a:lnSpc>
                          <a:spcPct val="150000"/>
                        </a:lnSpc>
                      </a:pPr>
                      <a:r>
                        <a:rPr lang="fa-IR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cs typeface="B Nazanin" panose="00000400000000000000" pitchFamily="2" charset="-78"/>
                        </a:rPr>
                        <a:t>هزینه </a:t>
                      </a:r>
                      <a:r>
                        <a:rPr lang="fa-IR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cs typeface="B Nazanin" panose="00000400000000000000" pitchFamily="2" charset="-78"/>
                        </a:rPr>
                        <a:t>محاسباتی</a:t>
                      </a:r>
                      <a:r>
                        <a:rPr lang="fa-IR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cs typeface="B Nazanin" panose="00000400000000000000" pitchFamily="2" charset="-78"/>
                        </a:rPr>
                        <a:t> و زمانی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r" rtl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a-IR" sz="1500" b="1" dirty="0">
                          <a:cs typeface="B Nazanin" panose="00000400000000000000" pitchFamily="2" charset="-78"/>
                        </a:rPr>
                        <a:t>صدها هزار </a:t>
                      </a:r>
                      <a:r>
                        <a:rPr lang="fa-IR" sz="1500" b="1" dirty="0" err="1">
                          <a:cs typeface="B Nazanin" panose="00000400000000000000" pitchFamily="2" charset="-78"/>
                        </a:rPr>
                        <a:t>گیگابایت</a:t>
                      </a:r>
                      <a:r>
                        <a:rPr lang="fa-IR" sz="1500" b="1" dirty="0">
                          <a:cs typeface="B Nazanin" panose="00000400000000000000" pitchFamily="2" charset="-78"/>
                        </a:rPr>
                        <a:t> ظرفیت </a:t>
                      </a:r>
                      <a:r>
                        <a:rPr lang="fa-IR" sz="1500" b="1" dirty="0" err="1">
                          <a:cs typeface="B Nazanin" panose="00000400000000000000" pitchFamily="2" charset="-78"/>
                        </a:rPr>
                        <a:t>پردازشی</a:t>
                      </a:r>
                      <a:r>
                        <a:rPr lang="fa-IR" sz="1500" b="1" dirty="0">
                          <a:cs typeface="B Nazanin" panose="00000400000000000000" pitchFamily="2" charset="-78"/>
                        </a:rPr>
                        <a:t> </a:t>
                      </a:r>
                      <a:r>
                        <a:rPr lang="fa-IR" sz="1500" b="1" dirty="0" err="1">
                          <a:cs typeface="B Nazanin" panose="00000400000000000000" pitchFamily="2" charset="-78"/>
                        </a:rPr>
                        <a:t>گرافیکی</a:t>
                      </a:r>
                      <a:endParaRPr lang="fa-IR" sz="1500" b="1" dirty="0">
                        <a:cs typeface="B Nazanin" panose="00000400000000000000" pitchFamily="2" charset="-78"/>
                      </a:endParaRPr>
                    </a:p>
                    <a:p>
                      <a:pPr marL="285750" indent="-285750" algn="r" rtl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a-IR" sz="1500" b="1" dirty="0">
                          <a:cs typeface="B Nazanin" panose="00000400000000000000" pitchFamily="2" charset="-78"/>
                        </a:rPr>
                        <a:t>چندین ماه یا سال</a:t>
                      </a:r>
                    </a:p>
                    <a:p>
                      <a:pPr marL="285750" indent="-285750" algn="r" rtl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a-IR" sz="1500" b="1" dirty="0" err="1">
                          <a:cs typeface="B Nazanin" panose="00000400000000000000" pitchFamily="2" charset="-78"/>
                        </a:rPr>
                        <a:t>ده‌ها</a:t>
                      </a:r>
                      <a:r>
                        <a:rPr lang="fa-IR" sz="1500" b="1" dirty="0">
                          <a:cs typeface="B Nazanin" panose="00000400000000000000" pitchFamily="2" charset="-78"/>
                        </a:rPr>
                        <a:t> متخصص و </a:t>
                      </a:r>
                      <a:r>
                        <a:rPr lang="fa-IR" sz="1500" b="1" dirty="0" err="1">
                          <a:cs typeface="B Nazanin" panose="00000400000000000000" pitchFamily="2" charset="-78"/>
                        </a:rPr>
                        <a:t>توسعه‌دهنده</a:t>
                      </a:r>
                      <a:endParaRPr lang="fa-IR" sz="1500" b="1" dirty="0">
                        <a:cs typeface="B Nazanin" panose="00000400000000000000" pitchFamily="2" charset="-78"/>
                      </a:endParaRPr>
                    </a:p>
                    <a:p>
                      <a:pPr marL="285750" marR="0" lvl="0" indent="-28575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5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نیاز به تهیه مجموعه داده(</a:t>
                      </a:r>
                      <a:r>
                        <a:rPr lang="en-US" sz="15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Dataset</a:t>
                      </a:r>
                      <a:r>
                        <a:rPr lang="fa-IR" sz="15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)‌ عظیم </a:t>
                      </a:r>
                      <a:endParaRPr lang="fa-IR" sz="1500" b="1" dirty="0">
                        <a:cs typeface="B Nazanin" panose="00000400000000000000" pitchFamily="2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r" defTabSz="914400" rtl="1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a-IR" sz="15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ده‌ها</a:t>
                      </a:r>
                      <a:r>
                        <a:rPr lang="fa-IR" sz="15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 </a:t>
                      </a:r>
                      <a:r>
                        <a:rPr lang="fa-IR" sz="15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گیگابایت</a:t>
                      </a:r>
                      <a:r>
                        <a:rPr lang="fa-IR" sz="15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 ظرفیت </a:t>
                      </a:r>
                      <a:r>
                        <a:rPr lang="fa-IR" sz="15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پردازشی</a:t>
                      </a:r>
                      <a:r>
                        <a:rPr lang="fa-IR" sz="15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 </a:t>
                      </a:r>
                      <a:r>
                        <a:rPr lang="fa-IR" sz="15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گرافیکی</a:t>
                      </a:r>
                      <a:endParaRPr lang="fa-IR" sz="15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  <a:p>
                      <a:pPr marL="285750" indent="-285750" algn="r" defTabSz="914400" rtl="1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a-IR" sz="15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چندین ساعت یا روز</a:t>
                      </a:r>
                    </a:p>
                    <a:p>
                      <a:pPr marL="285750" indent="-285750" algn="r" defTabSz="914400" rtl="1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a-IR" sz="15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یک </a:t>
                      </a:r>
                      <a:r>
                        <a:rPr lang="fa-IR" sz="15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توسعه‌دهنده</a:t>
                      </a:r>
                      <a:endParaRPr lang="fa-IR" sz="15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  <a:p>
                      <a:pPr marL="285750" marR="0" lvl="0" indent="-28575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5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نیاز به تهیه مجموعه داده‌ پرسش و پاسخ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defTabSz="914400" rtl="1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endParaRPr lang="fa-IR" sz="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  <a:p>
                      <a:pPr marL="285750" indent="-285750" algn="r" defTabSz="914400" rtl="1" eaLnBrk="1" latinLnBrk="0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a-IR" sz="15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قابلیت </a:t>
                      </a:r>
                      <a:r>
                        <a:rPr lang="fa-IR" sz="15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بهره‌برداری</a:t>
                      </a:r>
                      <a:r>
                        <a:rPr lang="fa-IR" sz="15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 آنی</a:t>
                      </a:r>
                    </a:p>
                    <a:p>
                      <a:pPr marL="285750" indent="-285750" algn="r" defTabSz="914400" rtl="1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a-IR" sz="15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نیاز به تهیه مجموعه داده ندارد</a:t>
                      </a:r>
                      <a:r>
                        <a:rPr lang="en-US" sz="15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.</a:t>
                      </a:r>
                      <a:endParaRPr lang="fa-IR" sz="15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  <a:p>
                      <a:pPr marL="285750" indent="-285750" algn="r" defTabSz="914400" rtl="1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a-IR" sz="15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عدم نیاز به </a:t>
                      </a:r>
                      <a:r>
                        <a:rPr lang="fa-IR" sz="15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توسعه‌دهنده</a:t>
                      </a:r>
                      <a:r>
                        <a:rPr lang="fa-IR" sz="15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 برای افزودن منابع دانشی و اطلاعات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3008050"/>
                  </a:ext>
                </a:extLst>
              </a:tr>
              <a:tr h="1004447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</a:pPr>
                      <a:endParaRPr lang="fa-IR" b="1" dirty="0">
                        <a:solidFill>
                          <a:schemeClr val="accent1">
                            <a:lumMod val="50000"/>
                          </a:schemeClr>
                        </a:solidFill>
                        <a:cs typeface="B Nazanin" panose="00000400000000000000" pitchFamily="2" charset="-78"/>
                      </a:endParaRPr>
                    </a:p>
                    <a:p>
                      <a:pPr algn="ctr" rtl="1">
                        <a:lnSpc>
                          <a:spcPct val="150000"/>
                        </a:lnSpc>
                      </a:pPr>
                      <a:r>
                        <a:rPr lang="fa-IR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cs typeface="B Nazanin" panose="00000400000000000000" pitchFamily="2" charset="-78"/>
                        </a:rPr>
                        <a:t>نکات</a:t>
                      </a:r>
                    </a:p>
                  </a:txBody>
                  <a:tcPr>
                    <a:solidFill>
                      <a:srgbClr val="D9DEEF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r" rtl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endParaRPr lang="fa-IR" sz="1050" b="1" dirty="0">
                        <a:cs typeface="B Nazanin" panose="00000400000000000000" pitchFamily="2" charset="-78"/>
                      </a:endParaRPr>
                    </a:p>
                    <a:p>
                      <a:pPr marL="285750" indent="-285750" algn="r" rtl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a-IR" sz="1500" b="1" dirty="0">
                          <a:cs typeface="B Nazanin" panose="00000400000000000000" pitchFamily="2" charset="-78"/>
                        </a:rPr>
                        <a:t>عدم امکان کنترل دسترسی کاربران به اطلاعات توسط مدیر</a:t>
                      </a:r>
                    </a:p>
                    <a:p>
                      <a:pPr marL="285750" indent="-285750" algn="r" rtl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endParaRPr lang="fa-IR" sz="1500" b="1" dirty="0">
                        <a:cs typeface="B Nazanin" panose="00000400000000000000" pitchFamily="2" charset="-78"/>
                      </a:endParaRPr>
                    </a:p>
                    <a:p>
                      <a:pPr marL="285750" indent="-285750" algn="r" rtl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a-IR" sz="1500" b="1" dirty="0">
                          <a:cs typeface="B Nazanin" panose="00000400000000000000" pitchFamily="2" charset="-78"/>
                        </a:rPr>
                        <a:t>فرآیندی بسیار پرهزینه است.</a:t>
                      </a:r>
                    </a:p>
                  </a:txBody>
                  <a:tcPr>
                    <a:solidFill>
                      <a:srgbClr val="D9DEEF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r" rtl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endParaRPr lang="fa-IR" sz="600" b="1" dirty="0">
                        <a:cs typeface="B Nazanin" panose="00000400000000000000" pitchFamily="2" charset="-78"/>
                      </a:endParaRPr>
                    </a:p>
                    <a:p>
                      <a:pPr marL="285750" indent="-285750" algn="r" rtl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a-IR" sz="1500" b="1" dirty="0">
                          <a:cs typeface="B Nazanin" panose="00000400000000000000" pitchFamily="2" charset="-78"/>
                        </a:rPr>
                        <a:t>افزودن اطلاعات به مدل به این نحو، علاوه بر </a:t>
                      </a:r>
                      <a:r>
                        <a:rPr lang="fa-IR" sz="1500" b="1" dirty="0" err="1">
                          <a:cs typeface="B Nazanin" panose="00000400000000000000" pitchFamily="2" charset="-78"/>
                        </a:rPr>
                        <a:t>زمان‌بر</a:t>
                      </a:r>
                      <a:r>
                        <a:rPr lang="fa-IR" sz="1500" b="1" dirty="0">
                          <a:cs typeface="B Nazanin" panose="00000400000000000000" pitchFamily="2" charset="-78"/>
                        </a:rPr>
                        <a:t> بودن، نیاز به متخصص دارد.</a:t>
                      </a:r>
                    </a:p>
                    <a:p>
                      <a:pPr marL="285750" indent="-285750" algn="r" rtl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endParaRPr lang="fa-IR" sz="1500" b="1" dirty="0">
                        <a:cs typeface="B Nazanin" panose="00000400000000000000" pitchFamily="2" charset="-78"/>
                      </a:endParaRPr>
                    </a:p>
                    <a:p>
                      <a:pPr marL="285750" indent="-285750" algn="r" rtl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a-IR" sz="1500" b="1" dirty="0">
                          <a:cs typeface="B Nazanin" panose="00000400000000000000" pitchFamily="2" charset="-78"/>
                        </a:rPr>
                        <a:t>عدم امکان کنترل دسترسی کاربران به اطلاعات توسط مدیر</a:t>
                      </a:r>
                    </a:p>
                  </a:txBody>
                  <a:tcPr>
                    <a:solidFill>
                      <a:srgbClr val="D9DEEF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r" rtl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a-IR" sz="1500" b="1" dirty="0">
                          <a:cs typeface="B Nazanin" panose="00000400000000000000" pitchFamily="2" charset="-78"/>
                        </a:rPr>
                        <a:t>امکان افزودن سریع و آسان منابع دانشی و اطلاعات توسط مدیر و کاربران</a:t>
                      </a:r>
                    </a:p>
                    <a:p>
                      <a:pPr marL="285750" indent="-285750" algn="r" rtl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a-IR" sz="1500" b="1" dirty="0">
                          <a:cs typeface="B Nazanin" panose="00000400000000000000" pitchFamily="2" charset="-78"/>
                        </a:rPr>
                        <a:t>امکان کنترل دسترسی کاربران به اطلاعات توسط مدیر</a:t>
                      </a:r>
                    </a:p>
                  </a:txBody>
                  <a:tcPr>
                    <a:solidFill>
                      <a:srgbClr val="D9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3215576"/>
                  </a:ext>
                </a:extLst>
              </a:tr>
              <a:tr h="1599335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</a:pPr>
                      <a:endParaRPr lang="fa-IR" sz="1200" b="1" dirty="0">
                        <a:solidFill>
                          <a:schemeClr val="accent1">
                            <a:lumMod val="50000"/>
                          </a:schemeClr>
                        </a:solidFill>
                        <a:cs typeface="B Nazanin" panose="00000400000000000000" pitchFamily="2" charset="-78"/>
                      </a:endParaRPr>
                    </a:p>
                    <a:p>
                      <a:pPr algn="ctr" rtl="1">
                        <a:lnSpc>
                          <a:spcPct val="150000"/>
                        </a:lnSpc>
                      </a:pPr>
                      <a:r>
                        <a:rPr lang="fa-IR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cs typeface="B Nazanin" panose="00000400000000000000" pitchFamily="2" charset="-78"/>
                        </a:rPr>
                        <a:t>موارد مناسب استفاده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r" rtl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a-IR" sz="1500" b="1" dirty="0">
                          <a:cs typeface="B Nazanin" panose="00000400000000000000" pitchFamily="2" charset="-78"/>
                        </a:rPr>
                        <a:t>تهیه </a:t>
                      </a:r>
                      <a:r>
                        <a:rPr lang="fa-IR" sz="1500" b="1" dirty="0" err="1">
                          <a:cs typeface="B Nazanin" panose="00000400000000000000" pitchFamily="2" charset="-78"/>
                        </a:rPr>
                        <a:t>مدل‌زبانی</a:t>
                      </a:r>
                      <a:r>
                        <a:rPr lang="fa-IR" sz="1500" b="1" dirty="0">
                          <a:cs typeface="B Nazanin" panose="00000400000000000000" pitchFamily="2" charset="-78"/>
                        </a:rPr>
                        <a:t> بر روی زبانی جدید</a:t>
                      </a:r>
                    </a:p>
                    <a:p>
                      <a:pPr marL="285750" indent="-285750" algn="r" rtl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a-IR" sz="1500" b="1" dirty="0">
                          <a:cs typeface="B Nazanin" panose="00000400000000000000" pitchFamily="2" charset="-78"/>
                        </a:rPr>
                        <a:t>بهبود ارکان اصلی یا معماری مدل</a:t>
                      </a:r>
                    </a:p>
                    <a:p>
                      <a:pPr algn="r" rtl="1">
                        <a:lnSpc>
                          <a:spcPct val="250000"/>
                        </a:lnSpc>
                      </a:pPr>
                      <a:r>
                        <a:rPr lang="fa-IR" sz="1500" dirty="0">
                          <a:cs typeface="B Nazanin" panose="00000400000000000000" pitchFamily="2" charset="-78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r" defTabSz="914400" rtl="1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a-IR" sz="15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تربیت </a:t>
                      </a:r>
                      <a:r>
                        <a:rPr lang="fa-IR" sz="15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مدل‌های</a:t>
                      </a:r>
                      <a:r>
                        <a:rPr lang="fa-IR" sz="15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 </a:t>
                      </a:r>
                      <a:r>
                        <a:rPr lang="fa-IR" sz="15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وظیفه‌ای</a:t>
                      </a:r>
                      <a:endParaRPr lang="fa-IR" sz="15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  <a:p>
                      <a:pPr marL="285750" marR="0" lvl="0" indent="-28575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5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تغییر ادبیات و بیان </a:t>
                      </a:r>
                      <a:r>
                        <a:rPr lang="fa-IR" sz="15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مدل‌زبانی</a:t>
                      </a:r>
                      <a:endParaRPr lang="fa-IR" sz="15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  <a:p>
                      <a:pPr marL="285750" indent="-285750" algn="r" defTabSz="914400" rtl="1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a-IR" sz="15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شخصیت‌سازی</a:t>
                      </a:r>
                      <a:r>
                        <a:rPr lang="fa-IR" sz="15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 برای </a:t>
                      </a:r>
                      <a:r>
                        <a:rPr lang="fa-IR" sz="15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مدل‌زبانی</a:t>
                      </a:r>
                      <a:endParaRPr lang="fa-IR" sz="15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  <a:p>
                      <a:pPr marL="285750" indent="-285750" algn="r" defTabSz="914400" rtl="1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a-IR" sz="15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تقویت دانش مدل در </a:t>
                      </a:r>
                      <a:r>
                        <a:rPr lang="fa-IR" sz="15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زمینه‌ای</a:t>
                      </a:r>
                      <a:r>
                        <a:rPr lang="fa-IR" sz="15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 خاص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250000"/>
                        </a:lnSpc>
                      </a:pPr>
                      <a:endParaRPr lang="fa-IR" sz="1500" dirty="0">
                        <a:cs typeface="B Nazanin" panose="00000400000000000000" pitchFamily="2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01947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9735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21B2D9C-8512-4B24-420D-98D94A6D0C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766DB0E6-5804-FE0C-6F08-EB442E7BD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0521961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479D0-88FE-F28A-E61A-8E58FB181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/>
              <a:t>چرا </a:t>
            </a:r>
            <a:r>
              <a:rPr lang="en-US" dirty="0"/>
              <a:t>RAG</a:t>
            </a:r>
            <a:r>
              <a:rPr lang="fa-IR" dirty="0"/>
              <a:t>؟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4A23D-98D7-EBD0-0C6E-FBABC6956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8824"/>
            <a:ext cx="10515600" cy="4608139"/>
          </a:xfrm>
        </p:spPr>
        <p:txBody>
          <a:bodyPr>
            <a:normAutofit/>
          </a:bodyPr>
          <a:lstStyle/>
          <a:p>
            <a:pPr algn="r" rtl="1"/>
            <a:r>
              <a:rPr lang="fa-IR" sz="2000" b="1" dirty="0" err="1">
                <a:cs typeface="B Nazanin" panose="00000400000000000000" pitchFamily="2" charset="-78"/>
              </a:rPr>
              <a:t>مدل‌های</a:t>
            </a:r>
            <a:r>
              <a:rPr lang="fa-IR" sz="2000" b="1" dirty="0">
                <a:cs typeface="B Nazanin" panose="00000400000000000000" pitchFamily="2" charset="-78"/>
              </a:rPr>
              <a:t> زبانی موجود به خوبی درک زبانی، </a:t>
            </a:r>
            <a:r>
              <a:rPr lang="fa-IR" sz="2000" b="1" dirty="0" err="1">
                <a:cs typeface="B Nazanin" panose="00000400000000000000" pitchFamily="2" charset="-78"/>
              </a:rPr>
              <a:t>دانش‌های</a:t>
            </a:r>
            <a:r>
              <a:rPr lang="fa-IR" sz="2000" b="1" dirty="0">
                <a:cs typeface="B Nazanin" panose="00000400000000000000" pitchFamily="2" charset="-78"/>
              </a:rPr>
              <a:t> پایه و استدلال منطقی را </a:t>
            </a:r>
            <a:r>
              <a:rPr lang="fa-IR" sz="2000" b="1" dirty="0" err="1">
                <a:cs typeface="B Nazanin" panose="00000400000000000000" pitchFamily="2" charset="-78"/>
              </a:rPr>
              <a:t>فراگرفته‌اند</a:t>
            </a:r>
            <a:r>
              <a:rPr lang="fa-IR" sz="2000" b="1" dirty="0">
                <a:cs typeface="B Nazanin" panose="00000400000000000000" pitchFamily="2" charset="-78"/>
              </a:rPr>
              <a:t> و آموزش یک </a:t>
            </a:r>
            <a:r>
              <a:rPr lang="fa-IR" sz="2000" b="1" dirty="0" err="1">
                <a:cs typeface="B Nazanin" panose="00000400000000000000" pitchFamily="2" charset="-78"/>
              </a:rPr>
              <a:t>مدل‌زبانی</a:t>
            </a:r>
            <a:r>
              <a:rPr lang="fa-IR" sz="2000" b="1" dirty="0">
                <a:cs typeface="B Nazanin" panose="00000400000000000000" pitchFamily="2" charset="-78"/>
              </a:rPr>
              <a:t> جدید صرفا برای </a:t>
            </a:r>
            <a:r>
              <a:rPr lang="fa-IR" sz="2000" b="1" dirty="0" err="1">
                <a:cs typeface="B Nazanin" panose="00000400000000000000" pitchFamily="2" charset="-78"/>
              </a:rPr>
              <a:t>بهره‌مندی</a:t>
            </a:r>
            <a:r>
              <a:rPr lang="fa-IR" sz="2000" b="1" dirty="0">
                <a:cs typeface="B Nazanin" panose="00000400000000000000" pitchFamily="2" charset="-78"/>
              </a:rPr>
              <a:t> از دانش و اطلاعات سفارشی، توجیه اقتصادی و </a:t>
            </a:r>
            <a:r>
              <a:rPr lang="fa-IR" sz="2000" b="1" dirty="0" err="1">
                <a:cs typeface="B Nazanin" panose="00000400000000000000" pitchFamily="2" charset="-78"/>
              </a:rPr>
              <a:t>محاسباتی</a:t>
            </a:r>
            <a:r>
              <a:rPr lang="fa-IR" sz="2000" b="1" dirty="0">
                <a:cs typeface="B Nazanin" panose="00000400000000000000" pitchFamily="2" charset="-78"/>
              </a:rPr>
              <a:t> ندارد.</a:t>
            </a:r>
          </a:p>
        </p:txBody>
      </p:sp>
    </p:spTree>
    <p:extLst>
      <p:ext uri="{BB962C8B-B14F-4D97-AF65-F5344CB8AC3E}">
        <p14:creationId xmlns:p14="http://schemas.microsoft.com/office/powerpoint/2010/main" val="8137893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A9D63-0D5C-6DEC-CA13-74CC6717A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/>
              <a:t>موارد استفاده </a:t>
            </a:r>
            <a:r>
              <a:rPr lang="en-US" dirty="0"/>
              <a:t>RAG</a:t>
            </a:r>
            <a:endParaRPr lang="fa-I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D5725-6D96-2B6B-C5B1-FBACB654A1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3301929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EE280-61D4-C51E-550B-D6416CECC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rtl="1"/>
            <a:r>
              <a:rPr lang="fa-IR" sz="4000" b="1" dirty="0">
                <a:cs typeface="B Nazanin" panose="00000400000000000000" pitchFamily="2" charset="-78"/>
              </a:rPr>
              <a:t>نحوه عملکرد </a:t>
            </a:r>
            <a:r>
              <a:rPr lang="en-US" sz="4000" b="1" dirty="0"/>
              <a:t>RAG</a:t>
            </a:r>
            <a:endParaRPr lang="fa-IR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A5400-804E-F8B5-03A3-429E519121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5156347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A17B7-0BDC-47F3-5396-E81FD66A3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3FECF-C53F-7E00-90C0-6919419B5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4923330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92620-32EF-ED06-86F4-F45D4D2DE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09014-3E9C-3A54-C1CE-4FC924A4FF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40226294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99FBF-A5B5-58B6-5DBF-490086264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063A0-3C26-B4A0-17C9-9E6666A0B9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1449570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53F25-7463-D548-EE2C-C95508242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D1490-5436-296E-78F4-36876CF983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357580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</TotalTime>
  <Words>783</Words>
  <Application>Microsoft Office PowerPoint</Application>
  <PresentationFormat>Widescreen</PresentationFormat>
  <Paragraphs>83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Arial Black</vt:lpstr>
      <vt:lpstr>B Nazanin</vt:lpstr>
      <vt:lpstr>Calibri</vt:lpstr>
      <vt:lpstr>Calibri Light</vt:lpstr>
      <vt:lpstr>lists-font</vt:lpstr>
      <vt:lpstr>Poppins</vt:lpstr>
      <vt:lpstr>Office Theme</vt:lpstr>
      <vt:lpstr>RAG</vt:lpstr>
      <vt:lpstr>Contents</vt:lpstr>
      <vt:lpstr>RAG </vt:lpstr>
      <vt:lpstr>ضعف دانشی مدل‌های زبانی</vt:lpstr>
      <vt:lpstr>راه‌های افزودن دانش و اطلاعات جدید به مدل‌های زبانی</vt:lpstr>
      <vt:lpstr>مقایسه سه راهکار Pre-training ،  Fine-tuningو RAG</vt:lpstr>
      <vt:lpstr>PowerPoint Presentation</vt:lpstr>
      <vt:lpstr>چرا RAG؟</vt:lpstr>
      <vt:lpstr>موارد استفاده RAG</vt:lpstr>
      <vt:lpstr>نحوه عملکرد RAG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</dc:title>
  <dc:creator>Farshad Amiri</dc:creator>
  <cp:lastModifiedBy>Farshad Amiri</cp:lastModifiedBy>
  <cp:revision>101</cp:revision>
  <dcterms:created xsi:type="dcterms:W3CDTF">2024-02-19T06:46:45Z</dcterms:created>
  <dcterms:modified xsi:type="dcterms:W3CDTF">2024-02-20T08:12:24Z</dcterms:modified>
</cp:coreProperties>
</file>